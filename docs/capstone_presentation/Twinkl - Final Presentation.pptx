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7203F"/>
                </a:solidFill>
                <a:latin typeface="Calibri"/>
              </a:defRPr>
            </a:pPr>
            <a:r>
              <a:rPr sz="1100" b="0" i="0" u="none" strike="noStrike">
                <a:solidFill>
                  <a:srgbClr val="17203F"/>
                </a:solidFill>
                <a:latin typeface="Calibri"/>
              </a:rPr>
              <a:t>Per-value median Conflict recall (frozen 221-entry test)</a:t>
            </a:r>
          </a:p>
        </c:rich>
      </c:tx>
      <c:layout/>
      <c:overlay val="0"/>
    </c:title>
    <c:autoTitleDeleted val="0"/>
    <c:plotArea>
      <c:layout/>
      <c:barChart>
        <c:barDir val="bar"/>
        <c:grouping val="clustered"/>
        <c:varyColors val="0"/>
        <c:ser>
          <c:idx val="0"/>
          <c:order val="0"/>
          <c:tx>
            <c:strRef>
              <c:f>Sheet1!$B$1</c:f>
              <c:strCache>
                <c:ptCount val="1"/>
                <c:pt idx="0">
                  <c:v>Median Conflict recall</c:v>
                </c:pt>
              </c:strCache>
            </c:strRef>
          </c:tx>
          <c:spPr>
            <a:solidFill>
              <a:srgbClr val="2C3A6B"/>
            </a:solidFill>
            <a:effectLst/>
          </c:spPr>
          <c:invertIfNegative val="0"/>
          <c:dLbls>
            <c:numFmt formatCode="0.000" sourceLinked="0"/>
            <c:txPr>
              <a:bodyPr/>
              <a:lstStyle/>
              <a:p>
                <a:pPr>
                  <a:defRPr b="0" i="0" strike="noStrike" sz="900" u="none">
                    <a:solidFill>
                      <a:srgbClr val="1F2433"/>
                    </a:solidFill>
                    <a:latin typeface="Arial"/>
                  </a:defRPr>
                </a:pPr>
              </a:p>
            </c:txPr>
            <c:showLegendKey val="0"/>
            <c:showVal val="1"/>
            <c:showCatName val="0"/>
            <c:showSerName val="0"/>
            <c:showPercent val="0"/>
            <c:showBubbleSize val="0"/>
            <c:showLeaderLines val="0"/>
          </c:dLbls>
          <c:cat>
            <c:multiLvlStrRef>
              <c:f>Sheet1!$A$2:$A$9</c:f>
              <c:multiLvlStrCache>
                <c:ptCount val="8"/>
                <c:lvl>
                  <c:pt idx="0">
                    <c:v>Power</c:v>
                  </c:pt>
                  <c:pt idx="1">
                    <c:v>Achievement</c:v>
                  </c:pt>
                  <c:pt idx="2">
                    <c:v>Stimulation</c:v>
                  </c:pt>
                  <c:pt idx="3">
                    <c:v>Universalism</c:v>
                  </c:pt>
                  <c:pt idx="4">
                    <c:v>Tradition</c:v>
                  </c:pt>
                  <c:pt idx="5">
                    <c:v>Security</c:v>
                  </c:pt>
                  <c:pt idx="6">
                    <c:v>Hedonism</c:v>
                  </c:pt>
                  <c:pt idx="7">
                    <c:v>Self-Direction</c:v>
                  </c:pt>
                </c:lvl>
              </c:multiLvlStrCache>
            </c:multiLvlStrRef>
          </c:cat>
          <c:val>
            <c:numRef>
              <c:f>Sheet1!$B$2:$B$9</c:f>
              <c:numCache>
                <c:formatCode>General</c:formatCode>
                <c:ptCount val="8"/>
                <c:pt idx="0">
                  <c:v>0.125</c:v>
                </c:pt>
                <c:pt idx="1">
                  <c:v>0.286</c:v>
                </c:pt>
                <c:pt idx="2">
                  <c:v>0.333</c:v>
                </c:pt>
                <c:pt idx="3">
                  <c:v>0.333</c:v>
                </c:pt>
                <c:pt idx="4">
                  <c:v>0.4</c:v>
                </c:pt>
                <c:pt idx="5">
                  <c:v>0.571</c:v>
                </c:pt>
                <c:pt idx="6">
                  <c:v>0.652</c:v>
                </c:pt>
                <c:pt idx="7">
                  <c:v>0.733</c:v>
                </c:pt>
              </c:numCache>
            </c:numRef>
          </c:val>
        </c:ser>
        <c:dLbls>
          <c:numFmt formatCode="0.000" sourceLinked="0"/>
          <c:txPr>
            <a:bodyPr/>
            <a:lstStyle/>
            <a:p>
              <a:pPr>
                <a:defRPr b="0" i="0" strike="noStrike" sz="900" u="none">
                  <a:solidFill>
                    <a:srgbClr val="1F24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F2433"/>
                </a:solidFill>
                <a:latin typeface="Calibri"/>
              </a:defRPr>
            </a:pPr>
            <a:endParaRPr lang="en-US"/>
          </a:p>
        </c:txPr>
        <c:crossAx val="2094734552"/>
        <c:crosses val="autoZero"/>
        <c:auto val="1"/>
        <c:lblAlgn val="ctr"/>
        <c:noMultiLvlLbl val="1"/>
      </c:catAx>
      <c:valAx>
        <c:axId val="2094734552"/>
        <c:scaling>
          <c:orientation val="minMax"/>
          <c:max val="0.9"/>
        </c:scaling>
        <c:delete val="0"/>
        <c:axPos val="b"/>
        <c:majorGridlines>
          <c:spPr>
            <a:ln w="12700" cap="flat">
              <a:solidFill>
                <a:srgbClr val="E8EA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7203F"/>
                </a:solidFill>
                <a:latin typeface="Calibri"/>
              </a:defRPr>
            </a:pPr>
            <a:r>
              <a:rPr sz="1100" b="0" i="0" u="none" strike="noStrike">
                <a:solidFill>
                  <a:srgbClr val="17203F"/>
                </a:solidFill>
                <a:latin typeface="Calibri"/>
              </a:rPr>
              <a:t>VIF Critic hand-off ablation — 33-Drift development union</a:t>
            </a:r>
          </a:p>
        </c:rich>
      </c:tx>
      <c:layout/>
      <c:overlay val="0"/>
    </c:title>
    <c:autoTitleDeleted val="0"/>
    <c:plotArea>
      <c:layout/>
      <c:barChart>
        <c:barDir val="col"/>
        <c:grouping val="clustered"/>
        <c:varyColors val="0"/>
        <c:ser>
          <c:idx val="0"/>
          <c:order val="0"/>
          <c:tx>
            <c:strRef>
              <c:f>Sheet1!$B$1</c:f>
              <c:strCache>
                <c:ptCount val="1"/>
                <c:pt idx="0">
                  <c:v>Median Drift recall (of 33)</c:v>
                </c:pt>
              </c:strCache>
            </c:strRef>
          </c:tx>
          <c:spPr>
            <a:solidFill>
              <a:srgbClr val="2C3A6B"/>
            </a:solidFill>
            <a:effectLst/>
          </c:spPr>
          <c:invertIfNegative val="0"/>
          <c:dLbls>
            <c:numFmt formatCode="#,##0" sourceLinked="0"/>
            <c:txPr>
              <a:bodyPr/>
              <a:lstStyle/>
              <a:p>
                <a:pPr>
                  <a:defRPr b="0" i="0" strike="noStrike" sz="900" u="none">
                    <a:solidFill>
                      <a:srgbClr val="1F2433"/>
                    </a:solidFill>
                    <a:latin typeface="Arial"/>
                  </a:defRPr>
                </a:pPr>
              </a:p>
            </c:txPr>
            <c:showLegendKey val="0"/>
            <c:showVal val="1"/>
            <c:showCatName val="0"/>
            <c:showSerName val="0"/>
            <c:showPercent val="0"/>
            <c:showBubbleSize val="0"/>
            <c:showLeaderLines val="0"/>
          </c:dLbls>
          <c:cat>
            <c:multiLvlStrRef>
              <c:f>Sheet1!$A$2:$A$4</c:f>
              <c:multiLvlStrCache>
                <c:ptCount val="3"/>
                <c:lvl>
                  <c:pt idx="0">
                    <c:v>No VIF input</c:v>
                  </c:pt>
                  <c:pt idx="1">
                    <c:v>Raw VIF Predictions</c:v>
                  </c:pt>
                  <c:pt idx="2">
                    <c:v>VIF-triggered early call</c:v>
                  </c:pt>
                </c:lvl>
              </c:multiLvlStrCache>
            </c:multiLvlStrRef>
          </c:cat>
          <c:val>
            <c:numRef>
              <c:f>Sheet1!$B$2:$B$4</c:f>
              <c:numCache>
                <c:formatCode>General</c:formatCode>
                <c:ptCount val="3"/>
                <c:pt idx="0">
                  <c:v>9</c:v>
                </c:pt>
                <c:pt idx="1">
                  <c:v>7</c:v>
                </c:pt>
                <c:pt idx="2">
                  <c:v>9</c:v>
                </c:pt>
              </c:numCache>
            </c:numRef>
          </c:val>
        </c:ser>
        <c:ser>
          <c:idx val="1"/>
          <c:order val="1"/>
          <c:tx>
            <c:strRef>
              <c:f>Sheet1!$C$1</c:f>
              <c:strCache>
                <c:ptCount val="1"/>
                <c:pt idx="0">
                  <c:v>Median false Drift alerts</c:v>
                </c:pt>
              </c:strCache>
            </c:strRef>
          </c:tx>
          <c:spPr>
            <a:solidFill>
              <a:srgbClr val="B5544F"/>
            </a:solidFill>
            <a:effectLst/>
          </c:spPr>
          <c:invertIfNegative val="0"/>
          <c:dLbls>
            <c:numFmt formatCode="#,##0" sourceLinked="0"/>
            <c:txPr>
              <a:bodyPr/>
              <a:lstStyle/>
              <a:p>
                <a:pPr>
                  <a:defRPr b="0" i="0" strike="noStrike" sz="900" u="none">
                    <a:solidFill>
                      <a:srgbClr val="1F2433"/>
                    </a:solidFill>
                    <a:latin typeface="Arial"/>
                  </a:defRPr>
                </a:pPr>
              </a:p>
            </c:txPr>
            <c:showLegendKey val="0"/>
            <c:showVal val="1"/>
            <c:showCatName val="0"/>
            <c:showSerName val="0"/>
            <c:showPercent val="0"/>
            <c:showBubbleSize val="0"/>
            <c:showLeaderLines val="0"/>
          </c:dLbls>
          <c:cat>
            <c:multiLvlStrRef>
              <c:f>Sheet1!$A$2:$A$4</c:f>
              <c:multiLvlStrCache>
                <c:ptCount val="3"/>
                <c:lvl>
                  <c:pt idx="0">
                    <c:v>No VIF input</c:v>
                  </c:pt>
                  <c:pt idx="1">
                    <c:v>Raw VIF Predictions</c:v>
                  </c:pt>
                  <c:pt idx="2">
                    <c:v>VIF-triggered early call</c:v>
                  </c:pt>
                </c:lvl>
              </c:multiLvlStrCache>
            </c:multiLvlStrRef>
          </c:cat>
          <c:val>
            <c:numRef>
              <c:f>Sheet1!$C$2:$C$4</c:f>
              <c:numCache>
                <c:formatCode>General</c:formatCode>
                <c:ptCount val="3"/>
                <c:pt idx="0">
                  <c:v>0</c:v>
                </c:pt>
                <c:pt idx="1">
                  <c:v>3</c:v>
                </c:pt>
                <c:pt idx="2">
                  <c:v>1</c:v>
                </c:pt>
              </c:numCache>
            </c:numRef>
          </c:val>
        </c:ser>
        <c:dLbls>
          <c:numFmt formatCode="#,##0" sourceLinked="0"/>
          <c:txPr>
            <a:bodyPr/>
            <a:lstStyle/>
            <a:p>
              <a:pPr>
                <a:defRPr b="0" i="0" strike="noStrike" sz="900" u="none">
                  <a:solidFill>
                    <a:srgbClr val="1F24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F243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1F2433"/>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7203F"/>
                </a:solidFill>
                <a:latin typeface="Calibri"/>
              </a:defRPr>
            </a:pPr>
            <a:r>
              <a:rPr sz="1100" b="0" i="0" u="none" strike="noStrike">
                <a:solidFill>
                  <a:srgbClr val="17203F"/>
                </a:solidFill>
                <a:latin typeface="Calibri"/>
              </a:rPr>
              <a:t>Median Drift recall by reasoning effort</a:t>
            </a:r>
          </a:p>
        </c:rich>
      </c:tx>
      <c:layout/>
      <c:overlay val="0"/>
    </c:title>
    <c:autoTitleDeleted val="0"/>
    <c:plotArea>
      <c:layout/>
      <c:barChart>
        <c:barDir val="col"/>
        <c:grouping val="clustered"/>
        <c:varyColors val="0"/>
        <c:ser>
          <c:idx val="0"/>
          <c:order val="0"/>
          <c:tx>
            <c:strRef>
              <c:f>Sheet1!$B$1</c:f>
              <c:strCache>
                <c:ptCount val="1"/>
                <c:pt idx="0">
                  <c:v>Median Drift recall</c:v>
                </c:pt>
              </c:strCache>
            </c:strRef>
          </c:tx>
          <c:spPr>
            <a:solidFill>
              <a:srgbClr val="2C3A6B"/>
            </a:solidFill>
            <a:effectLst/>
          </c:spPr>
          <c:invertIfNegative val="0"/>
          <c:dLbls>
            <c:numFmt formatCode="0.000" sourceLinked="0"/>
            <c:txPr>
              <a:bodyPr/>
              <a:lstStyle/>
              <a:p>
                <a:pPr>
                  <a:defRPr b="0" i="0" strike="noStrike" sz="950" u="none">
                    <a:solidFill>
                      <a:srgbClr val="1F2433"/>
                    </a:solidFill>
                    <a:latin typeface="Arial"/>
                  </a:defRPr>
                </a:pPr>
              </a:p>
            </c:txPr>
            <c:showLegendKey val="0"/>
            <c:showVal val="1"/>
            <c:showCatName val="0"/>
            <c:showSerName val="0"/>
            <c:showPercent val="0"/>
            <c:showBubbleSize val="0"/>
            <c:showLeaderLines val="0"/>
          </c:dLbls>
          <c:dPt>
            <c:idx val="0"/>
            <c:invertIfNegative val="0"/>
            <c:bubble3D val="0"/>
            <c:spPr>
              <a:solidFill>
                <a:srgbClr val="2C3A6B"/>
              </a:solidFill>
              <a:effectLst/>
            </c:spPr>
          </c:dPt>
          <c:dPt>
            <c:idx val="1"/>
            <c:invertIfNegative val="0"/>
            <c:bubble3D val="0"/>
            <c:spPr>
              <a:solidFill>
                <a:srgbClr val="E0A32E"/>
              </a:solidFill>
              <a:effectLst/>
            </c:spPr>
          </c:dPt>
          <c:dPt>
            <c:idx val="2"/>
            <c:invertIfNegative val="0"/>
            <c:bubble3D val="0"/>
            <c:spPr>
              <a:solidFill>
                <a:srgbClr val="2C3A6B"/>
              </a:solidFill>
              <a:effectLst/>
            </c:spPr>
          </c:dPt>
          <c:dPt>
            <c:idx val="3"/>
            <c:invertIfNegative val="0"/>
            <c:bubble3D val="0"/>
            <c:spPr>
              <a:solidFill>
                <a:srgbClr val="2C3A6B"/>
              </a:solidFill>
              <a:effectLst/>
            </c:spPr>
          </c:dPt>
          <c:cat>
            <c:multiLvlStrRef>
              <c:f>Sheet1!$A$2:$A$5</c:f>
              <c:multiLvlStrCache>
                <c:ptCount val="4"/>
                <c:lvl>
                  <c:pt idx="0">
                    <c:v>No effort</c:v>
                  </c:pt>
                  <c:pt idx="1">
                    <c:v>Low</c:v>
                  </c:pt>
                  <c:pt idx="2">
                    <c:v>High</c:v>
                  </c:pt>
                  <c:pt idx="3">
                    <c:v>Xhigh</c:v>
                  </c:pt>
                </c:lvl>
              </c:multiLvlStrCache>
            </c:multiLvlStrRef>
          </c:cat>
          <c:val>
            <c:numRef>
              <c:f>Sheet1!$B$2:$B$5</c:f>
              <c:numCache>
                <c:formatCode>General</c:formatCode>
                <c:ptCount val="4"/>
                <c:pt idx="0">
                  <c:v>0.167</c:v>
                </c:pt>
                <c:pt idx="1">
                  <c:v>0.548</c:v>
                </c:pt>
                <c:pt idx="2">
                  <c:v>0.619</c:v>
                </c:pt>
                <c:pt idx="3">
                  <c:v>0.667</c:v>
                </c:pt>
              </c:numCache>
            </c:numRef>
          </c:val>
        </c:ser>
        <c:dLbls>
          <c:numFmt formatCode="0.000" sourceLinked="0"/>
          <c:txPr>
            <a:bodyPr/>
            <a:lstStyle/>
            <a:p>
              <a:pPr>
                <a:defRPr b="0" i="0" strike="noStrike" sz="950" u="none">
                  <a:solidFill>
                    <a:srgbClr val="1F2433"/>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433"/>
                </a:solidFill>
                <a:latin typeface="Calibri"/>
              </a:defRPr>
            </a:pPr>
            <a:endParaRPr lang="en-US"/>
          </a:p>
        </c:txPr>
        <c:crossAx val="2094734552"/>
        <c:crosses val="autoZero"/>
        <c:auto val="1"/>
        <c:lblAlgn val="ctr"/>
        <c:noMultiLvlLbl val="1"/>
      </c:catAx>
      <c:valAx>
        <c:axId val="2094734552"/>
        <c:scaling>
          <c:orientation val="minMax"/>
          <c:max val="0.8"/>
        </c:scaling>
        <c:delete val="0"/>
        <c:axPos val="l"/>
        <c:majorGridlines>
          <c:spPr>
            <a:ln w="12700" cap="flat">
              <a:solidFill>
                <a:srgbClr val="E8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7203F"/>
                </a:solidFill>
                <a:latin typeface="Calibri"/>
              </a:defRPr>
            </a:pPr>
            <a:r>
              <a:rPr sz="1100" b="0" i="0" u="none" strike="noStrike">
                <a:solidFill>
                  <a:srgbClr val="17203F"/>
                </a:solidFill>
                <a:latin typeface="Calibri"/>
              </a:rPr>
              <a:t>Median per-value Conflict recall, two regimes</a:t>
            </a:r>
          </a:p>
        </c:rich>
      </c:tx>
      <c:layout/>
      <c:overlay val="0"/>
    </c:title>
    <c:autoTitleDeleted val="0"/>
    <c:plotArea>
      <c:layout/>
      <c:barChart>
        <c:barDir val="col"/>
        <c:grouping val="clustered"/>
        <c:varyColors val="0"/>
        <c:ser>
          <c:idx val="0"/>
          <c:order val="0"/>
          <c:tx>
            <c:strRef>
              <c:f>Sheet1!$B$1</c:f>
              <c:strCache>
                <c:ptCount val="1"/>
                <c:pt idx="0">
                  <c:v>VIF Critic (entry-level)</c:v>
                </c:pt>
              </c:strCache>
            </c:strRef>
          </c:tx>
          <c:spPr>
            <a:solidFill>
              <a:srgbClr val="2C3A6B"/>
            </a:solidFill>
            <a:effectLst/>
          </c:spPr>
          <c:invertIfNegative val="0"/>
          <c:dLbls>
            <c:numFmt formatCode="0.00" sourceLinked="0"/>
            <c:txPr>
              <a:bodyPr/>
              <a:lstStyle/>
              <a:p>
                <a:pPr>
                  <a:defRPr b="0" i="0" strike="noStrike" sz="800" u="none">
                    <a:solidFill>
                      <a:srgbClr val="1F2433"/>
                    </a:solidFill>
                    <a:latin typeface="Arial"/>
                  </a:defRPr>
                </a:pPr>
              </a:p>
            </c:txPr>
            <c:showLegendKey val="0"/>
            <c:showVal val="1"/>
            <c:showCatName val="0"/>
            <c:showSerName val="0"/>
            <c:showPercent val="0"/>
            <c:showBubbleSize val="0"/>
            <c:showLeaderLines val="0"/>
          </c:dLbls>
          <c:cat>
            <c:multiLvlStrRef>
              <c:f>Sheet1!$A$2:$A$7</c:f>
              <c:multiLvlStrCache>
                <c:ptCount val="6"/>
                <c:lvl>
                  <c:pt idx="0">
                    <c:v>Stimulation</c:v>
                  </c:pt>
                  <c:pt idx="1">
                    <c:v>Tradition</c:v>
                  </c:pt>
                  <c:pt idx="2">
                    <c:v>Power</c:v>
                  </c:pt>
                  <c:pt idx="3">
                    <c:v>Self-Direction</c:v>
                  </c:pt>
                  <c:pt idx="4">
                    <c:v>Universalism</c:v>
                  </c:pt>
                  <c:pt idx="5">
                    <c:v>Achievement</c:v>
                  </c:pt>
                </c:lvl>
              </c:multiLvlStrCache>
            </c:multiLvlStrRef>
          </c:cat>
          <c:val>
            <c:numRef>
              <c:f>Sheet1!$B$2:$B$7</c:f>
              <c:numCache>
                <c:formatCode>General</c:formatCode>
                <c:ptCount val="6"/>
                <c:pt idx="0">
                  <c:v>0.333</c:v>
                </c:pt>
                <c:pt idx="1">
                  <c:v>0.4</c:v>
                </c:pt>
                <c:pt idx="2">
                  <c:v>0.125</c:v>
                </c:pt>
                <c:pt idx="3">
                  <c:v>0.733</c:v>
                </c:pt>
                <c:pt idx="4">
                  <c:v>0.333</c:v>
                </c:pt>
                <c:pt idx="5">
                  <c:v>0.286</c:v>
                </c:pt>
              </c:numCache>
            </c:numRef>
          </c:val>
        </c:ser>
        <c:ser>
          <c:idx val="1"/>
          <c:order val="1"/>
          <c:tx>
            <c:strRef>
              <c:f>Sheet1!$C$1</c:f>
              <c:strCache>
                <c:ptCount val="1"/>
                <c:pt idx="0">
                  <c:v>Luna-low (cumulative history)</c:v>
                </c:pt>
              </c:strCache>
            </c:strRef>
          </c:tx>
          <c:spPr>
            <a:solidFill>
              <a:srgbClr val="E0A32E"/>
            </a:solidFill>
            <a:effectLst/>
          </c:spPr>
          <c:invertIfNegative val="0"/>
          <c:dLbls>
            <c:numFmt formatCode="0.00" sourceLinked="0"/>
            <c:txPr>
              <a:bodyPr/>
              <a:lstStyle/>
              <a:p>
                <a:pPr>
                  <a:defRPr b="0" i="0" strike="noStrike" sz="800" u="none">
                    <a:solidFill>
                      <a:srgbClr val="1F2433"/>
                    </a:solidFill>
                    <a:latin typeface="Arial"/>
                  </a:defRPr>
                </a:pPr>
              </a:p>
            </c:txPr>
            <c:showLegendKey val="0"/>
            <c:showVal val="1"/>
            <c:showCatName val="0"/>
            <c:showSerName val="0"/>
            <c:showPercent val="0"/>
            <c:showBubbleSize val="0"/>
            <c:showLeaderLines val="0"/>
          </c:dLbls>
          <c:cat>
            <c:multiLvlStrRef>
              <c:f>Sheet1!$A$2:$A$7</c:f>
              <c:multiLvlStrCache>
                <c:ptCount val="6"/>
                <c:lvl>
                  <c:pt idx="0">
                    <c:v>Stimulation</c:v>
                  </c:pt>
                  <c:pt idx="1">
                    <c:v>Tradition</c:v>
                  </c:pt>
                  <c:pt idx="2">
                    <c:v>Power</c:v>
                  </c:pt>
                  <c:pt idx="3">
                    <c:v>Self-Direction</c:v>
                  </c:pt>
                  <c:pt idx="4">
                    <c:v>Universalism</c:v>
                  </c:pt>
                  <c:pt idx="5">
                    <c:v>Achievement</c:v>
                  </c:pt>
                </c:lvl>
              </c:multiLvlStrCache>
            </c:multiLvlStrRef>
          </c:cat>
          <c:val>
            <c:numRef>
              <c:f>Sheet1!$C$2:$C$7</c:f>
              <c:numCache>
                <c:formatCode>General</c:formatCode>
                <c:ptCount val="6"/>
                <c:pt idx="0">
                  <c:v>0.3</c:v>
                </c:pt>
                <c:pt idx="1">
                  <c:v>0.292</c:v>
                </c:pt>
                <c:pt idx="2">
                  <c:v>0.567</c:v>
                </c:pt>
                <c:pt idx="3">
                  <c:v>0.533</c:v>
                </c:pt>
                <c:pt idx="4">
                  <c:v>0.727</c:v>
                </c:pt>
                <c:pt idx="5">
                  <c:v>0</c:v>
                </c:pt>
              </c:numCache>
            </c:numRef>
          </c:val>
        </c:ser>
        <c:dLbls>
          <c:numFmt formatCode="0.00" sourceLinked="0"/>
          <c:txPr>
            <a:bodyPr/>
            <a:lstStyle/>
            <a:p>
              <a:pPr>
                <a:defRPr b="0" i="0" strike="noStrike" sz="800" u="none">
                  <a:solidFill>
                    <a:srgbClr val="1F2433"/>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F2433"/>
                </a:solidFill>
                <a:latin typeface="Calibri"/>
              </a:defRPr>
            </a:pPr>
            <a:endParaRPr lang="en-US"/>
          </a:p>
        </c:txPr>
        <c:crossAx val="2094734552"/>
        <c:crosses val="autoZero"/>
        <c:auto val="1"/>
        <c:lblAlgn val="ctr"/>
        <c:noMultiLvlLbl val="1"/>
      </c:catAx>
      <c:valAx>
        <c:axId val="2094734552"/>
        <c:scaling>
          <c:orientation val="minMax"/>
          <c:max val="0.9"/>
        </c:scaling>
        <c:delete val="0"/>
        <c:axPos val="l"/>
        <c:majorGridlines>
          <c:spPr>
            <a:ln w="12700" cap="flat">
              <a:solidFill>
                <a:srgbClr val="E8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F24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Spoken line: Twinkl compares what you write in your journal against the Core Values you confirmed yourself, and it only claims you have drifted when it can cite the entries that show it.
Through-line for the whole talk: can AI hold you accountable to your own values, with evidence? Three investigations answer it, and the architecture is what the evidence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read all eight aloud — name the shape: introduction, then three investigations, then the application and a live demo, then the limits, then what the evidence decided.
Point at Part 6 as the one where you will switch to the running system.
The question at the top is the through-line. You return to it on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a record alone does not prompt reflection. Reflective informatics says reflection begins when the system helps you notice a breakdown and reconsider an assumption.
The AI risk on top of that is well documented: models trained with human feedback can favour responses that match what the user already believes.
Be precise about scope: Twinkl does not measure or claim to eliminate sycophancy as a model property. It targets the product-level risk of ungrounded affirmation, through evidence requirements, abstention, and an explicit sequence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assert the difference — show it. Same three entries down the left, two columns of behaviour.
These products are good at what they do. The point is structural: with no declared reference, there is nothing to compare behaviour against, so the only available move is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Schwartz's Theory of Basic Human Values supplies the vocabulary — ten broad values, later refined to nineteen, arranged on a circular motivational continuum.
Say the boundary in the same breath as the design. Research-grounded, not validated, user-confirmed rather than diagnosed.
Roadmap line to close the introduction: three investigations, then one application, then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Compressed for the 20-minute slot: lead on the two supports in the cards, deliver the other two as single spoken lines.
The boundary bar is the important part of this slide. Say it once, clearly, and then never re-litigate it — every result that follows inherits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figure once, left to right, then stop on the arrow that is not there.
Flag it explicitly as a promise: I will show you the evidence that removed that arrow, in Part 5.
Define Conflict and Drift out loud here — every number in the rest of the talk depends on those two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assessed slide — do not cut it, even under time pressure.
Read the last row aloud rather than letting it pass as a table entry: the displayed nudge is implemented and unevaluated, and I am telling you that before I show you anything that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long-tail problem is visible before any training: three quarters of labels are neutral.
On the two kappas: Fleiss asks how consistently our three annotators applied the task; Cohen asks how closely the saved labels overlapped each annotator. Different rater structures. Descriptive, not a scoreboard.
The regression point matters more than the lift: Power recall rose from 0.125 to 0.313 after a targeted batch, but aggregate QWK fell and Hedonism regressed. Corpus quality has to be judged by held-out effects, not by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why compact was the right starting point: it was sufficient to test whether frozen embeddings plus Profile weights can recover ordinal value alignment from a single entry.
Three-seed reference: median QWK 0.362, Conflict recall 0.313.
The 133 configurations were not brute force — each family tested a different explanation for the plateau: the loss, the representation, the labels, the selection rule, data support, missing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interpret the spread yet — that is slide 18's job, with both panels side by side. Here, just establish that the failure is uneven.
Recall does not report false-positive behaviour, so read it with QWK, precision, and seed spread.
The honest framing: the MLP learned signal, but not enough stable Conflict signal to be given authority over what a user is told about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pays off the missing arrow from Part 2.
All setups used gpt-5.4-mini at no reasoning effort, three repeats.
Say the caveat rather than waiting to be asked: the ablation used the smaller model. Without a matched Luna-low run we cannot claim the offline signal is worthless under the adopted reviewer — only that it did not help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Medium showed no clear recall gain over low, so it is omitted from the chart.
Be explicit about the rule change: low failed the original preregistered coverage gate, which capped coverage loss at 0.05. We reviewed the development results, replaced that rule with a recall-first hierarchy — recall, then false alerts, with coverage as a diagnostic — and then selected low. Say so before Q&amp;A does.
Xhigh ranks higher under that same hierarchy. We declined it: four to nine median false alerts for 23 to 28 median detections.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STILL TO CAPTURE — take both from a saved replay so they are reproducible and need no provider key.
If only one fits on the day, keep the Insufficient Evidence one. Recall and coverage are abstract; Insufficient Evidence is the visible consequence of choosing low effort.
Land the point: the system is designed so that the cost of a miss is a delayed prompt, not a false accusation.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SLIDE — switch to the application here.
Demo path: Wei Jun's Profile → Journal Entries → the week containing t8 and t9 → Active Drift → Coach Digest → Inspect.
Keep it under three minutes. If anything fails, advance twice to the screenshot fallback and narrate from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Intentionally blank — hold here while the demo is on screen, or drop in a screenshot if the demo is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fallback for the live demo. If the demo ran, move through this quickly.
Conflicts at t8 and t9 confirm Active Drift across a week boundary; t10 makes the run three.
Saved replays restrict each selected result to the evidence available at its own cutoff — no future data leaks into a past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“AI-reviewed” out loud about the Coach Digest scores. One response scored 3 on tension honesty because the evaluator judged it risked implying a current tension in a No Active Drift state — that is exactly the kind of concrete target human calibration would settle.
Test counts are from the September verification assessment. If you prefer to cite the 30 August checkpoint instead, the figures were 196 Python and 158 React — pick one and be consistent.
Verification also caught real defects: a grounding rule that accepted one genuine and one invented quotation, and a persistence bug that discarded prior-week evidence. Regression tests hold those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whole even if the talk runs long. It is a research finding, not boilerplate.
Delivery: state each limit flatly, do not apologise, do not soften with “but”.
The two domain limits are worth saying in full: Twinkl cannot distinguish a value abandoned from one merely unmentioned, and it sees conflict between competing values only one dimension at a time.
Close with the bridge to future work: the matched analysis on the stored 106-case union is exactly what would settle this, which is why it leads the future work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at pace — the previous slide is the one that deserves the time.
Mechanical checks catch a broken evidence link. They do not catch whether a person found a response helpful or well timed.
Volunteer the trade-off before Q&amp;A does. A professor may find it anyway, and it lands very differently when you say 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whole talk. The missing arrow in Part 2 was not an oversight or a shortcut — it is what the hand-off ablation and the per-value spread required.
Say the last line slowly. The April proposal had a different runtime design; we changed it because the evidence said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content on this slide. Thirty seconds,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pairing rather than listing the work — every future item is the answer to a limit from Part 7.
Close on the opening question. Not “yes”: the answer is that we made the question testable and the answer inspectable, and we showed you exactly how far the evidence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question is already covered in Part 7, answer briefly and point to the slide rather than re-running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walk through these. Jump directly to the one that was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in one or two sentences, then stop. Point back to the main deck rather than repeating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in one or two sentences, then stop. Point back to the main deck rather than repeating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in one or two sentences, then stop. Point back to the main deck rather than repeating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in one or two sentences, then stop. Point back to the main deck rather than repeating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in one or two sentences, then stop. Point back to the main deck rather than repeating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in one or two sentences, then stop. Point back to the main deck rather than repeating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in one or two sentences, then stop. Point back to the main deck rather than repeating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slide — drop the actual figures and tables in behind this, or delete it if you keep them in a separate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F"/>
        </a:solidFill>
      </p:bgPr>
    </p:bg>
    <p:spTree>
      <p:nvGrpSpPr>
        <p:cNvPr id="1" name=""/>
        <p:cNvGrpSpPr/>
        <p:nvPr/>
      </p:nvGrpSpPr>
      <p:grpSpPr>
        <a:xfrm>
          <a:off x="0" y="0"/>
          <a:ext cx="0" cy="0"/>
          <a:chOff x="0" y="0"/>
          <a:chExt cx="0" cy="0"/>
        </a:xfrm>
      </p:grpSpPr>
      <p:sp>
        <p:nvSpPr>
          <p:cNvPr id="2" name="Shape 0"/>
          <p:cNvSpPr/>
          <p:nvPr/>
        </p:nvSpPr>
        <p:spPr>
          <a:xfrm>
            <a:off x="502920" y="1298448"/>
            <a:ext cx="146304" cy="146304"/>
          </a:xfrm>
          <a:prstGeom prst="ellipse">
            <a:avLst/>
          </a:prstGeom>
          <a:solidFill>
            <a:srgbClr val="E0A32E"/>
          </a:solidFill>
          <a:ln/>
        </p:spPr>
      </p:sp>
      <p:sp>
        <p:nvSpPr>
          <p:cNvPr id="3" name="Text 1"/>
          <p:cNvSpPr txBox="1"/>
          <p:nvPr/>
        </p:nvSpPr>
        <p:spPr>
          <a:xfrm>
            <a:off x="777240" y="1207008"/>
            <a:ext cx="8138160" cy="310896"/>
          </a:xfrm>
          <a:prstGeom prst="rect">
            <a:avLst/>
          </a:prstGeom>
          <a:noFill/>
          <a:ln/>
        </p:spPr>
        <p:txBody>
          <a:bodyPr wrap="square" lIns="0" tIns="0" rIns="0" bIns="0" rtlCol="0" anchor="ctr"/>
          <a:lstStyle/>
          <a:p>
            <a:pPr indent="0" marL="0">
              <a:buNone/>
            </a:pPr>
            <a:r>
              <a:rPr lang="en-US" sz="1100" b="1" spc="140" kern="0" dirty="0">
                <a:solidFill>
                  <a:srgbClr val="E0A32E"/>
                </a:solidFill>
                <a:latin typeface="Calibri" pitchFamily="34" charset="0"/>
                <a:ea typeface="Calibri" pitchFamily="34" charset="-122"/>
                <a:cs typeface="Calibri" pitchFamily="34" charset="-120"/>
              </a:rPr>
              <a:t>NUS-ISS · MTech Intelligent Systems · Capstone Phase 2</a:t>
            </a:r>
            <a:endParaRPr lang="en-US" sz="1100" dirty="0"/>
          </a:p>
        </p:txBody>
      </p:sp>
      <p:sp>
        <p:nvSpPr>
          <p:cNvPr id="4" name="Text 2"/>
          <p:cNvSpPr txBox="1"/>
          <p:nvPr/>
        </p:nvSpPr>
        <p:spPr>
          <a:xfrm>
            <a:off x="502920" y="1627632"/>
            <a:ext cx="8138160" cy="749808"/>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Twinkl</a:t>
            </a:r>
            <a:endParaRPr lang="en-US" sz="4600" dirty="0"/>
          </a:p>
        </p:txBody>
      </p:sp>
      <p:sp>
        <p:nvSpPr>
          <p:cNvPr id="5" name="Text 3"/>
          <p:cNvSpPr txBox="1"/>
          <p:nvPr/>
        </p:nvSpPr>
        <p:spPr>
          <a:xfrm>
            <a:off x="502920" y="2377440"/>
            <a:ext cx="8138160" cy="457200"/>
          </a:xfrm>
          <a:prstGeom prst="rect">
            <a:avLst/>
          </a:prstGeom>
          <a:noFill/>
          <a:ln/>
        </p:spPr>
        <p:txBody>
          <a:bodyPr wrap="square" lIns="0" tIns="0" rIns="0" bIns="0" rtlCol="0" anchor="ctr"/>
          <a:lstStyle/>
          <a:p>
            <a:pPr indent="0" marL="0">
              <a:buNone/>
            </a:pPr>
            <a:r>
              <a:rPr lang="en-US" sz="2100" dirty="0">
                <a:solidFill>
                  <a:srgbClr val="CBD2E8"/>
                </a:solidFill>
                <a:latin typeface="Cambria" pitchFamily="34" charset="0"/>
                <a:ea typeface="Cambria" pitchFamily="34" charset="-122"/>
                <a:cs typeface="Cambria" pitchFamily="34" charset="-120"/>
              </a:rPr>
              <a:t>Evidence-Grounded Value Accountability</a:t>
            </a:r>
            <a:endParaRPr lang="en-US" sz="2100" dirty="0"/>
          </a:p>
        </p:txBody>
      </p:sp>
      <p:sp>
        <p:nvSpPr>
          <p:cNvPr id="6" name="Text 4"/>
          <p:cNvSpPr txBox="1"/>
          <p:nvPr/>
        </p:nvSpPr>
        <p:spPr>
          <a:xfrm>
            <a:off x="502920" y="2834640"/>
            <a:ext cx="7223760" cy="365760"/>
          </a:xfrm>
          <a:prstGeom prst="rect">
            <a:avLst/>
          </a:prstGeom>
          <a:noFill/>
          <a:ln/>
        </p:spPr>
        <p:txBody>
          <a:bodyPr wrap="square" lIns="0" tIns="0" rIns="0" bIns="0" rtlCol="0" anchor="ctr"/>
          <a:lstStyle/>
          <a:p>
            <a:pPr indent="0" marL="0">
              <a:buNone/>
            </a:pPr>
            <a:r>
              <a:rPr lang="en-US" sz="1250" i="1" dirty="0">
                <a:solidFill>
                  <a:srgbClr val="8E97B8"/>
                </a:solidFill>
                <a:latin typeface="Calibri" pitchFamily="34" charset="0"/>
                <a:ea typeface="Calibri" pitchFamily="34" charset="-122"/>
                <a:cs typeface="Calibri" pitchFamily="34" charset="-120"/>
              </a:rPr>
              <a:t>An inner compass for longitudinal alignment between behaviour and Core Values</a:t>
            </a:r>
            <a:endParaRPr lang="en-US" sz="1250" dirty="0"/>
          </a:p>
        </p:txBody>
      </p:sp>
      <p:sp>
        <p:nvSpPr>
          <p:cNvPr id="7" name="Text 5"/>
          <p:cNvSpPr txBox="1"/>
          <p:nvPr/>
        </p:nvSpPr>
        <p:spPr>
          <a:xfrm>
            <a:off x="502920" y="3767328"/>
            <a:ext cx="8138160" cy="274320"/>
          </a:xfrm>
          <a:prstGeom prst="rect">
            <a:avLst/>
          </a:prstGeom>
          <a:noFill/>
          <a:ln/>
        </p:spPr>
        <p:txBody>
          <a:bodyPr wrap="square" lIns="0" tIns="0" rIns="0" bIns="0" rtlCol="0" anchor="ctr"/>
          <a:lstStyle/>
          <a:p>
            <a:pPr indent="0" marL="0">
              <a:buNone/>
            </a:pPr>
            <a:r>
              <a:rPr lang="en-US" sz="1200" dirty="0">
                <a:solidFill>
                  <a:srgbClr val="AEB6CF"/>
                </a:solidFill>
                <a:latin typeface="Calibri" pitchFamily="34" charset="0"/>
                <a:ea typeface="Calibri" pitchFamily="34" charset="-122"/>
                <a:cs typeface="Calibri" pitchFamily="34" charset="-120"/>
              </a:rPr>
              <a:t>Choy Yong Yi Desmond  ·  Leong Kay Mei  ·  Loke Yuen Ying Jodie</a:t>
            </a:r>
            <a:endParaRPr lang="en-US" sz="1200" dirty="0"/>
          </a:p>
        </p:txBody>
      </p:sp>
      <p:sp>
        <p:nvSpPr>
          <p:cNvPr id="8" name="Text 6"/>
          <p:cNvSpPr txBox="1"/>
          <p:nvPr/>
        </p:nvSpPr>
        <p:spPr>
          <a:xfrm>
            <a:off x="502920" y="4041648"/>
            <a:ext cx="8138160" cy="274320"/>
          </a:xfrm>
          <a:prstGeom prst="rect">
            <a:avLst/>
          </a:prstGeom>
          <a:noFill/>
          <a:ln/>
        </p:spPr>
        <p:txBody>
          <a:bodyPr wrap="square" lIns="0" tIns="0" rIns="0" bIns="0" rtlCol="0" anchor="ctr"/>
          <a:lstStyle/>
          <a:p>
            <a:pPr indent="0" marL="0">
              <a:buNone/>
            </a:pPr>
            <a:r>
              <a:rPr lang="en-US" sz="1100" dirty="0">
                <a:solidFill>
                  <a:srgbClr val="6E779B"/>
                </a:solidFill>
                <a:latin typeface="Calibri" pitchFamily="34" charset="0"/>
                <a:ea typeface="Calibri" pitchFamily="34" charset="-122"/>
                <a:cs typeface="Calibri" pitchFamily="34" charset="-120"/>
              </a:rPr>
              <a:t>15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ROADMAP</a:t>
            </a:r>
            <a:endParaRPr lang="en-US" sz="1050" dirty="0"/>
          </a:p>
        </p:txBody>
      </p:sp>
      <p:sp>
        <p:nvSpPr>
          <p:cNvPr id="4" name="Text 2"/>
          <p:cNvSpPr txBox="1"/>
          <p:nvPr/>
        </p:nvSpPr>
        <p:spPr>
          <a:xfrm>
            <a:off x="502920" y="548640"/>
            <a:ext cx="8138160" cy="457200"/>
          </a:xfrm>
          <a:prstGeom prst="rect">
            <a:avLst/>
          </a:prstGeom>
          <a:noFill/>
          <a:ln/>
        </p:spPr>
        <p:txBody>
          <a:bodyPr wrap="square" lIns="0" tIns="0" rIns="0" bIns="0" rtlCol="0" anchor="t"/>
          <a:lstStyle/>
          <a:p>
            <a:pPr indent="0" marL="0">
              <a:buNone/>
            </a:pPr>
            <a:r>
              <a:rPr lang="en-US" sz="2200" b="1" dirty="0">
                <a:solidFill>
                  <a:srgbClr val="17203F"/>
                </a:solidFill>
                <a:latin typeface="Cambria" pitchFamily="34" charset="0"/>
                <a:ea typeface="Cambria" pitchFamily="34" charset="-122"/>
                <a:cs typeface="Cambria" pitchFamily="34" charset="-120"/>
              </a:rPr>
              <a:t>Can AI hold you accountable to your own values, with evidence?</a:t>
            </a:r>
            <a:endParaRPr lang="en-US" sz="2200" dirty="0"/>
          </a:p>
        </p:txBody>
      </p:sp>
      <p:sp>
        <p:nvSpPr>
          <p:cNvPr id="5" name="Text 3"/>
          <p:cNvSpPr txBox="1"/>
          <p:nvPr/>
        </p:nvSpPr>
        <p:spPr>
          <a:xfrm>
            <a:off x="502920" y="1115568"/>
            <a:ext cx="8138160" cy="27432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Three investigations answer it. The architecture is what the evidence decided.</a:t>
            </a:r>
            <a:endParaRPr lang="en-US" sz="1200" dirty="0"/>
          </a:p>
        </p:txBody>
      </p:sp>
      <p:sp>
        <p:nvSpPr>
          <p:cNvPr id="6" name="Shape 4"/>
          <p:cNvSpPr/>
          <p:nvPr/>
        </p:nvSpPr>
        <p:spPr>
          <a:xfrm>
            <a:off x="502920" y="1536192"/>
            <a:ext cx="3931920" cy="640080"/>
          </a:xfrm>
          <a:prstGeom prst="roundRect">
            <a:avLst>
              <a:gd name="adj" fmla="val 8571"/>
            </a:avLst>
          </a:prstGeom>
          <a:solidFill>
            <a:srgbClr val="F3F4F7"/>
          </a:solidFill>
          <a:ln w="12700">
            <a:solidFill>
              <a:srgbClr val="F3F4F7"/>
            </a:solidFill>
            <a:prstDash val="solid"/>
          </a:ln>
        </p:spPr>
      </p:sp>
      <p:sp>
        <p:nvSpPr>
          <p:cNvPr id="7" name="Shape 5"/>
          <p:cNvSpPr/>
          <p:nvPr/>
        </p:nvSpPr>
        <p:spPr>
          <a:xfrm>
            <a:off x="685800" y="1719072"/>
            <a:ext cx="292608" cy="292608"/>
          </a:xfrm>
          <a:prstGeom prst="ellipse">
            <a:avLst/>
          </a:prstGeom>
          <a:solidFill>
            <a:srgbClr val="2C3A6B"/>
          </a:solidFill>
          <a:ln/>
        </p:spPr>
      </p:sp>
      <p:sp>
        <p:nvSpPr>
          <p:cNvPr id="8" name="Text 6"/>
          <p:cNvSpPr txBox="1"/>
          <p:nvPr/>
        </p:nvSpPr>
        <p:spPr>
          <a:xfrm>
            <a:off x="685800" y="17190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069848" y="1609344"/>
            <a:ext cx="3200400" cy="256032"/>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Introduction</a:t>
            </a:r>
            <a:endParaRPr lang="en-US" sz="1150" dirty="0"/>
          </a:p>
        </p:txBody>
      </p:sp>
      <p:sp>
        <p:nvSpPr>
          <p:cNvPr id="10" name="Text 8"/>
          <p:cNvSpPr txBox="1"/>
          <p:nvPr/>
        </p:nvSpPr>
        <p:spPr>
          <a:xfrm>
            <a:off x="1069848" y="1865376"/>
            <a:ext cx="32004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The problem, the market gap, and what Twinkl does instead</a:t>
            </a:r>
            <a:endParaRPr lang="en-US" sz="950" dirty="0"/>
          </a:p>
        </p:txBody>
      </p:sp>
      <p:sp>
        <p:nvSpPr>
          <p:cNvPr id="11" name="Shape 9"/>
          <p:cNvSpPr/>
          <p:nvPr/>
        </p:nvSpPr>
        <p:spPr>
          <a:xfrm>
            <a:off x="502920" y="2258568"/>
            <a:ext cx="3931920" cy="640080"/>
          </a:xfrm>
          <a:prstGeom prst="roundRect">
            <a:avLst>
              <a:gd name="adj" fmla="val 8571"/>
            </a:avLst>
          </a:prstGeom>
          <a:solidFill>
            <a:srgbClr val="F3F4F7"/>
          </a:solidFill>
          <a:ln w="12700">
            <a:solidFill>
              <a:srgbClr val="F3F4F7"/>
            </a:solidFill>
            <a:prstDash val="solid"/>
          </a:ln>
        </p:spPr>
      </p:sp>
      <p:sp>
        <p:nvSpPr>
          <p:cNvPr id="12" name="Shape 10"/>
          <p:cNvSpPr/>
          <p:nvPr/>
        </p:nvSpPr>
        <p:spPr>
          <a:xfrm>
            <a:off x="685800" y="2441448"/>
            <a:ext cx="292608" cy="292608"/>
          </a:xfrm>
          <a:prstGeom prst="ellipse">
            <a:avLst/>
          </a:prstGeom>
          <a:solidFill>
            <a:srgbClr val="2C3A6B"/>
          </a:solidFill>
          <a:ln/>
        </p:spPr>
      </p:sp>
      <p:sp>
        <p:nvSpPr>
          <p:cNvPr id="13" name="Text 11"/>
          <p:cNvSpPr txBox="1"/>
          <p:nvPr/>
        </p:nvSpPr>
        <p:spPr>
          <a:xfrm>
            <a:off x="685800" y="24414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069848" y="2331720"/>
            <a:ext cx="3200400" cy="256032"/>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Approach and evidence</a:t>
            </a:r>
            <a:endParaRPr lang="en-US" sz="1150" dirty="0"/>
          </a:p>
        </p:txBody>
      </p:sp>
      <p:sp>
        <p:nvSpPr>
          <p:cNvPr id="15" name="Text 13"/>
          <p:cNvSpPr txBox="1"/>
          <p:nvPr/>
        </p:nvSpPr>
        <p:spPr>
          <a:xfrm>
            <a:off x="1069848" y="2587752"/>
            <a:ext cx="32004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Prior work, and how each part is evaluated</a:t>
            </a:r>
            <a:endParaRPr lang="en-US" sz="950" dirty="0"/>
          </a:p>
        </p:txBody>
      </p:sp>
      <p:sp>
        <p:nvSpPr>
          <p:cNvPr id="16" name="Shape 14"/>
          <p:cNvSpPr/>
          <p:nvPr/>
        </p:nvSpPr>
        <p:spPr>
          <a:xfrm>
            <a:off x="502920" y="2980944"/>
            <a:ext cx="3931920" cy="640080"/>
          </a:xfrm>
          <a:prstGeom prst="roundRect">
            <a:avLst>
              <a:gd name="adj" fmla="val 8571"/>
            </a:avLst>
          </a:prstGeom>
          <a:solidFill>
            <a:srgbClr val="F3F4F7"/>
          </a:solidFill>
          <a:ln w="12700">
            <a:solidFill>
              <a:srgbClr val="F3F4F7"/>
            </a:solidFill>
            <a:prstDash val="solid"/>
          </a:ln>
        </p:spPr>
      </p:sp>
      <p:sp>
        <p:nvSpPr>
          <p:cNvPr id="17" name="Shape 15"/>
          <p:cNvSpPr/>
          <p:nvPr/>
        </p:nvSpPr>
        <p:spPr>
          <a:xfrm>
            <a:off x="685800" y="3163824"/>
            <a:ext cx="292608" cy="292608"/>
          </a:xfrm>
          <a:prstGeom prst="ellipse">
            <a:avLst/>
          </a:prstGeom>
          <a:solidFill>
            <a:srgbClr val="2C3A6B"/>
          </a:solidFill>
          <a:ln/>
        </p:spPr>
      </p:sp>
      <p:sp>
        <p:nvSpPr>
          <p:cNvPr id="18" name="Text 16"/>
          <p:cNvSpPr txBox="1"/>
          <p:nvPr/>
        </p:nvSpPr>
        <p:spPr>
          <a:xfrm>
            <a:off x="685800" y="31638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069848" y="3054096"/>
            <a:ext cx="3200400" cy="256032"/>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Investigation 1 — the corpus</a:t>
            </a:r>
            <a:endParaRPr lang="en-US" sz="1150" dirty="0"/>
          </a:p>
        </p:txBody>
      </p:sp>
      <p:sp>
        <p:nvSpPr>
          <p:cNvPr id="20" name="Text 18"/>
          <p:cNvSpPr txBox="1"/>
          <p:nvPr/>
        </p:nvSpPr>
        <p:spPr>
          <a:xfrm>
            <a:off x="1069848" y="3310128"/>
            <a:ext cx="32004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Building longitudinal data that can be trusted enough</a:t>
            </a:r>
            <a:endParaRPr lang="en-US" sz="950" dirty="0"/>
          </a:p>
        </p:txBody>
      </p:sp>
      <p:sp>
        <p:nvSpPr>
          <p:cNvPr id="21" name="Shape 19"/>
          <p:cNvSpPr/>
          <p:nvPr/>
        </p:nvSpPr>
        <p:spPr>
          <a:xfrm>
            <a:off x="502920" y="3703320"/>
            <a:ext cx="3931920" cy="640080"/>
          </a:xfrm>
          <a:prstGeom prst="roundRect">
            <a:avLst>
              <a:gd name="adj" fmla="val 8571"/>
            </a:avLst>
          </a:prstGeom>
          <a:solidFill>
            <a:srgbClr val="F3F4F7"/>
          </a:solidFill>
          <a:ln w="12700">
            <a:solidFill>
              <a:srgbClr val="F3F4F7"/>
            </a:solidFill>
            <a:prstDash val="solid"/>
          </a:ln>
        </p:spPr>
      </p:sp>
      <p:sp>
        <p:nvSpPr>
          <p:cNvPr id="22" name="Shape 20"/>
          <p:cNvSpPr/>
          <p:nvPr/>
        </p:nvSpPr>
        <p:spPr>
          <a:xfrm>
            <a:off x="685800" y="3886200"/>
            <a:ext cx="292608" cy="292608"/>
          </a:xfrm>
          <a:prstGeom prst="ellipse">
            <a:avLst/>
          </a:prstGeom>
          <a:solidFill>
            <a:srgbClr val="2C3A6B"/>
          </a:solidFill>
          <a:ln/>
        </p:spPr>
      </p:sp>
      <p:sp>
        <p:nvSpPr>
          <p:cNvPr id="23" name="Text 21"/>
          <p:cNvSpPr txBox="1"/>
          <p:nvPr/>
        </p:nvSpPr>
        <p:spPr>
          <a:xfrm>
            <a:off x="685800" y="38862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1069848" y="3776472"/>
            <a:ext cx="3200400" cy="256032"/>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Investigation 2 — the VIF Critic</a:t>
            </a:r>
            <a:endParaRPr lang="en-US" sz="1150" dirty="0"/>
          </a:p>
        </p:txBody>
      </p:sp>
      <p:sp>
        <p:nvSpPr>
          <p:cNvPr id="25" name="Text 23"/>
          <p:cNvSpPr txBox="1"/>
          <p:nvPr/>
        </p:nvSpPr>
        <p:spPr>
          <a:xfrm>
            <a:off x="1069848" y="4032504"/>
            <a:ext cx="32004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A compact model, and where it breaks</a:t>
            </a:r>
            <a:endParaRPr lang="en-US" sz="950" dirty="0"/>
          </a:p>
        </p:txBody>
      </p:sp>
      <p:sp>
        <p:nvSpPr>
          <p:cNvPr id="26" name="Shape 24"/>
          <p:cNvSpPr/>
          <p:nvPr/>
        </p:nvSpPr>
        <p:spPr>
          <a:xfrm>
            <a:off x="4709160" y="1536192"/>
            <a:ext cx="3931920" cy="640080"/>
          </a:xfrm>
          <a:prstGeom prst="roundRect">
            <a:avLst>
              <a:gd name="adj" fmla="val 8571"/>
            </a:avLst>
          </a:prstGeom>
          <a:solidFill>
            <a:srgbClr val="F3F4F7"/>
          </a:solidFill>
          <a:ln w="12700">
            <a:solidFill>
              <a:srgbClr val="F3F4F7"/>
            </a:solidFill>
            <a:prstDash val="solid"/>
          </a:ln>
        </p:spPr>
      </p:sp>
      <p:sp>
        <p:nvSpPr>
          <p:cNvPr id="27" name="Shape 25"/>
          <p:cNvSpPr/>
          <p:nvPr/>
        </p:nvSpPr>
        <p:spPr>
          <a:xfrm>
            <a:off x="4892040" y="1719072"/>
            <a:ext cx="292608" cy="292608"/>
          </a:xfrm>
          <a:prstGeom prst="ellipse">
            <a:avLst/>
          </a:prstGeom>
          <a:solidFill>
            <a:srgbClr val="2C3A6B"/>
          </a:solidFill>
          <a:ln/>
        </p:spPr>
      </p:sp>
      <p:sp>
        <p:nvSpPr>
          <p:cNvPr id="28" name="Text 26"/>
          <p:cNvSpPr txBox="1"/>
          <p:nvPr/>
        </p:nvSpPr>
        <p:spPr>
          <a:xfrm>
            <a:off x="4892040" y="17190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9" name="Text 27"/>
          <p:cNvSpPr txBox="1"/>
          <p:nvPr/>
        </p:nvSpPr>
        <p:spPr>
          <a:xfrm>
            <a:off x="5276088" y="1609344"/>
            <a:ext cx="3200400" cy="256032"/>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Investigation 3 — the drift path</a:t>
            </a:r>
            <a:endParaRPr lang="en-US" sz="1150" dirty="0"/>
          </a:p>
        </p:txBody>
      </p:sp>
      <p:sp>
        <p:nvSpPr>
          <p:cNvPr id="30" name="Text 28"/>
          <p:cNvSpPr txBox="1"/>
          <p:nvPr/>
        </p:nvSpPr>
        <p:spPr>
          <a:xfrm>
            <a:off x="5276088" y="1865376"/>
            <a:ext cx="32004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The hand-off ablation and the chosen operating point</a:t>
            </a:r>
            <a:endParaRPr lang="en-US" sz="950" dirty="0"/>
          </a:p>
        </p:txBody>
      </p:sp>
      <p:sp>
        <p:nvSpPr>
          <p:cNvPr id="31" name="Shape 29"/>
          <p:cNvSpPr/>
          <p:nvPr/>
        </p:nvSpPr>
        <p:spPr>
          <a:xfrm>
            <a:off x="4709160" y="2258568"/>
            <a:ext cx="3931920" cy="640080"/>
          </a:xfrm>
          <a:prstGeom prst="roundRect">
            <a:avLst>
              <a:gd name="adj" fmla="val 8571"/>
            </a:avLst>
          </a:prstGeom>
          <a:solidFill>
            <a:srgbClr val="FBF3E1"/>
          </a:solidFill>
          <a:ln w="12700">
            <a:solidFill>
              <a:srgbClr val="FBF3E1"/>
            </a:solidFill>
            <a:prstDash val="solid"/>
          </a:ln>
        </p:spPr>
      </p:sp>
      <p:sp>
        <p:nvSpPr>
          <p:cNvPr id="32" name="Shape 30"/>
          <p:cNvSpPr/>
          <p:nvPr/>
        </p:nvSpPr>
        <p:spPr>
          <a:xfrm>
            <a:off x="4892040" y="2441448"/>
            <a:ext cx="292608" cy="292608"/>
          </a:xfrm>
          <a:prstGeom prst="ellipse">
            <a:avLst/>
          </a:prstGeom>
          <a:solidFill>
            <a:srgbClr val="E0A32E"/>
          </a:solidFill>
          <a:ln/>
        </p:spPr>
      </p:sp>
      <p:sp>
        <p:nvSpPr>
          <p:cNvPr id="33" name="Text 31"/>
          <p:cNvSpPr txBox="1"/>
          <p:nvPr/>
        </p:nvSpPr>
        <p:spPr>
          <a:xfrm>
            <a:off x="4892040" y="24414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2"/>
          <p:cNvSpPr txBox="1"/>
          <p:nvPr/>
        </p:nvSpPr>
        <p:spPr>
          <a:xfrm>
            <a:off x="5276088" y="2331720"/>
            <a:ext cx="3200400" cy="256032"/>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The application</a:t>
            </a:r>
            <a:endParaRPr lang="en-US" sz="1150" dirty="0"/>
          </a:p>
        </p:txBody>
      </p:sp>
      <p:sp>
        <p:nvSpPr>
          <p:cNvPr id="35" name="Text 33"/>
          <p:cNvSpPr txBox="1"/>
          <p:nvPr/>
        </p:nvSpPr>
        <p:spPr>
          <a:xfrm>
            <a:off x="5276088" y="2587752"/>
            <a:ext cx="32004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One traced example, live — plus what verifies it</a:t>
            </a:r>
            <a:endParaRPr lang="en-US" sz="950" dirty="0"/>
          </a:p>
        </p:txBody>
      </p:sp>
      <p:sp>
        <p:nvSpPr>
          <p:cNvPr id="36" name="Shape 34"/>
          <p:cNvSpPr/>
          <p:nvPr/>
        </p:nvSpPr>
        <p:spPr>
          <a:xfrm>
            <a:off x="4709160" y="2980944"/>
            <a:ext cx="3931920" cy="640080"/>
          </a:xfrm>
          <a:prstGeom prst="roundRect">
            <a:avLst>
              <a:gd name="adj" fmla="val 8571"/>
            </a:avLst>
          </a:prstGeom>
          <a:solidFill>
            <a:srgbClr val="F3F4F7"/>
          </a:solidFill>
          <a:ln w="12700">
            <a:solidFill>
              <a:srgbClr val="F3F4F7"/>
            </a:solidFill>
            <a:prstDash val="solid"/>
          </a:ln>
        </p:spPr>
      </p:sp>
      <p:sp>
        <p:nvSpPr>
          <p:cNvPr id="37" name="Shape 35"/>
          <p:cNvSpPr/>
          <p:nvPr/>
        </p:nvSpPr>
        <p:spPr>
          <a:xfrm>
            <a:off x="4892040" y="3163824"/>
            <a:ext cx="292608" cy="292608"/>
          </a:xfrm>
          <a:prstGeom prst="ellipse">
            <a:avLst/>
          </a:prstGeom>
          <a:solidFill>
            <a:srgbClr val="2C3A6B"/>
          </a:solidFill>
          <a:ln/>
        </p:spPr>
      </p:sp>
      <p:sp>
        <p:nvSpPr>
          <p:cNvPr id="38" name="Text 36"/>
          <p:cNvSpPr txBox="1"/>
          <p:nvPr/>
        </p:nvSpPr>
        <p:spPr>
          <a:xfrm>
            <a:off x="4892040" y="31638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9" name="Text 37"/>
          <p:cNvSpPr txBox="1"/>
          <p:nvPr/>
        </p:nvSpPr>
        <p:spPr>
          <a:xfrm>
            <a:off x="5276088" y="3054096"/>
            <a:ext cx="3200400" cy="256032"/>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Limitations</a:t>
            </a:r>
            <a:endParaRPr lang="en-US" sz="1150" dirty="0"/>
          </a:p>
        </p:txBody>
      </p:sp>
      <p:sp>
        <p:nvSpPr>
          <p:cNvPr id="40" name="Text 38"/>
          <p:cNvSpPr txBox="1"/>
          <p:nvPr/>
        </p:nvSpPr>
        <p:spPr>
          <a:xfrm>
            <a:off x="5276088" y="3310128"/>
            <a:ext cx="32004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What the evidence cannot support</a:t>
            </a:r>
            <a:endParaRPr lang="en-US" sz="950" dirty="0"/>
          </a:p>
        </p:txBody>
      </p:sp>
      <p:sp>
        <p:nvSpPr>
          <p:cNvPr id="41" name="Shape 39"/>
          <p:cNvSpPr/>
          <p:nvPr/>
        </p:nvSpPr>
        <p:spPr>
          <a:xfrm>
            <a:off x="4709160" y="3703320"/>
            <a:ext cx="3931920" cy="640080"/>
          </a:xfrm>
          <a:prstGeom prst="roundRect">
            <a:avLst>
              <a:gd name="adj" fmla="val 8571"/>
            </a:avLst>
          </a:prstGeom>
          <a:solidFill>
            <a:srgbClr val="F3F4F7"/>
          </a:solidFill>
          <a:ln w="12700">
            <a:solidFill>
              <a:srgbClr val="F3F4F7"/>
            </a:solidFill>
            <a:prstDash val="solid"/>
          </a:ln>
        </p:spPr>
      </p:sp>
      <p:sp>
        <p:nvSpPr>
          <p:cNvPr id="42" name="Shape 40"/>
          <p:cNvSpPr/>
          <p:nvPr/>
        </p:nvSpPr>
        <p:spPr>
          <a:xfrm>
            <a:off x="4892040" y="3886200"/>
            <a:ext cx="292608" cy="292608"/>
          </a:xfrm>
          <a:prstGeom prst="ellipse">
            <a:avLst/>
          </a:prstGeom>
          <a:solidFill>
            <a:srgbClr val="2C3A6B"/>
          </a:solidFill>
          <a:ln/>
        </p:spPr>
      </p:sp>
      <p:sp>
        <p:nvSpPr>
          <p:cNvPr id="43" name="Text 41"/>
          <p:cNvSpPr txBox="1"/>
          <p:nvPr/>
        </p:nvSpPr>
        <p:spPr>
          <a:xfrm>
            <a:off x="4892040" y="38862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4" name="Text 42"/>
          <p:cNvSpPr txBox="1"/>
          <p:nvPr/>
        </p:nvSpPr>
        <p:spPr>
          <a:xfrm>
            <a:off x="5276088" y="3776472"/>
            <a:ext cx="3200400" cy="256032"/>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Conclusion</a:t>
            </a:r>
            <a:endParaRPr lang="en-US" sz="1150" dirty="0"/>
          </a:p>
        </p:txBody>
      </p:sp>
      <p:sp>
        <p:nvSpPr>
          <p:cNvPr id="45" name="Text 43"/>
          <p:cNvSpPr txBox="1"/>
          <p:nvPr/>
        </p:nvSpPr>
        <p:spPr>
          <a:xfrm>
            <a:off x="5276088" y="4032504"/>
            <a:ext cx="32004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What the evidence decided, and what comes next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1 · INTRODUCTION</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Journaling records. It rarely confronts.</a:t>
            </a:r>
            <a:endParaRPr lang="en-US" sz="2600" dirty="0"/>
          </a:p>
        </p:txBody>
      </p:sp>
      <p:sp>
        <p:nvSpPr>
          <p:cNvPr id="5" name="Text 3"/>
          <p:cNvSpPr txBox="1"/>
          <p:nvPr/>
        </p:nvSpPr>
        <p:spPr>
          <a:xfrm>
            <a:off x="502920" y="1243584"/>
            <a:ext cx="8046720" cy="457200"/>
          </a:xfrm>
          <a:prstGeom prst="rect">
            <a:avLst/>
          </a:prstGeom>
          <a:noFill/>
          <a:ln/>
        </p:spPr>
        <p:txBody>
          <a:bodyPr wrap="square" lIns="0" tIns="0" rIns="0" bIns="0" rtlCol="0" anchor="ctr"/>
          <a:lstStyle/>
          <a:p>
            <a:pPr indent="0" marL="0">
              <a:buNone/>
            </a:pPr>
            <a:r>
              <a:rPr lang="en-US" sz="1250" dirty="0">
                <a:solidFill>
                  <a:srgbClr val="1F2433"/>
                </a:solidFill>
                <a:latin typeface="Calibri" pitchFamily="34" charset="0"/>
                <a:ea typeface="Calibri" pitchFamily="34" charset="-122"/>
                <a:cs typeface="Calibri" pitchFamily="34" charset="-120"/>
              </a:rPr>
              <a:t>AI assistants tend toward agreement rather than testing a user's account. Our target is narrower than sycophancy as a model property: it is product-level ungrounded affirmation.</a:t>
            </a:r>
            <a:endParaRPr lang="en-US" sz="1250" dirty="0"/>
          </a:p>
        </p:txBody>
      </p:sp>
      <p:sp>
        <p:nvSpPr>
          <p:cNvPr id="6" name="Shape 4"/>
          <p:cNvSpPr/>
          <p:nvPr/>
        </p:nvSpPr>
        <p:spPr>
          <a:xfrm>
            <a:off x="502920" y="1810512"/>
            <a:ext cx="3886200" cy="2103120"/>
          </a:xfrm>
          <a:prstGeom prst="roundRect">
            <a:avLst>
              <a:gd name="adj" fmla="val 2609"/>
            </a:avLst>
          </a:prstGeom>
          <a:solidFill>
            <a:srgbClr val="F7EFEF"/>
          </a:solidFill>
          <a:ln w="12700">
            <a:solidFill>
              <a:srgbClr val="F7EFEF"/>
            </a:solidFill>
            <a:prstDash val="solid"/>
          </a:ln>
        </p:spPr>
      </p:sp>
      <p:sp>
        <p:nvSpPr>
          <p:cNvPr id="7" name="Text 5"/>
          <p:cNvSpPr txBox="1"/>
          <p:nvPr/>
        </p:nvSpPr>
        <p:spPr>
          <a:xfrm>
            <a:off x="731520" y="1993392"/>
            <a:ext cx="3429000" cy="237744"/>
          </a:xfrm>
          <a:prstGeom prst="rect">
            <a:avLst/>
          </a:prstGeom>
          <a:noFill/>
          <a:ln/>
        </p:spPr>
        <p:txBody>
          <a:bodyPr wrap="square" lIns="0" tIns="0" rIns="0" bIns="0" rtlCol="0" anchor="ctr"/>
          <a:lstStyle/>
          <a:p>
            <a:pPr indent="0" marL="0">
              <a:buNone/>
            </a:pPr>
            <a:r>
              <a:rPr lang="en-US" sz="950" b="1" spc="140" kern="0" dirty="0">
                <a:solidFill>
                  <a:srgbClr val="B5544F"/>
                </a:solidFill>
                <a:latin typeface="Calibri" pitchFamily="34" charset="0"/>
                <a:ea typeface="Calibri" pitchFamily="34" charset="-122"/>
                <a:cs typeface="Calibri" pitchFamily="34" charset="-120"/>
              </a:rPr>
              <a:t>AFFIRMING REPLY</a:t>
            </a:r>
            <a:endParaRPr lang="en-US" sz="950" dirty="0"/>
          </a:p>
        </p:txBody>
      </p:sp>
      <p:sp>
        <p:nvSpPr>
          <p:cNvPr id="8" name="Text 6"/>
          <p:cNvSpPr txBox="1"/>
          <p:nvPr/>
        </p:nvSpPr>
        <p:spPr>
          <a:xfrm>
            <a:off x="731520" y="2286000"/>
            <a:ext cx="3429000" cy="914400"/>
          </a:xfrm>
          <a:prstGeom prst="rect">
            <a:avLst/>
          </a:prstGeom>
          <a:noFill/>
          <a:ln/>
        </p:spPr>
        <p:txBody>
          <a:bodyPr wrap="square" lIns="0" tIns="0" rIns="0" bIns="0" rtlCol="0" anchor="ctr"/>
          <a:lstStyle/>
          <a:p>
            <a:pPr indent="0" marL="0">
              <a:buNone/>
            </a:pPr>
            <a:r>
              <a:rPr lang="en-US" sz="1200" i="1" dirty="0">
                <a:solidFill>
                  <a:srgbClr val="1F2433"/>
                </a:solidFill>
                <a:latin typeface="Calibri" pitchFamily="34" charset="0"/>
                <a:ea typeface="Calibri" pitchFamily="34" charset="-122"/>
                <a:cs typeface="Calibri" pitchFamily="34" charset="-120"/>
              </a:rPr>
              <a:t>“It sounds like you've had a really full week, and it's clear how much you care about the people around you. Be kind to yourself — you're doing your best.”</a:t>
            </a:r>
            <a:endParaRPr lang="en-US" sz="1200" dirty="0"/>
          </a:p>
        </p:txBody>
      </p:sp>
      <p:sp>
        <p:nvSpPr>
          <p:cNvPr id="9" name="Text 7"/>
          <p:cNvSpPr txBox="1"/>
          <p:nvPr/>
        </p:nvSpPr>
        <p:spPr>
          <a:xfrm>
            <a:off x="731520" y="3255264"/>
            <a:ext cx="3429000" cy="5486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7A5B5B"/>
                </a:solidFill>
                <a:latin typeface="Calibri" pitchFamily="34" charset="0"/>
                <a:ea typeface="Calibri" pitchFamily="34" charset="-122"/>
                <a:cs typeface="Calibri" pitchFamily="34" charset="-120"/>
              </a:rPr>
              <a:t>No declared reference to compare against</a:t>
            </a:r>
            <a:endParaRPr lang="en-US" sz="1050" dirty="0"/>
          </a:p>
          <a:p>
            <a:pPr marL="342900" indent="-342900">
              <a:spcAft>
                <a:spcPts val="300"/>
              </a:spcAft>
              <a:buSzPct val="100000"/>
              <a:buChar char="•"/>
            </a:pPr>
            <a:r>
              <a:rPr lang="en-US" sz="1050" dirty="0">
                <a:solidFill>
                  <a:srgbClr val="7A5B5B"/>
                </a:solidFill>
                <a:latin typeface="Calibri" pitchFamily="34" charset="0"/>
                <a:ea typeface="Calibri" pitchFamily="34" charset="-122"/>
                <a:cs typeface="Calibri" pitchFamily="34" charset="-120"/>
              </a:rPr>
              <a:t>No entry cited</a:t>
            </a:r>
            <a:endParaRPr lang="en-US" sz="1050" dirty="0"/>
          </a:p>
          <a:p>
            <a:pPr marL="342900" indent="-342900">
              <a:spcAft>
                <a:spcPts val="300"/>
              </a:spcAft>
              <a:buSzPct val="100000"/>
              <a:buChar char="•"/>
            </a:pPr>
            <a:r>
              <a:rPr lang="en-US" sz="1050" dirty="0">
                <a:solidFill>
                  <a:srgbClr val="7A5B5B"/>
                </a:solidFill>
                <a:latin typeface="Calibri" pitchFamily="34" charset="0"/>
                <a:ea typeface="Calibri" pitchFamily="34" charset="-122"/>
                <a:cs typeface="Calibri" pitchFamily="34" charset="-120"/>
              </a:rPr>
              <a:t>Cannot be contested</a:t>
            </a:r>
            <a:endParaRPr lang="en-US" sz="1050" dirty="0"/>
          </a:p>
        </p:txBody>
      </p:sp>
      <p:sp>
        <p:nvSpPr>
          <p:cNvPr id="10" name="Shape 8"/>
          <p:cNvSpPr/>
          <p:nvPr/>
        </p:nvSpPr>
        <p:spPr>
          <a:xfrm>
            <a:off x="4754880" y="1810512"/>
            <a:ext cx="3886200" cy="2103120"/>
          </a:xfrm>
          <a:prstGeom prst="roundRect">
            <a:avLst>
              <a:gd name="adj" fmla="val 2609"/>
            </a:avLst>
          </a:prstGeom>
          <a:solidFill>
            <a:srgbClr val="EDF4F1"/>
          </a:solidFill>
          <a:ln w="12700">
            <a:solidFill>
              <a:srgbClr val="EDF4F1"/>
            </a:solidFill>
            <a:prstDash val="solid"/>
          </a:ln>
        </p:spPr>
      </p:sp>
      <p:sp>
        <p:nvSpPr>
          <p:cNvPr id="11" name="Text 9"/>
          <p:cNvSpPr txBox="1"/>
          <p:nvPr/>
        </p:nvSpPr>
        <p:spPr>
          <a:xfrm>
            <a:off x="4983480" y="1993392"/>
            <a:ext cx="3429000" cy="237744"/>
          </a:xfrm>
          <a:prstGeom prst="rect">
            <a:avLst/>
          </a:prstGeom>
          <a:noFill/>
          <a:ln/>
        </p:spPr>
        <p:txBody>
          <a:bodyPr wrap="square" lIns="0" tIns="0" rIns="0" bIns="0" rtlCol="0" anchor="ctr"/>
          <a:lstStyle/>
          <a:p>
            <a:pPr indent="0" marL="0">
              <a:buNone/>
            </a:pPr>
            <a:r>
              <a:rPr lang="en-US" sz="950" b="1" spc="140" kern="0" dirty="0">
                <a:solidFill>
                  <a:srgbClr val="2F8F7E"/>
                </a:solidFill>
                <a:latin typeface="Calibri" pitchFamily="34" charset="0"/>
                <a:ea typeface="Calibri" pitchFamily="34" charset="-122"/>
                <a:cs typeface="Calibri" pitchFamily="34" charset="-120"/>
              </a:rPr>
              <a:t>EVIDENCE-CITED REPLY</a:t>
            </a:r>
            <a:endParaRPr lang="en-US" sz="950" dirty="0"/>
          </a:p>
        </p:txBody>
      </p:sp>
      <p:sp>
        <p:nvSpPr>
          <p:cNvPr id="12" name="Text 10"/>
          <p:cNvSpPr txBox="1"/>
          <p:nvPr/>
        </p:nvSpPr>
        <p:spPr>
          <a:xfrm>
            <a:off x="4983480" y="2286000"/>
            <a:ext cx="3429000" cy="914400"/>
          </a:xfrm>
          <a:prstGeom prst="rect">
            <a:avLst/>
          </a:prstGeom>
          <a:noFill/>
          <a:ln/>
        </p:spPr>
        <p:txBody>
          <a:bodyPr wrap="square" lIns="0" tIns="0" rIns="0" bIns="0" rtlCol="0" anchor="ctr"/>
          <a:lstStyle/>
          <a:p>
            <a:pPr indent="0" marL="0">
              <a:buNone/>
            </a:pPr>
            <a:r>
              <a:rPr lang="en-US" sz="1200" i="1" dirty="0">
                <a:solidFill>
                  <a:srgbClr val="1F2433"/>
                </a:solidFill>
                <a:latin typeface="Calibri" pitchFamily="34" charset="0"/>
                <a:ea typeface="Calibri" pitchFamily="34" charset="-122"/>
                <a:cs typeface="Calibri" pitchFamily="34" charset="-120"/>
              </a:rPr>
              <a:t>“You confirmed Universalism. On Monday you stayed silent after a colleague's remark; on Tuesday you chose the chain store over the group you meant to support. What was different about those two moments?”</a:t>
            </a:r>
            <a:endParaRPr lang="en-US" sz="1200" dirty="0"/>
          </a:p>
        </p:txBody>
      </p:sp>
      <p:sp>
        <p:nvSpPr>
          <p:cNvPr id="13" name="Text 11"/>
          <p:cNvSpPr txBox="1"/>
          <p:nvPr/>
        </p:nvSpPr>
        <p:spPr>
          <a:xfrm>
            <a:off x="4983480" y="3255264"/>
            <a:ext cx="3429000" cy="5486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4A6A60"/>
                </a:solidFill>
                <a:latin typeface="Calibri" pitchFamily="34" charset="0"/>
                <a:ea typeface="Calibri" pitchFamily="34" charset="-122"/>
                <a:cs typeface="Calibri" pitchFamily="34" charset="-120"/>
              </a:rPr>
              <a:t>Compared against a confirmed Core Value</a:t>
            </a:r>
            <a:endParaRPr lang="en-US" sz="1050" dirty="0"/>
          </a:p>
          <a:p>
            <a:pPr marL="342900" indent="-342900">
              <a:spcAft>
                <a:spcPts val="300"/>
              </a:spcAft>
              <a:buSzPct val="100000"/>
              <a:buChar char="•"/>
            </a:pPr>
            <a:r>
              <a:rPr lang="en-US" sz="1050" dirty="0">
                <a:solidFill>
                  <a:srgbClr val="4A6A60"/>
                </a:solidFill>
                <a:latin typeface="Calibri" pitchFamily="34" charset="0"/>
                <a:ea typeface="Calibri" pitchFamily="34" charset="-122"/>
                <a:cs typeface="Calibri" pitchFamily="34" charset="-120"/>
              </a:rPr>
              <a:t>Two cited entries behind the claim</a:t>
            </a:r>
            <a:endParaRPr lang="en-US" sz="1050" dirty="0"/>
          </a:p>
          <a:p>
            <a:pPr marL="342900" indent="-342900">
              <a:spcAft>
                <a:spcPts val="300"/>
              </a:spcAft>
              <a:buSzPct val="100000"/>
              <a:buChar char="•"/>
            </a:pPr>
            <a:r>
              <a:rPr lang="en-US" sz="1050" dirty="0">
                <a:solidFill>
                  <a:srgbClr val="4A6A60"/>
                </a:solidFill>
                <a:latin typeface="Calibri" pitchFamily="34" charset="0"/>
                <a:ea typeface="Calibri" pitchFamily="34" charset="-122"/>
                <a:cs typeface="Calibri" pitchFamily="34" charset="-120"/>
              </a:rPr>
              <a:t>A question, not a verdict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1 · INTRODUCTION</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What the market already does</a:t>
            </a:r>
            <a:endParaRPr lang="en-US" sz="2600" dirty="0"/>
          </a:p>
        </p:txBody>
      </p:sp>
      <p:sp>
        <p:nvSpPr>
          <p:cNvPr id="5" name="Text 3"/>
          <p:cNvSpPr txBox="1"/>
          <p:nvPr/>
        </p:nvSpPr>
        <p:spPr>
          <a:xfrm>
            <a:off x="502920" y="1243584"/>
            <a:ext cx="8138160" cy="365760"/>
          </a:xfrm>
          <a:prstGeom prst="rect">
            <a:avLst/>
          </a:prstGeom>
          <a:noFill/>
          <a:ln/>
        </p:spPr>
        <p:txBody>
          <a:bodyPr wrap="square" lIns="0" tIns="0" rIns="0" bIns="0" rtlCol="0" anchor="ctr"/>
          <a:lstStyle/>
          <a:p>
            <a:pPr indent="0" marL="0">
              <a:buNone/>
            </a:pPr>
            <a:r>
              <a:rPr lang="en-US" sz="1200" dirty="0">
                <a:solidFill>
                  <a:srgbClr val="1F2433"/>
                </a:solidFill>
                <a:latin typeface="Calibri" pitchFamily="34" charset="0"/>
                <a:ea typeface="Calibri" pitchFamily="34" charset="-122"/>
                <a:cs typeface="Calibri" pitchFamily="34" charset="-120"/>
              </a:rPr>
              <a:t>Reflection · Mindsera · Insight Journal · Day One · Pixel Journal · Rosebud — summarise mood and trends, but treat each entry as an isolated item.</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700784"/>
          <a:ext cx="8138160" cy="914400"/>
        </p:xfrm>
        <a:graphic>
          <a:graphicData uri="http://schemas.openxmlformats.org/drawingml/2006/table">
            <a:tbl>
              <a:tblPr/>
              <a:tblGrid>
                <a:gridCol w="1828800"/>
                <a:gridCol w="2880360"/>
                <a:gridCol w="342900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Same three entries</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Typical AI Summarizer</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Twinkl</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r>
              <a:tr h="457200">
                <a:tc>
                  <a:txBody>
                    <a:bodyPr/>
                    <a:lstStyle/>
                    <a:p>
                      <a:pPr indent="0" marL="0">
                        <a:buNone/>
                      </a:pPr>
                      <a:r>
                        <a:rPr lang="en-US" sz="1100" b="1" dirty="0">
                          <a:solidFill>
                            <a:srgbClr val="17203F"/>
                          </a:solidFill>
                          <a:latin typeface="Calibri" pitchFamily="34" charset="0"/>
                          <a:ea typeface="Calibri" pitchFamily="34" charset="-122"/>
                          <a:cs typeface="Calibri" pitchFamily="34" charset="-120"/>
                        </a:rPr>
                        <a:t>Reference point</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Blank slate — starts from the entries themselves</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A Profile of Core Values the user confirmed first</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7203F"/>
                          </a:solidFill>
                          <a:latin typeface="Calibri" pitchFamily="34" charset="0"/>
                          <a:ea typeface="Calibri" pitchFamily="34" charset="-122"/>
                          <a:cs typeface="Calibri" pitchFamily="34" charset="-120"/>
                        </a:rPr>
                        <a:t>What it returns</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i="1" dirty="0">
                          <a:solidFill>
                            <a:srgbClr val="1F2433"/>
                          </a:solidFill>
                          <a:latin typeface="Calibri" pitchFamily="34" charset="0"/>
                          <a:ea typeface="Calibri" pitchFamily="34" charset="-122"/>
                          <a:cs typeface="Calibri" pitchFamily="34" charset="-120"/>
                        </a:rPr>
                        <a:t>“Busy week; mood trending down”</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i="1" dirty="0">
                          <a:solidFill>
                            <a:srgbClr val="1F2433"/>
                          </a:solidFill>
                          <a:latin typeface="Calibri" pitchFamily="34" charset="0"/>
                          <a:ea typeface="Calibri" pitchFamily="34" charset="-122"/>
                          <a:cs typeface="Calibri" pitchFamily="34" charset="-120"/>
                        </a:rPr>
                        <a:t>“Two Conflicts with Universalism, on these entries”</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7203F"/>
                          </a:solidFill>
                          <a:latin typeface="Calibri" pitchFamily="34" charset="0"/>
                          <a:ea typeface="Calibri" pitchFamily="34" charset="-122"/>
                          <a:cs typeface="Calibri" pitchFamily="34" charset="-120"/>
                        </a:rPr>
                        <a:t>What it optimises for</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Engagement loops</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A contestable conclusion, or Insufficient Evidence</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3822192"/>
            <a:ext cx="8138160" cy="658368"/>
          </a:xfrm>
          <a:prstGeom prst="roundRect">
            <a:avLst>
              <a:gd name="adj" fmla="val 8333"/>
            </a:avLst>
          </a:prstGeom>
          <a:solidFill>
            <a:srgbClr val="FBF3E1"/>
          </a:solidFill>
          <a:ln w="12700">
            <a:solidFill>
              <a:srgbClr val="FBF3E1"/>
            </a:solidFill>
            <a:prstDash val="solid"/>
          </a:ln>
        </p:spPr>
      </p:sp>
      <p:sp>
        <p:nvSpPr>
          <p:cNvPr id="8" name="Text 5"/>
          <p:cNvSpPr txBox="1"/>
          <p:nvPr/>
        </p:nvSpPr>
        <p:spPr>
          <a:xfrm>
            <a:off x="758952" y="3822192"/>
            <a:ext cx="7626096" cy="658368"/>
          </a:xfrm>
          <a:prstGeom prst="rect">
            <a:avLst/>
          </a:prstGeom>
          <a:noFill/>
          <a:ln/>
        </p:spPr>
        <p:txBody>
          <a:bodyPr wrap="square" lIns="0" tIns="0" rIns="0" bIns="0" rtlCol="0" anchor="ctr"/>
          <a:lstStyle/>
          <a:p>
            <a:pPr indent="0" marL="0">
              <a:buNone/>
            </a:pPr>
            <a:r>
              <a:rPr lang="en-US" sz="1400" b="1" dirty="0">
                <a:solidFill>
                  <a:srgbClr val="7A5A10"/>
                </a:solidFill>
                <a:latin typeface="Cambria" pitchFamily="34" charset="0"/>
                <a:ea typeface="Cambria" pitchFamily="34" charset="-122"/>
                <a:cs typeface="Cambria" pitchFamily="34" charset="-120"/>
              </a:rPr>
              <a:t>The gap is not journaling, and not AI reflection. It is the absence of a user-confirmed reference and cited evidence.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1 · INTRODUCTION</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What Twinkl does differently</a:t>
            </a:r>
            <a:endParaRPr lang="en-US" sz="2600" dirty="0"/>
          </a:p>
        </p:txBody>
      </p:sp>
      <p:sp>
        <p:nvSpPr>
          <p:cNvPr id="5" name="Shape 3"/>
          <p:cNvSpPr/>
          <p:nvPr/>
        </p:nvSpPr>
        <p:spPr>
          <a:xfrm>
            <a:off x="502920" y="1243584"/>
            <a:ext cx="1773936" cy="713232"/>
          </a:xfrm>
          <a:prstGeom prst="roundRect">
            <a:avLst>
              <a:gd name="adj" fmla="val 7692"/>
            </a:avLst>
          </a:prstGeom>
          <a:solidFill>
            <a:srgbClr val="E7ECF7"/>
          </a:solidFill>
          <a:ln w="12700">
            <a:solidFill>
              <a:srgbClr val="E7ECF7"/>
            </a:solidFill>
            <a:prstDash val="solid"/>
          </a:ln>
        </p:spPr>
      </p:sp>
      <p:sp>
        <p:nvSpPr>
          <p:cNvPr id="6" name="Text 4"/>
          <p:cNvSpPr txBox="1"/>
          <p:nvPr/>
        </p:nvSpPr>
        <p:spPr>
          <a:xfrm>
            <a:off x="594360" y="1243584"/>
            <a:ext cx="1591056" cy="713232"/>
          </a:xfrm>
          <a:prstGeom prst="rect">
            <a:avLst/>
          </a:prstGeom>
          <a:noFill/>
          <a:ln/>
        </p:spPr>
        <p:txBody>
          <a:bodyPr wrap="square" lIns="0" tIns="0" rIns="0" bIns="0" rtlCol="0" anchor="ctr"/>
          <a:lstStyle/>
          <a:p>
            <a:pPr algn="ctr" indent="0" marL="0">
              <a:buNone/>
            </a:pPr>
            <a:r>
              <a:rPr lang="en-US" sz="1100" b="1" dirty="0">
                <a:solidFill>
                  <a:srgbClr val="2C3A6B"/>
                </a:solidFill>
                <a:latin typeface="Calibri" pitchFamily="34" charset="0"/>
                <a:ea typeface="Calibri" pitchFamily="34" charset="-122"/>
                <a:cs typeface="Calibri" pitchFamily="34" charset="-120"/>
              </a:rPr>
              <a:t>Confirmed Profile</a:t>
            </a:r>
            <a:endParaRPr lang="en-US" sz="1100" dirty="0"/>
          </a:p>
          <a:p>
            <a:pPr algn="ctr" indent="0" marL="0">
              <a:buNone/>
            </a:pPr>
            <a:r>
              <a:rPr lang="en-US" sz="1100" b="1" dirty="0">
                <a:solidFill>
                  <a:srgbClr val="2C3A6B"/>
                </a:solidFill>
                <a:latin typeface="Calibri" pitchFamily="34" charset="0"/>
                <a:ea typeface="Calibri" pitchFamily="34" charset="-122"/>
                <a:cs typeface="Calibri" pitchFamily="34" charset="-120"/>
              </a:rPr>
              <a:t>of Core Values</a:t>
            </a:r>
            <a:endParaRPr lang="en-US" sz="1100" dirty="0"/>
          </a:p>
        </p:txBody>
      </p:sp>
      <p:sp>
        <p:nvSpPr>
          <p:cNvPr id="7" name="Text 5"/>
          <p:cNvSpPr txBox="1"/>
          <p:nvPr/>
        </p:nvSpPr>
        <p:spPr>
          <a:xfrm>
            <a:off x="2276856" y="1243584"/>
            <a:ext cx="310896" cy="713232"/>
          </a:xfrm>
          <a:prstGeom prst="rect">
            <a:avLst/>
          </a:prstGeom>
          <a:noFill/>
          <a:ln/>
        </p:spPr>
        <p:txBody>
          <a:bodyPr wrap="square" lIns="0" tIns="0" rIns="0" bIns="0" rtlCol="0" anchor="ctr"/>
          <a:lstStyle/>
          <a:p>
            <a:pPr algn="ctr" indent="0" marL="0">
              <a:buNone/>
            </a:pPr>
            <a:r>
              <a:rPr lang="en-US" sz="2000" b="1" dirty="0">
                <a:solidFill>
                  <a:srgbClr val="E0A32E"/>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587752" y="1243584"/>
            <a:ext cx="1773936" cy="713232"/>
          </a:xfrm>
          <a:prstGeom prst="roundRect">
            <a:avLst>
              <a:gd name="adj" fmla="val 7692"/>
            </a:avLst>
          </a:prstGeom>
          <a:solidFill>
            <a:srgbClr val="F3F4F7"/>
          </a:solidFill>
          <a:ln w="12700">
            <a:solidFill>
              <a:srgbClr val="F3F4F7"/>
            </a:solidFill>
            <a:prstDash val="solid"/>
          </a:ln>
        </p:spPr>
      </p:sp>
      <p:sp>
        <p:nvSpPr>
          <p:cNvPr id="9" name="Text 7"/>
          <p:cNvSpPr txBox="1"/>
          <p:nvPr/>
        </p:nvSpPr>
        <p:spPr>
          <a:xfrm>
            <a:off x="2679192" y="1243584"/>
            <a:ext cx="1591056" cy="713232"/>
          </a:xfrm>
          <a:prstGeom prst="rect">
            <a:avLst/>
          </a:prstGeom>
          <a:noFill/>
          <a:ln/>
        </p:spPr>
        <p:txBody>
          <a:bodyPr wrap="square" lIns="0" tIns="0" rIns="0" bIns="0" rtlCol="0" anchor="ctr"/>
          <a:lstStyle/>
          <a:p>
            <a:pPr algn="ctr" indent="0" marL="0">
              <a:buNone/>
            </a:pPr>
            <a:r>
              <a:rPr lang="en-US" sz="1100" b="1" dirty="0">
                <a:solidFill>
                  <a:srgbClr val="1F2433"/>
                </a:solidFill>
                <a:latin typeface="Calibri" pitchFamily="34" charset="0"/>
                <a:ea typeface="Calibri" pitchFamily="34" charset="-122"/>
                <a:cs typeface="Calibri" pitchFamily="34" charset="-120"/>
              </a:rPr>
              <a:t>Chronological</a:t>
            </a:r>
            <a:endParaRPr lang="en-US" sz="1100" dirty="0"/>
          </a:p>
          <a:p>
            <a:pPr algn="ctr" indent="0" marL="0">
              <a:buNone/>
            </a:pPr>
            <a:r>
              <a:rPr lang="en-US" sz="1100" b="1" dirty="0">
                <a:solidFill>
                  <a:srgbClr val="1F2433"/>
                </a:solidFill>
                <a:latin typeface="Calibri" pitchFamily="34" charset="0"/>
                <a:ea typeface="Calibri" pitchFamily="34" charset="-122"/>
                <a:cs typeface="Calibri" pitchFamily="34" charset="-120"/>
              </a:rPr>
              <a:t>Journal Entries</a:t>
            </a:r>
            <a:endParaRPr lang="en-US" sz="1100" dirty="0"/>
          </a:p>
        </p:txBody>
      </p:sp>
      <p:sp>
        <p:nvSpPr>
          <p:cNvPr id="10" name="Text 8"/>
          <p:cNvSpPr txBox="1"/>
          <p:nvPr/>
        </p:nvSpPr>
        <p:spPr>
          <a:xfrm>
            <a:off x="4361688" y="1243584"/>
            <a:ext cx="310896" cy="713232"/>
          </a:xfrm>
          <a:prstGeom prst="rect">
            <a:avLst/>
          </a:prstGeom>
          <a:noFill/>
          <a:ln/>
        </p:spPr>
        <p:txBody>
          <a:bodyPr wrap="square" lIns="0" tIns="0" rIns="0" bIns="0" rtlCol="0" anchor="ctr"/>
          <a:lstStyle/>
          <a:p>
            <a:pPr algn="ctr" indent="0" marL="0">
              <a:buNone/>
            </a:pPr>
            <a:r>
              <a:rPr lang="en-US" sz="2000" b="1" dirty="0">
                <a:solidFill>
                  <a:srgbClr val="E0A32E"/>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672584" y="1243584"/>
            <a:ext cx="1773936" cy="713232"/>
          </a:xfrm>
          <a:prstGeom prst="roundRect">
            <a:avLst>
              <a:gd name="adj" fmla="val 7692"/>
            </a:avLst>
          </a:prstGeom>
          <a:solidFill>
            <a:srgbClr val="F3F4F7"/>
          </a:solidFill>
          <a:ln w="12700">
            <a:solidFill>
              <a:srgbClr val="F3F4F7"/>
            </a:solidFill>
            <a:prstDash val="solid"/>
          </a:ln>
        </p:spPr>
      </p:sp>
      <p:sp>
        <p:nvSpPr>
          <p:cNvPr id="12" name="Text 10"/>
          <p:cNvSpPr txBox="1"/>
          <p:nvPr/>
        </p:nvSpPr>
        <p:spPr>
          <a:xfrm>
            <a:off x="4764024" y="1243584"/>
            <a:ext cx="1591056" cy="713232"/>
          </a:xfrm>
          <a:prstGeom prst="rect">
            <a:avLst/>
          </a:prstGeom>
          <a:noFill/>
          <a:ln/>
        </p:spPr>
        <p:txBody>
          <a:bodyPr wrap="square" lIns="0" tIns="0" rIns="0" bIns="0" rtlCol="0" anchor="ctr"/>
          <a:lstStyle/>
          <a:p>
            <a:pPr algn="ctr" indent="0" marL="0">
              <a:buNone/>
            </a:pPr>
            <a:r>
              <a:rPr lang="en-US" sz="1100" b="1" dirty="0">
                <a:solidFill>
                  <a:srgbClr val="1F2433"/>
                </a:solidFill>
                <a:latin typeface="Calibri" pitchFamily="34" charset="0"/>
                <a:ea typeface="Calibri" pitchFamily="34" charset="-122"/>
                <a:cs typeface="Calibri" pitchFamily="34" charset="-120"/>
              </a:rPr>
              <a:t>Weekly Drift</a:t>
            </a:r>
            <a:endParaRPr lang="en-US" sz="1100" dirty="0"/>
          </a:p>
          <a:p>
            <a:pPr algn="ctr" indent="0" marL="0">
              <a:buNone/>
            </a:pPr>
            <a:r>
              <a:rPr lang="en-US" sz="1100" b="1" dirty="0">
                <a:solidFill>
                  <a:srgbClr val="1F2433"/>
                </a:solidFill>
                <a:latin typeface="Calibri" pitchFamily="34" charset="0"/>
                <a:ea typeface="Calibri" pitchFamily="34" charset="-122"/>
                <a:cs typeface="Calibri" pitchFamily="34" charset="-120"/>
              </a:rPr>
              <a:t>Detection</a:t>
            </a:r>
            <a:endParaRPr lang="en-US" sz="1100" dirty="0"/>
          </a:p>
        </p:txBody>
      </p:sp>
      <p:sp>
        <p:nvSpPr>
          <p:cNvPr id="13" name="Text 11"/>
          <p:cNvSpPr txBox="1"/>
          <p:nvPr/>
        </p:nvSpPr>
        <p:spPr>
          <a:xfrm>
            <a:off x="6446520" y="1243584"/>
            <a:ext cx="310896" cy="713232"/>
          </a:xfrm>
          <a:prstGeom prst="rect">
            <a:avLst/>
          </a:prstGeom>
          <a:noFill/>
          <a:ln/>
        </p:spPr>
        <p:txBody>
          <a:bodyPr wrap="square" lIns="0" tIns="0" rIns="0" bIns="0" rtlCol="0" anchor="ctr"/>
          <a:lstStyle/>
          <a:p>
            <a:pPr algn="ctr" indent="0" marL="0">
              <a:buNone/>
            </a:pPr>
            <a:r>
              <a:rPr lang="en-US" sz="2000" b="1" dirty="0">
                <a:solidFill>
                  <a:srgbClr val="E0A32E"/>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757416" y="1243584"/>
            <a:ext cx="1773936" cy="713232"/>
          </a:xfrm>
          <a:prstGeom prst="roundRect">
            <a:avLst>
              <a:gd name="adj" fmla="val 7692"/>
            </a:avLst>
          </a:prstGeom>
          <a:solidFill>
            <a:srgbClr val="F3F4F7"/>
          </a:solidFill>
          <a:ln w="12700">
            <a:solidFill>
              <a:srgbClr val="F3F4F7"/>
            </a:solidFill>
            <a:prstDash val="solid"/>
          </a:ln>
        </p:spPr>
      </p:sp>
      <p:sp>
        <p:nvSpPr>
          <p:cNvPr id="15" name="Text 13"/>
          <p:cNvSpPr txBox="1"/>
          <p:nvPr/>
        </p:nvSpPr>
        <p:spPr>
          <a:xfrm>
            <a:off x="6848856" y="1243584"/>
            <a:ext cx="1591056" cy="713232"/>
          </a:xfrm>
          <a:prstGeom prst="rect">
            <a:avLst/>
          </a:prstGeom>
          <a:noFill/>
          <a:ln/>
        </p:spPr>
        <p:txBody>
          <a:bodyPr wrap="square" lIns="0" tIns="0" rIns="0" bIns="0" rtlCol="0" anchor="ctr"/>
          <a:lstStyle/>
          <a:p>
            <a:pPr algn="ctr" indent="0" marL="0">
              <a:buNone/>
            </a:pPr>
            <a:r>
              <a:rPr lang="en-US" sz="1100" b="1" dirty="0">
                <a:solidFill>
                  <a:srgbClr val="1F2433"/>
                </a:solidFill>
                <a:latin typeface="Calibri" pitchFamily="34" charset="0"/>
                <a:ea typeface="Calibri" pitchFamily="34" charset="-122"/>
                <a:cs typeface="Calibri" pitchFamily="34" charset="-120"/>
              </a:rPr>
              <a:t>Coach Digest</a:t>
            </a:r>
            <a:endParaRPr lang="en-US" sz="1100" dirty="0"/>
          </a:p>
        </p:txBody>
      </p:sp>
      <p:sp>
        <p:nvSpPr>
          <p:cNvPr id="16" name="Text 14"/>
          <p:cNvSpPr txBox="1"/>
          <p:nvPr/>
        </p:nvSpPr>
        <p:spPr>
          <a:xfrm>
            <a:off x="502920" y="2011680"/>
            <a:ext cx="8138160" cy="237744"/>
          </a:xfrm>
          <a:prstGeom prst="rect">
            <a:avLst/>
          </a:prstGeom>
          <a:noFill/>
          <a:ln/>
        </p:spPr>
        <p:txBody>
          <a:bodyPr wrap="square" lIns="0" tIns="0" rIns="0" bIns="0" rtlCol="0" anchor="ctr"/>
          <a:lstStyle/>
          <a:p>
            <a:pPr indent="0" marL="0">
              <a:buNone/>
            </a:pPr>
            <a:r>
              <a:rPr lang="en-US" sz="1100" i="1" dirty="0">
                <a:solidFill>
                  <a:srgbClr val="E0A32E"/>
                </a:solidFill>
                <a:latin typeface="Calibri" pitchFamily="34" charset="0"/>
                <a:ea typeface="Calibri" pitchFamily="34" charset="-122"/>
                <a:cs typeface="Calibri" pitchFamily="34" charset="-120"/>
              </a:rPr>
              <a:t>Insufficient Evidence is a valid answer at every stage.</a:t>
            </a:r>
            <a:endParaRPr lang="en-US" sz="1100" dirty="0"/>
          </a:p>
        </p:txBody>
      </p:sp>
      <p:sp>
        <p:nvSpPr>
          <p:cNvPr id="17" name="Text 15"/>
          <p:cNvSpPr txBox="1"/>
          <p:nvPr/>
        </p:nvSpPr>
        <p:spPr>
          <a:xfrm>
            <a:off x="502920" y="2340864"/>
            <a:ext cx="8138160" cy="274320"/>
          </a:xfrm>
          <a:prstGeom prst="rect">
            <a:avLst/>
          </a:prstGeom>
          <a:noFill/>
          <a:ln/>
        </p:spPr>
        <p:txBody>
          <a:bodyPr wrap="square" lIns="0" tIns="0" rIns="0" bIns="0" rtlCol="0" anchor="ctr"/>
          <a:lstStyle/>
          <a:p>
            <a:pPr indent="0" marL="0">
              <a:buNone/>
            </a:pPr>
            <a:r>
              <a:rPr lang="en-US" sz="1500" b="1" dirty="0">
                <a:solidFill>
                  <a:srgbClr val="17203F"/>
                </a:solidFill>
                <a:latin typeface="Cambria" pitchFamily="34" charset="0"/>
                <a:ea typeface="Cambria" pitchFamily="34" charset="-122"/>
                <a:cs typeface="Cambria" pitchFamily="34" charset="-120"/>
              </a:rPr>
              <a:t>The Profile is the reference everything later compares against</a:t>
            </a:r>
            <a:endParaRPr lang="en-US" sz="1500" dirty="0"/>
          </a:p>
        </p:txBody>
      </p:sp>
      <p:sp>
        <p:nvSpPr>
          <p:cNvPr id="18" name="Text 16"/>
          <p:cNvSpPr txBox="1"/>
          <p:nvPr/>
        </p:nvSpPr>
        <p:spPr>
          <a:xfrm>
            <a:off x="502920" y="2651760"/>
            <a:ext cx="4846320" cy="128016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1F2433"/>
                </a:solidFill>
                <a:latin typeface="Calibri" pitchFamily="34" charset="0"/>
                <a:ea typeface="Calibri" pitchFamily="34" charset="-122"/>
                <a:cs typeface="Calibri" pitchFamily="34" charset="-120"/>
              </a:rPr>
              <a:t>Eleven balanced Best-Worst Scaling groups — every object seen six times, every pair three times</a:t>
            </a:r>
            <a:endParaRPr lang="en-US" sz="1150" dirty="0"/>
          </a:p>
          <a:p>
            <a:pPr marL="342900" indent="-342900">
              <a:spcAft>
                <a:spcPts val="500"/>
              </a:spcAft>
              <a:buSzPct val="100000"/>
              <a:buChar char="•"/>
            </a:pPr>
            <a:r>
              <a:rPr lang="en-US" sz="1150" dirty="0">
                <a:solidFill>
                  <a:srgbClr val="1F2433"/>
                </a:solidFill>
                <a:latin typeface="Calibri" pitchFamily="34" charset="0"/>
                <a:ea typeface="Calibri" pitchFamily="34" charset="-122"/>
                <a:cs typeface="Calibri" pitchFamily="34" charset="-120"/>
              </a:rPr>
              <a:t>No Schwartz labels or scores shown to the user during elicitation</a:t>
            </a:r>
            <a:endParaRPr lang="en-US" sz="1150" dirty="0"/>
          </a:p>
          <a:p>
            <a:pPr marL="342900" indent="-342900">
              <a:spcAft>
                <a:spcPts val="500"/>
              </a:spcAft>
              <a:buSzPct val="100000"/>
              <a:buChar char="•"/>
            </a:pPr>
            <a:r>
              <a:rPr lang="en-US" sz="1150" dirty="0">
                <a:solidFill>
                  <a:srgbClr val="1F2433"/>
                </a:solidFill>
                <a:latin typeface="Calibri" pitchFamily="34" charset="0"/>
                <a:ea typeface="Calibri" pitchFamily="34" charset="-122"/>
                <a:cs typeface="Calibri" pitchFamily="34" charset="-120"/>
              </a:rPr>
              <a:t>Deterministic scoring through to at most two confirmed Core Values</a:t>
            </a:r>
            <a:endParaRPr lang="en-US" sz="1150" dirty="0"/>
          </a:p>
          <a:p>
            <a:pPr marL="342900" indent="-342900">
              <a:spcAft>
                <a:spcPts val="500"/>
              </a:spcAft>
              <a:buSzPct val="100000"/>
              <a:buChar char="•"/>
            </a:pPr>
            <a:r>
              <a:rPr lang="en-US" sz="1150" dirty="0">
                <a:solidFill>
                  <a:srgbClr val="1F2433"/>
                </a:solidFill>
                <a:latin typeface="Calibri" pitchFamily="34" charset="0"/>
                <a:ea typeface="Calibri" pitchFamily="34" charset="-122"/>
                <a:cs typeface="Calibri" pitchFamily="34" charset="-120"/>
              </a:rPr>
              <a:t>Inspect exposes the whole calculation from the 22 recorded selections onward</a:t>
            </a:r>
            <a:endParaRPr lang="en-US" sz="1150" dirty="0"/>
          </a:p>
        </p:txBody>
      </p:sp>
      <p:sp>
        <p:nvSpPr>
          <p:cNvPr id="19" name="Shape 17"/>
          <p:cNvSpPr/>
          <p:nvPr/>
        </p:nvSpPr>
        <p:spPr>
          <a:xfrm>
            <a:off x="5577840" y="2596896"/>
            <a:ext cx="3063240" cy="1298448"/>
          </a:xfrm>
          <a:prstGeom prst="roundRect">
            <a:avLst>
              <a:gd name="adj" fmla="val 4225"/>
            </a:avLst>
          </a:prstGeom>
          <a:solidFill>
            <a:srgbClr val="F3F4F7"/>
          </a:solidFill>
          <a:ln w="12700">
            <a:solidFill>
              <a:srgbClr val="C9CEDB"/>
            </a:solidFill>
            <a:prstDash val="dash"/>
          </a:ln>
        </p:spPr>
      </p:sp>
      <p:sp>
        <p:nvSpPr>
          <p:cNvPr id="20" name="Text 18"/>
          <p:cNvSpPr txBox="1"/>
          <p:nvPr/>
        </p:nvSpPr>
        <p:spPr>
          <a:xfrm>
            <a:off x="5715000" y="2788920"/>
            <a:ext cx="2788920" cy="201168"/>
          </a:xfrm>
          <a:prstGeom prst="rect">
            <a:avLst/>
          </a:prstGeom>
          <a:noFill/>
          <a:ln/>
        </p:spPr>
        <p:txBody>
          <a:bodyPr wrap="square" lIns="0" tIns="0" rIns="0" bIns="0" rtlCol="0" anchor="ctr"/>
          <a:lstStyle/>
          <a:p>
            <a:pPr algn="ctr" indent="0" marL="0">
              <a:buNone/>
            </a:pPr>
            <a:r>
              <a:rPr lang="en-US" sz="900" b="1" spc="140" kern="0" dirty="0">
                <a:solidFill>
                  <a:srgbClr val="6B7280"/>
                </a:solidFill>
                <a:latin typeface="Calibri" pitchFamily="34" charset="0"/>
                <a:ea typeface="Calibri" pitchFamily="34" charset="-122"/>
                <a:cs typeface="Calibri" pitchFamily="34" charset="-120"/>
              </a:rPr>
              <a:t>FIGURE</a:t>
            </a:r>
            <a:endParaRPr lang="en-US" sz="900" dirty="0"/>
          </a:p>
        </p:txBody>
      </p:sp>
      <p:sp>
        <p:nvSpPr>
          <p:cNvPr id="21" name="Text 19"/>
          <p:cNvSpPr txBox="1"/>
          <p:nvPr/>
        </p:nvSpPr>
        <p:spPr>
          <a:xfrm>
            <a:off x="5715000" y="3008376"/>
            <a:ext cx="2788920" cy="274320"/>
          </a:xfrm>
          <a:prstGeom prst="rect">
            <a:avLst/>
          </a:prstGeom>
          <a:noFill/>
          <a:ln/>
        </p:spPr>
        <p:txBody>
          <a:bodyPr wrap="square" lIns="0" tIns="0" rIns="0" bIns="0" rtlCol="0" anchor="ctr"/>
          <a:lstStyle/>
          <a:p>
            <a:pPr algn="ctr" indent="0" marL="0">
              <a:buNone/>
            </a:pPr>
            <a:r>
              <a:rPr lang="en-US" sz="1050" b="1" dirty="0">
                <a:solidFill>
                  <a:srgbClr val="2C3A6B"/>
                </a:solidFill>
                <a:latin typeface="Courier New" pitchFamily="34" charset="0"/>
                <a:ea typeface="Courier New" pitchFamily="34" charset="-122"/>
                <a:cs typeface="Courier New" pitchFamily="34" charset="-120"/>
              </a:rPr>
              <a:t>images/onboarding-choice.png</a:t>
            </a:r>
            <a:endParaRPr lang="en-US" sz="1050" dirty="0"/>
          </a:p>
        </p:txBody>
      </p:sp>
      <p:sp>
        <p:nvSpPr>
          <p:cNvPr id="22" name="Text 20"/>
          <p:cNvSpPr txBox="1"/>
          <p:nvPr/>
        </p:nvSpPr>
        <p:spPr>
          <a:xfrm>
            <a:off x="5779008" y="3337560"/>
            <a:ext cx="2660904" cy="548640"/>
          </a:xfrm>
          <a:prstGeom prst="rect">
            <a:avLst/>
          </a:prstGeom>
          <a:noFill/>
          <a:ln/>
        </p:spPr>
        <p:txBody>
          <a:bodyPr wrap="square" lIns="0" tIns="0" rIns="0" bIns="0" rtlCol="0" anchor="ctr"/>
          <a:lstStyle/>
          <a:p>
            <a:pPr algn="ctr" indent="0" marL="0">
              <a:buNone/>
            </a:pPr>
            <a:r>
              <a:rPr lang="en-US" sz="950" i="1" dirty="0">
                <a:solidFill>
                  <a:srgbClr val="6B7280"/>
                </a:solidFill>
                <a:latin typeface="Calibri" pitchFamily="34" charset="0"/>
                <a:ea typeface="Calibri" pitchFamily="34" charset="-122"/>
                <a:cs typeface="Calibri" pitchFamily="34" charset="-120"/>
              </a:rPr>
              <a:t>The Best-Worst Scaling choice the user actually sees</a:t>
            </a:r>
            <a:endParaRPr lang="en-US" sz="950" dirty="0"/>
          </a:p>
        </p:txBody>
      </p:sp>
      <p:sp>
        <p:nvSpPr>
          <p:cNvPr id="23" name="Shape 21"/>
          <p:cNvSpPr/>
          <p:nvPr/>
        </p:nvSpPr>
        <p:spPr>
          <a:xfrm>
            <a:off x="502920" y="4224528"/>
            <a:ext cx="8138160" cy="438912"/>
          </a:xfrm>
          <a:prstGeom prst="roundRect">
            <a:avLst>
              <a:gd name="adj" fmla="val 12500"/>
            </a:avLst>
          </a:prstGeom>
          <a:solidFill>
            <a:srgbClr val="F7EFEF"/>
          </a:solidFill>
          <a:ln w="12700">
            <a:solidFill>
              <a:srgbClr val="F7EFEF"/>
            </a:solidFill>
            <a:prstDash val="solid"/>
          </a:ln>
        </p:spPr>
      </p:sp>
      <p:sp>
        <p:nvSpPr>
          <p:cNvPr id="24" name="Text 22"/>
          <p:cNvSpPr txBox="1"/>
          <p:nvPr/>
        </p:nvSpPr>
        <p:spPr>
          <a:xfrm>
            <a:off x="722376" y="4224528"/>
            <a:ext cx="7699248" cy="438912"/>
          </a:xfrm>
          <a:prstGeom prst="rect">
            <a:avLst/>
          </a:prstGeom>
          <a:noFill/>
          <a:ln/>
        </p:spPr>
        <p:txBody>
          <a:bodyPr wrap="square" lIns="0" tIns="0" rIns="0" bIns="0" rtlCol="0" anchor="ctr"/>
          <a:lstStyle/>
          <a:p>
            <a:pPr indent="0" marL="0">
              <a:buNone/>
            </a:pPr>
            <a:r>
              <a:rPr lang="en-US" sz="1100" b="1" dirty="0">
                <a:solidFill>
                  <a:srgbClr val="8A4A45"/>
                </a:solidFill>
                <a:latin typeface="Calibri" pitchFamily="34" charset="0"/>
                <a:ea typeface="Calibri" pitchFamily="34" charset="-122"/>
                <a:cs typeface="Calibri" pitchFamily="34" charset="-120"/>
              </a:rPr>
              <a:t>Research-grounded design — but the Twinkl instrument is not psychometrically validated. The user confirms the result; they do not receive a diagnosis.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2 · APPROACH AND EVIDENCE</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Every commitment inherits from prior work</a:t>
            </a:r>
            <a:endParaRPr lang="en-US" sz="2600" dirty="0"/>
          </a:p>
        </p:txBody>
      </p:sp>
      <p:sp>
        <p:nvSpPr>
          <p:cNvPr id="5" name="Text 3"/>
          <p:cNvSpPr txBox="1"/>
          <p:nvPr/>
        </p:nvSpPr>
        <p:spPr>
          <a:xfrm>
            <a:off x="502920" y="1243584"/>
            <a:ext cx="8138160" cy="384048"/>
          </a:xfrm>
          <a:prstGeom prst="rect">
            <a:avLst/>
          </a:prstGeom>
          <a:noFill/>
          <a:ln/>
        </p:spPr>
        <p:txBody>
          <a:bodyPr wrap="square" lIns="0" tIns="0" rIns="0" bIns="0" rtlCol="0" anchor="ctr"/>
          <a:lstStyle/>
          <a:p>
            <a:pPr indent="0" marL="0">
              <a:buNone/>
            </a:pPr>
            <a:r>
              <a:rPr lang="en-US" sz="1200" dirty="0">
                <a:solidFill>
                  <a:srgbClr val="1F2433"/>
                </a:solidFill>
                <a:latin typeface="Calibri" pitchFamily="34" charset="0"/>
                <a:ea typeface="Calibri" pitchFamily="34" charset="-122"/>
                <a:cs typeface="Calibri" pitchFamily="34" charset="-120"/>
              </a:rPr>
              <a:t>Twinkl claims no novelty for journaling, Profile construction, memory, or AI reflection alone. The contribution is their integration into a contestable accountability path.</a:t>
            </a:r>
            <a:endParaRPr lang="en-US" sz="1200" dirty="0"/>
          </a:p>
        </p:txBody>
      </p:sp>
      <p:sp>
        <p:nvSpPr>
          <p:cNvPr id="6" name="Shape 4"/>
          <p:cNvSpPr/>
          <p:nvPr/>
        </p:nvSpPr>
        <p:spPr>
          <a:xfrm>
            <a:off x="502920" y="1719072"/>
            <a:ext cx="3931920" cy="1170432"/>
          </a:xfrm>
          <a:prstGeom prst="roundRect">
            <a:avLst>
              <a:gd name="adj" fmla="val 4688"/>
            </a:avLst>
          </a:prstGeom>
          <a:solidFill>
            <a:srgbClr val="F3F4F7"/>
          </a:solidFill>
          <a:ln w="12700">
            <a:solidFill>
              <a:srgbClr val="F3F4F7"/>
            </a:solidFill>
            <a:prstDash val="solid"/>
          </a:ln>
        </p:spPr>
      </p:sp>
      <p:sp>
        <p:nvSpPr>
          <p:cNvPr id="7" name="Shape 5"/>
          <p:cNvSpPr/>
          <p:nvPr/>
        </p:nvSpPr>
        <p:spPr>
          <a:xfrm>
            <a:off x="731520" y="1965960"/>
            <a:ext cx="91440" cy="91440"/>
          </a:xfrm>
          <a:prstGeom prst="ellipse">
            <a:avLst/>
          </a:prstGeom>
          <a:solidFill>
            <a:srgbClr val="E0A32E"/>
          </a:solidFill>
          <a:ln/>
        </p:spPr>
      </p:sp>
      <p:sp>
        <p:nvSpPr>
          <p:cNvPr id="8" name="Text 6"/>
          <p:cNvSpPr txBox="1"/>
          <p:nvPr/>
        </p:nvSpPr>
        <p:spPr>
          <a:xfrm>
            <a:off x="896112" y="1874520"/>
            <a:ext cx="3291840" cy="274320"/>
          </a:xfrm>
          <a:prstGeom prst="rect">
            <a:avLst/>
          </a:prstGeom>
          <a:noFill/>
          <a:ln/>
        </p:spPr>
        <p:txBody>
          <a:bodyPr wrap="square" lIns="0" tIns="0" rIns="0" bIns="0" rtlCol="0" anchor="ctr"/>
          <a:lstStyle/>
          <a:p>
            <a:pPr indent="0" marL="0">
              <a:buNone/>
            </a:pPr>
            <a:r>
              <a:rPr lang="en-US" sz="1400" b="1" dirty="0">
                <a:solidFill>
                  <a:srgbClr val="17203F"/>
                </a:solidFill>
                <a:latin typeface="Cambria" pitchFamily="34" charset="0"/>
                <a:ea typeface="Cambria" pitchFamily="34" charset="-122"/>
                <a:cs typeface="Cambria" pitchFamily="34" charset="-120"/>
              </a:rPr>
              <a:t>Values reference</a:t>
            </a:r>
            <a:endParaRPr lang="en-US" sz="1400" dirty="0"/>
          </a:p>
        </p:txBody>
      </p:sp>
      <p:sp>
        <p:nvSpPr>
          <p:cNvPr id="9" name="Text 7"/>
          <p:cNvSpPr txBox="1"/>
          <p:nvPr/>
        </p:nvSpPr>
        <p:spPr>
          <a:xfrm>
            <a:off x="731520" y="2194560"/>
            <a:ext cx="3474720" cy="621792"/>
          </a:xfrm>
          <a:prstGeom prst="rect">
            <a:avLst/>
          </a:prstGeom>
          <a:noFill/>
          <a:ln/>
        </p:spPr>
        <p:txBody>
          <a:bodyPr wrap="square" lIns="0" tIns="0" rIns="0" bIns="0" rtlCol="0" anchor="ctr"/>
          <a:lstStyle/>
          <a:p>
            <a:pPr indent="0" marL="0">
              <a:buNone/>
            </a:pPr>
            <a:r>
              <a:rPr lang="en-US" sz="1100" dirty="0">
                <a:solidFill>
                  <a:srgbClr val="1F2433"/>
                </a:solidFill>
                <a:latin typeface="Calibri" pitchFamily="34" charset="0"/>
                <a:ea typeface="Calibri" pitchFamily="34" charset="-122"/>
                <a:cs typeface="Calibri" pitchFamily="34" charset="-120"/>
              </a:rPr>
              <a:t>Schwartz's ten-value model and its 19-value refinement. Best-Worst Scaling elicits relative importance in less respondent time than a traditional survey.</a:t>
            </a:r>
            <a:endParaRPr lang="en-US" sz="1100" dirty="0"/>
          </a:p>
        </p:txBody>
      </p:sp>
      <p:sp>
        <p:nvSpPr>
          <p:cNvPr id="10" name="Shape 8"/>
          <p:cNvSpPr/>
          <p:nvPr/>
        </p:nvSpPr>
        <p:spPr>
          <a:xfrm>
            <a:off x="4709160" y="1719072"/>
            <a:ext cx="3931920" cy="1170432"/>
          </a:xfrm>
          <a:prstGeom prst="roundRect">
            <a:avLst>
              <a:gd name="adj" fmla="val 4688"/>
            </a:avLst>
          </a:prstGeom>
          <a:solidFill>
            <a:srgbClr val="F3F4F7"/>
          </a:solidFill>
          <a:ln w="12700">
            <a:solidFill>
              <a:srgbClr val="F3F4F7"/>
            </a:solidFill>
            <a:prstDash val="solid"/>
          </a:ln>
        </p:spPr>
      </p:sp>
      <p:sp>
        <p:nvSpPr>
          <p:cNvPr id="11" name="Shape 9"/>
          <p:cNvSpPr/>
          <p:nvPr/>
        </p:nvSpPr>
        <p:spPr>
          <a:xfrm>
            <a:off x="4937760" y="1965960"/>
            <a:ext cx="91440" cy="91440"/>
          </a:xfrm>
          <a:prstGeom prst="ellipse">
            <a:avLst/>
          </a:prstGeom>
          <a:solidFill>
            <a:srgbClr val="E0A32E"/>
          </a:solidFill>
          <a:ln/>
        </p:spPr>
      </p:sp>
      <p:sp>
        <p:nvSpPr>
          <p:cNvPr id="12" name="Text 10"/>
          <p:cNvSpPr txBox="1"/>
          <p:nvPr/>
        </p:nvSpPr>
        <p:spPr>
          <a:xfrm>
            <a:off x="5102352" y="1874520"/>
            <a:ext cx="3291840" cy="274320"/>
          </a:xfrm>
          <a:prstGeom prst="rect">
            <a:avLst/>
          </a:prstGeom>
          <a:noFill/>
          <a:ln/>
        </p:spPr>
        <p:txBody>
          <a:bodyPr wrap="square" lIns="0" tIns="0" rIns="0" bIns="0" rtlCol="0" anchor="ctr"/>
          <a:lstStyle/>
          <a:p>
            <a:pPr indent="0" marL="0">
              <a:buNone/>
            </a:pPr>
            <a:r>
              <a:rPr lang="en-US" sz="1400" b="1" dirty="0">
                <a:solidFill>
                  <a:srgbClr val="17203F"/>
                </a:solidFill>
                <a:latin typeface="Cambria" pitchFamily="34" charset="0"/>
                <a:ea typeface="Cambria" pitchFamily="34" charset="-122"/>
                <a:cs typeface="Cambria" pitchFamily="34" charset="-120"/>
              </a:rPr>
              <a:t>Why not agreement</a:t>
            </a:r>
            <a:endParaRPr lang="en-US" sz="1400" dirty="0"/>
          </a:p>
        </p:txBody>
      </p:sp>
      <p:sp>
        <p:nvSpPr>
          <p:cNvPr id="13" name="Text 11"/>
          <p:cNvSpPr txBox="1"/>
          <p:nvPr/>
        </p:nvSpPr>
        <p:spPr>
          <a:xfrm>
            <a:off x="4937760" y="2194560"/>
            <a:ext cx="3474720" cy="621792"/>
          </a:xfrm>
          <a:prstGeom prst="rect">
            <a:avLst/>
          </a:prstGeom>
          <a:noFill/>
          <a:ln/>
        </p:spPr>
        <p:txBody>
          <a:bodyPr wrap="square" lIns="0" tIns="0" rIns="0" bIns="0" rtlCol="0" anchor="ctr"/>
          <a:lstStyle/>
          <a:p>
            <a:pPr indent="0" marL="0">
              <a:buNone/>
            </a:pPr>
            <a:r>
              <a:rPr lang="en-US" sz="1100" dirty="0">
                <a:solidFill>
                  <a:srgbClr val="1F2433"/>
                </a:solidFill>
                <a:latin typeface="Calibri" pitchFamily="34" charset="0"/>
                <a:ea typeface="Calibri" pitchFamily="34" charset="-122"/>
                <a:cs typeface="Calibri" pitchFamily="34" charset="-120"/>
              </a:rPr>
              <a:t>Sycophancy research shows models can mirror stated beliefs where a truthful response would disagree. This is the risk the evidence requirements target.</a:t>
            </a:r>
            <a:endParaRPr lang="en-US" sz="1100" dirty="0"/>
          </a:p>
        </p:txBody>
      </p:sp>
      <p:sp>
        <p:nvSpPr>
          <p:cNvPr id="14" name="Text 12"/>
          <p:cNvSpPr txBox="1"/>
          <p:nvPr/>
        </p:nvSpPr>
        <p:spPr>
          <a:xfrm>
            <a:off x="502920" y="3127248"/>
            <a:ext cx="8138160" cy="310896"/>
          </a:xfrm>
          <a:prstGeom prst="rect">
            <a:avLst/>
          </a:prstGeom>
          <a:noFill/>
          <a:ln/>
        </p:spPr>
        <p:txBody>
          <a:bodyPr wrap="square" lIns="0" tIns="0" rIns="0" bIns="0" rtlCol="0" anchor="ctr"/>
          <a:lstStyle/>
          <a:p>
            <a:pPr indent="0" marL="0">
              <a:buNone/>
            </a:pPr>
            <a:r>
              <a:rPr lang="en-US" sz="1100" b="1" dirty="0">
                <a:solidFill>
                  <a:srgbClr val="17203F"/>
                </a:solidFill>
                <a:latin typeface="Calibri" pitchFamily="34" charset="0"/>
                <a:ea typeface="Calibri" pitchFamily="34" charset="-122"/>
                <a:cs typeface="Calibri" pitchFamily="34" charset="-120"/>
              </a:rPr>
              <a:t>Why longitudinal:  </a:t>
            </a:r>
            <a:pPr indent="0" marL="0">
              <a:buNone/>
            </a:pPr>
            <a:r>
              <a:rPr lang="en-US" sz="1100" dirty="0">
                <a:solidFill>
                  <a:srgbClr val="1F2433"/>
                </a:solidFill>
                <a:latin typeface="Calibri" pitchFamily="34" charset="0"/>
                <a:ea typeface="Calibri" pitchFamily="34" charset="-122"/>
                <a:cs typeface="Calibri" pitchFamily="34" charset="-120"/>
              </a:rPr>
              <a:t>personal informatics stages, and lapse-and-resume self-tracking; reflective informatics names breakdown and inquiry as the dimensions Twinkl implements.</a:t>
            </a:r>
            <a:endParaRPr lang="en-US" sz="1100" dirty="0"/>
          </a:p>
        </p:txBody>
      </p:sp>
      <p:sp>
        <p:nvSpPr>
          <p:cNvPr id="15" name="Text 13"/>
          <p:cNvSpPr txBox="1"/>
          <p:nvPr/>
        </p:nvSpPr>
        <p:spPr>
          <a:xfrm>
            <a:off x="502920" y="3438144"/>
            <a:ext cx="8138160" cy="310896"/>
          </a:xfrm>
          <a:prstGeom prst="rect">
            <a:avLst/>
          </a:prstGeom>
          <a:noFill/>
          <a:ln/>
        </p:spPr>
        <p:txBody>
          <a:bodyPr wrap="square" lIns="0" tIns="0" rIns="0" bIns="0" rtlCol="0" anchor="ctr"/>
          <a:lstStyle/>
          <a:p>
            <a:pPr indent="0" marL="0">
              <a:buNone/>
            </a:pPr>
            <a:r>
              <a:rPr lang="en-US" sz="1100" b="1" dirty="0">
                <a:solidFill>
                  <a:srgbClr val="17203F"/>
                </a:solidFill>
                <a:latin typeface="Calibri" pitchFamily="34" charset="0"/>
                <a:ea typeface="Calibri" pitchFamily="34" charset="-122"/>
                <a:cs typeface="Calibri" pitchFamily="34" charset="-120"/>
              </a:rPr>
              <a:t>Nearest neighbour:  </a:t>
            </a:r>
            <a:pPr indent="0" marL="0">
              <a:buNone/>
            </a:pPr>
            <a:r>
              <a:rPr lang="en-US" sz="1100" dirty="0">
                <a:solidFill>
                  <a:srgbClr val="1F2433"/>
                </a:solidFill>
                <a:latin typeface="Calibri" pitchFamily="34" charset="0"/>
                <a:ea typeface="Calibri" pitchFamily="34" charset="-122"/>
                <a:cs typeface="Calibri" pitchFamily="34" charset="-120"/>
              </a:rPr>
              <a:t>MindScape personalises prompts from passively sensed behaviour — but prompts for well-being, rather than comparing against a confirmed Profile.</a:t>
            </a:r>
            <a:endParaRPr lang="en-US" sz="1100" dirty="0"/>
          </a:p>
        </p:txBody>
      </p:sp>
      <p:sp>
        <p:nvSpPr>
          <p:cNvPr id="16" name="Shape 14"/>
          <p:cNvSpPr/>
          <p:nvPr/>
        </p:nvSpPr>
        <p:spPr>
          <a:xfrm>
            <a:off x="502920" y="4114800"/>
            <a:ext cx="8138160" cy="548640"/>
          </a:xfrm>
          <a:prstGeom prst="roundRect">
            <a:avLst>
              <a:gd name="adj" fmla="val 10000"/>
            </a:avLst>
          </a:prstGeom>
          <a:solidFill>
            <a:srgbClr val="1F2A4D"/>
          </a:solidFill>
          <a:ln w="12700">
            <a:solidFill>
              <a:srgbClr val="1F2A4D"/>
            </a:solidFill>
            <a:prstDash val="solid"/>
          </a:ln>
        </p:spPr>
      </p:sp>
      <p:sp>
        <p:nvSpPr>
          <p:cNvPr id="17" name="Text 15"/>
          <p:cNvSpPr txBox="1"/>
          <p:nvPr/>
        </p:nvSpPr>
        <p:spPr>
          <a:xfrm>
            <a:off x="740664" y="4114800"/>
            <a:ext cx="7662672" cy="548640"/>
          </a:xfrm>
          <a:prstGeom prst="rect">
            <a:avLst/>
          </a:prstGeom>
          <a:noFill/>
          <a:ln/>
        </p:spPr>
        <p:txBody>
          <a:bodyPr wrap="square" lIns="0" tIns="0" rIns="0" bIns="0" rtlCol="0" anchor="ctr"/>
          <a:lstStyle/>
          <a:p>
            <a:pPr indent="0" marL="0">
              <a:buNone/>
            </a:pPr>
            <a:r>
              <a:rPr lang="en-US" sz="1150" b="1" dirty="0">
                <a:solidFill>
                  <a:srgbClr val="F0D79A"/>
                </a:solidFill>
                <a:latin typeface="Calibri" pitchFamily="34" charset="0"/>
                <a:ea typeface="Calibri" pitchFamily="34" charset="-122"/>
                <a:cs typeface="Calibri" pitchFamily="34" charset="-120"/>
              </a:rPr>
              <a:t>One boundary, stated once: synthetic Journal Entries · AI review · development evidence · no fresh final test. Everything after this slide inherits it.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2 · APPROACH AND EVIDENCE</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The architecture the evidence decided</a:t>
            </a:r>
            <a:endParaRPr lang="en-US" sz="2600" dirty="0"/>
          </a:p>
        </p:txBody>
      </p:sp>
      <p:sp>
        <p:nvSpPr>
          <p:cNvPr id="5" name="Shape 3"/>
          <p:cNvSpPr/>
          <p:nvPr/>
        </p:nvSpPr>
        <p:spPr>
          <a:xfrm>
            <a:off x="502920" y="1243584"/>
            <a:ext cx="5349240" cy="2788920"/>
          </a:xfrm>
          <a:prstGeom prst="roundRect">
            <a:avLst>
              <a:gd name="adj" fmla="val 1967"/>
            </a:avLst>
          </a:prstGeom>
          <a:solidFill>
            <a:srgbClr val="F3F4F7"/>
          </a:solidFill>
          <a:ln w="12700">
            <a:solidFill>
              <a:srgbClr val="C9CEDB"/>
            </a:solidFill>
            <a:prstDash val="dash"/>
          </a:ln>
        </p:spPr>
      </p:sp>
      <p:sp>
        <p:nvSpPr>
          <p:cNvPr id="6" name="Text 4"/>
          <p:cNvSpPr txBox="1"/>
          <p:nvPr/>
        </p:nvSpPr>
        <p:spPr>
          <a:xfrm>
            <a:off x="640080" y="2180844"/>
            <a:ext cx="5074920" cy="201168"/>
          </a:xfrm>
          <a:prstGeom prst="rect">
            <a:avLst/>
          </a:prstGeom>
          <a:noFill/>
          <a:ln/>
        </p:spPr>
        <p:txBody>
          <a:bodyPr wrap="square" lIns="0" tIns="0" rIns="0" bIns="0" rtlCol="0" anchor="ctr"/>
          <a:lstStyle/>
          <a:p>
            <a:pPr algn="ctr" indent="0" marL="0">
              <a:buNone/>
            </a:pPr>
            <a:r>
              <a:rPr lang="en-US" sz="900" b="1" spc="140" kern="0" dirty="0">
                <a:solidFill>
                  <a:srgbClr val="6B7280"/>
                </a:solidFill>
                <a:latin typeface="Calibri" pitchFamily="34" charset="0"/>
                <a:ea typeface="Calibri" pitchFamily="34" charset="-122"/>
                <a:cs typeface="Calibri" pitchFamily="34" charset="-120"/>
              </a:rPr>
              <a:t>FIGURE</a:t>
            </a:r>
            <a:endParaRPr lang="en-US" sz="900" dirty="0"/>
          </a:p>
        </p:txBody>
      </p:sp>
      <p:sp>
        <p:nvSpPr>
          <p:cNvPr id="7" name="Text 5"/>
          <p:cNvSpPr txBox="1"/>
          <p:nvPr/>
        </p:nvSpPr>
        <p:spPr>
          <a:xfrm>
            <a:off x="640080" y="2400300"/>
            <a:ext cx="5074920" cy="274320"/>
          </a:xfrm>
          <a:prstGeom prst="rect">
            <a:avLst/>
          </a:prstGeom>
          <a:noFill/>
          <a:ln/>
        </p:spPr>
        <p:txBody>
          <a:bodyPr wrap="square" lIns="0" tIns="0" rIns="0" bIns="0" rtlCol="0" anchor="ctr"/>
          <a:lstStyle/>
          <a:p>
            <a:pPr algn="ctr" indent="0" marL="0">
              <a:buNone/>
            </a:pPr>
            <a:r>
              <a:rPr lang="en-US" sz="1050" b="1" dirty="0">
                <a:solidFill>
                  <a:srgbClr val="2C3A6B"/>
                </a:solidFill>
                <a:latin typeface="Courier New" pitchFamily="34" charset="0"/>
                <a:ea typeface="Courier New" pitchFamily="34" charset="-122"/>
                <a:cs typeface="Courier New" pitchFamily="34" charset="-120"/>
              </a:rPr>
              <a:t>images/adopted-architecture.png</a:t>
            </a:r>
            <a:endParaRPr lang="en-US" sz="1050" dirty="0"/>
          </a:p>
        </p:txBody>
      </p:sp>
      <p:sp>
        <p:nvSpPr>
          <p:cNvPr id="8" name="Text 6"/>
          <p:cNvSpPr txBox="1"/>
          <p:nvPr/>
        </p:nvSpPr>
        <p:spPr>
          <a:xfrm>
            <a:off x="704088" y="2729484"/>
            <a:ext cx="4946904" cy="548640"/>
          </a:xfrm>
          <a:prstGeom prst="rect">
            <a:avLst/>
          </a:prstGeom>
          <a:noFill/>
          <a:ln/>
        </p:spPr>
        <p:txBody>
          <a:bodyPr wrap="square" lIns="0" tIns="0" rIns="0" bIns="0" rtlCol="0" anchor="ctr"/>
          <a:lstStyle/>
          <a:p>
            <a:pPr algn="ctr" indent="0" marL="0">
              <a:buNone/>
            </a:pPr>
            <a:r>
              <a:rPr lang="en-US" sz="950" i="1" dirty="0">
                <a:solidFill>
                  <a:srgbClr val="6B7280"/>
                </a:solidFill>
                <a:latin typeface="Calibri" pitchFamily="34" charset="0"/>
                <a:ea typeface="Calibri" pitchFamily="34" charset="-122"/>
                <a:cs typeface="Calibri" pitchFamily="34" charset="-120"/>
              </a:rPr>
              <a:t>Adopted architecture: Profile → Journal Entries → Weekly Drift Reviewer → Drift Detector → Coach Digest</a:t>
            </a:r>
            <a:endParaRPr lang="en-US" sz="950" dirty="0"/>
          </a:p>
        </p:txBody>
      </p:sp>
      <p:sp>
        <p:nvSpPr>
          <p:cNvPr id="9" name="Shape 7"/>
          <p:cNvSpPr/>
          <p:nvPr/>
        </p:nvSpPr>
        <p:spPr>
          <a:xfrm>
            <a:off x="6035040" y="1243584"/>
            <a:ext cx="2606040" cy="1463040"/>
          </a:xfrm>
          <a:prstGeom prst="roundRect">
            <a:avLst>
              <a:gd name="adj" fmla="val 3750"/>
            </a:avLst>
          </a:prstGeom>
          <a:solidFill>
            <a:srgbClr val="FBF3E1"/>
          </a:solidFill>
          <a:ln w="12700">
            <a:solidFill>
              <a:srgbClr val="FBF3E1"/>
            </a:solidFill>
            <a:prstDash val="solid"/>
          </a:ln>
        </p:spPr>
      </p:sp>
      <p:sp>
        <p:nvSpPr>
          <p:cNvPr id="10" name="Text 8"/>
          <p:cNvSpPr txBox="1"/>
          <p:nvPr/>
        </p:nvSpPr>
        <p:spPr>
          <a:xfrm>
            <a:off x="6236208" y="1389888"/>
            <a:ext cx="2203704" cy="274320"/>
          </a:xfrm>
          <a:prstGeom prst="rect">
            <a:avLst/>
          </a:prstGeom>
          <a:noFill/>
          <a:ln/>
        </p:spPr>
        <p:txBody>
          <a:bodyPr wrap="square" lIns="0" tIns="0" rIns="0" bIns="0" rtlCol="0" anchor="ctr"/>
          <a:lstStyle/>
          <a:p>
            <a:pPr indent="0" marL="0">
              <a:buNone/>
            </a:pPr>
            <a:r>
              <a:rPr lang="en-US" sz="1350" b="1" dirty="0">
                <a:solidFill>
                  <a:srgbClr val="7A5A10"/>
                </a:solidFill>
                <a:latin typeface="Cambria" pitchFamily="34" charset="0"/>
                <a:ea typeface="Cambria" pitchFamily="34" charset="-122"/>
                <a:cs typeface="Cambria" pitchFamily="34" charset="-120"/>
              </a:rPr>
              <a:t>Notice the missing arrow</a:t>
            </a:r>
            <a:endParaRPr lang="en-US" sz="1350" dirty="0"/>
          </a:p>
        </p:txBody>
      </p:sp>
      <p:sp>
        <p:nvSpPr>
          <p:cNvPr id="11" name="Text 9"/>
          <p:cNvSpPr txBox="1"/>
          <p:nvPr/>
        </p:nvSpPr>
        <p:spPr>
          <a:xfrm>
            <a:off x="6236208" y="1700784"/>
            <a:ext cx="2203704" cy="868680"/>
          </a:xfrm>
          <a:prstGeom prst="rect">
            <a:avLst/>
          </a:prstGeom>
          <a:noFill/>
          <a:ln/>
        </p:spPr>
        <p:txBody>
          <a:bodyPr wrap="square" lIns="0" tIns="0" rIns="0" bIns="0" rtlCol="0" anchor="ctr"/>
          <a:lstStyle/>
          <a:p>
            <a:pPr indent="0" marL="0">
              <a:buNone/>
            </a:pPr>
            <a:r>
              <a:rPr lang="en-US" sz="1100" dirty="0">
                <a:solidFill>
                  <a:srgbClr val="7A5A10"/>
                </a:solidFill>
                <a:latin typeface="Calibri" pitchFamily="34" charset="0"/>
                <a:ea typeface="Calibri" pitchFamily="34" charset="-122"/>
                <a:cs typeface="Calibri" pitchFamily="34" charset="-120"/>
              </a:rPr>
              <a:t>VIF Critic Predictions do not feed Weekly Drift Detection. That is deliberate, and it is a promise to explain — paid off in Part 5.</a:t>
            </a:r>
            <a:endParaRPr lang="en-US" sz="1100" dirty="0"/>
          </a:p>
        </p:txBody>
      </p:sp>
      <p:sp>
        <p:nvSpPr>
          <p:cNvPr id="12" name="Shape 10"/>
          <p:cNvSpPr/>
          <p:nvPr/>
        </p:nvSpPr>
        <p:spPr>
          <a:xfrm>
            <a:off x="6035040" y="2852928"/>
            <a:ext cx="2606040" cy="1271016"/>
          </a:xfrm>
          <a:prstGeom prst="roundRect">
            <a:avLst>
              <a:gd name="adj" fmla="val 4317"/>
            </a:avLst>
          </a:prstGeom>
          <a:solidFill>
            <a:srgbClr val="F3F4F7"/>
          </a:solidFill>
          <a:ln w="12700">
            <a:solidFill>
              <a:srgbClr val="F3F4F7"/>
            </a:solidFill>
            <a:prstDash val="solid"/>
          </a:ln>
        </p:spPr>
      </p:sp>
      <p:sp>
        <p:nvSpPr>
          <p:cNvPr id="13" name="Text 11"/>
          <p:cNvSpPr txBox="1"/>
          <p:nvPr/>
        </p:nvSpPr>
        <p:spPr>
          <a:xfrm>
            <a:off x="6236208" y="2980944"/>
            <a:ext cx="2203704" cy="256032"/>
          </a:xfrm>
          <a:prstGeom prst="rect">
            <a:avLst/>
          </a:prstGeom>
          <a:noFill/>
          <a:ln/>
        </p:spPr>
        <p:txBody>
          <a:bodyPr wrap="square" lIns="0" tIns="0" rIns="0" bIns="0" rtlCol="0" anchor="ctr"/>
          <a:lstStyle/>
          <a:p>
            <a:pPr indent="0" marL="0">
              <a:buNone/>
            </a:pPr>
            <a:r>
              <a:rPr lang="en-US" sz="1350" b="1" dirty="0">
                <a:solidFill>
                  <a:srgbClr val="17203F"/>
                </a:solidFill>
                <a:latin typeface="Cambria" pitchFamily="34" charset="0"/>
                <a:ea typeface="Cambria" pitchFamily="34" charset="-122"/>
                <a:cs typeface="Cambria" pitchFamily="34" charset="-120"/>
              </a:rPr>
              <a:t>Who owns user-facing Drift</a:t>
            </a:r>
            <a:endParaRPr lang="en-US" sz="1350" dirty="0"/>
          </a:p>
        </p:txBody>
      </p:sp>
      <p:sp>
        <p:nvSpPr>
          <p:cNvPr id="14" name="Text 12"/>
          <p:cNvSpPr txBox="1"/>
          <p:nvPr/>
        </p:nvSpPr>
        <p:spPr>
          <a:xfrm>
            <a:off x="6236208" y="3255264"/>
            <a:ext cx="2203704" cy="82296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F2433"/>
                </a:solidFill>
                <a:latin typeface="Calibri" pitchFamily="34" charset="0"/>
                <a:ea typeface="Calibri" pitchFamily="34" charset="-122"/>
                <a:cs typeface="Calibri" pitchFamily="34" charset="-120"/>
              </a:rPr>
              <a:t>Weekly Drift Reviewer</a:t>
            </a:r>
            <a:endParaRPr lang="en-US" sz="1050" dirty="0"/>
          </a:p>
          <a:p>
            <a:pPr marL="342900" indent="-342900">
              <a:spcAft>
                <a:spcPts val="400"/>
              </a:spcAft>
              <a:buSzPct val="100000"/>
              <a:buChar char="•"/>
            </a:pPr>
            <a:r>
              <a:rPr lang="en-US" sz="1050" dirty="0">
                <a:solidFill>
                  <a:srgbClr val="1F2433"/>
                </a:solidFill>
                <a:latin typeface="Calibri" pitchFamily="34" charset="0"/>
                <a:ea typeface="Calibri" pitchFamily="34" charset="-122"/>
                <a:cs typeface="Calibri" pitchFamily="34" charset="-120"/>
              </a:rPr>
              <a:t>Drift Detector (rule)</a:t>
            </a:r>
            <a:endParaRPr lang="en-US" sz="1050" dirty="0"/>
          </a:p>
          <a:p>
            <a:pPr marL="342900" indent="-342900">
              <a:spcAft>
                <a:spcPts val="400"/>
              </a:spcAft>
              <a:buSzPct val="100000"/>
              <a:buChar char="•"/>
            </a:pPr>
            <a:r>
              <a:rPr lang="en-US" sz="1050" dirty="0">
                <a:solidFill>
                  <a:srgbClr val="1F2433"/>
                </a:solidFill>
                <a:latin typeface="Calibri" pitchFamily="34" charset="0"/>
                <a:ea typeface="Calibri" pitchFamily="34" charset="-122"/>
                <a:cs typeface="Calibri" pitchFamily="34" charset="-120"/>
              </a:rPr>
              <a:t>VIF Critic stays offline</a:t>
            </a:r>
            <a:endParaRPr lang="en-US" sz="1050" dirty="0"/>
          </a:p>
        </p:txBody>
      </p:sp>
      <p:sp>
        <p:nvSpPr>
          <p:cNvPr id="15" name="Text 13"/>
          <p:cNvSpPr txBox="1"/>
          <p:nvPr/>
        </p:nvSpPr>
        <p:spPr>
          <a:xfrm>
            <a:off x="502920" y="4590288"/>
            <a:ext cx="8138160" cy="274320"/>
          </a:xfrm>
          <a:prstGeom prst="rect">
            <a:avLst/>
          </a:prstGeom>
          <a:noFill/>
          <a:ln/>
        </p:spPr>
        <p:txBody>
          <a:bodyPr wrap="square" lIns="0" tIns="0" rIns="0" bIns="0" rtlCol="0" anchor="ctr"/>
          <a:lstStyle/>
          <a:p>
            <a:pPr indent="0" marL="0">
              <a:buNone/>
            </a:pPr>
            <a:r>
              <a:rPr lang="en-US" sz="950" i="1" dirty="0">
                <a:solidFill>
                  <a:srgbClr val="2C3A6B"/>
                </a:solidFill>
                <a:latin typeface="Calibri" pitchFamily="34" charset="0"/>
                <a:ea typeface="Calibri" pitchFamily="34" charset="-122"/>
                <a:cs typeface="Calibri" pitchFamily="34" charset="-120"/>
              </a:rPr>
              <a:t>Conflict = one entry describing behaviour against a value.  Drift = two consecutive Conflicts on the same confirmed Core Value.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2 · APPROACH AND EVIDENCE</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How each part is evaluated — before any results</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138160" cy="914400"/>
        </p:xfrm>
        <a:graphic>
          <a:graphicData uri="http://schemas.openxmlformats.org/drawingml/2006/table">
            <a:tbl>
              <a:tblPr/>
              <a:tblGrid>
                <a:gridCol w="2286000"/>
                <a:gridCol w="3200400"/>
                <a:gridCol w="265176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it is evaluated</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 source</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r>
              <a:tr h="347472">
                <a:tc>
                  <a:txBody>
                    <a:bodyPr/>
                    <a:lstStyle/>
                    <a:p>
                      <a:pPr indent="0" marL="0">
                        <a:buNone/>
                      </a:pPr>
                      <a:r>
                        <a:rPr lang="en-US" sz="1100" b="1" dirty="0">
                          <a:solidFill>
                            <a:srgbClr val="17203F"/>
                          </a:solidFill>
                          <a:latin typeface="Calibri" pitchFamily="34" charset="0"/>
                          <a:ea typeface="Calibri" pitchFamily="34" charset="-122"/>
                          <a:cs typeface="Calibri" pitchFamily="34" charset="-120"/>
                        </a:rPr>
                        <a:t>Profile</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Deterministic scoring plus Python validation</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Not psychometrically validated</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7203F"/>
                          </a:solidFill>
                          <a:latin typeface="Calibri" pitchFamily="34" charset="0"/>
                          <a:ea typeface="Calibri" pitchFamily="34" charset="-122"/>
                          <a:cs typeface="Calibri" pitchFamily="34" charset="-120"/>
                        </a:rPr>
                        <a:t>Corpus and labels</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Agreement, stability, frozen-holdout lifts</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Synthetic; project-team annotators</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7203F"/>
                          </a:solidFill>
                          <a:latin typeface="Calibri" pitchFamily="34" charset="0"/>
                          <a:ea typeface="Calibri" pitchFamily="34" charset="-122"/>
                          <a:cs typeface="Calibri" pitchFamily="34" charset="-120"/>
                        </a:rPr>
                        <a:t>VIF Critic</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QWK, Conflict recall, three seeds</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LLM-Judge VIF Labels, frozen test</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7203F"/>
                          </a:solidFill>
                          <a:latin typeface="Calibri" pitchFamily="34" charset="0"/>
                          <a:ea typeface="Calibri" pitchFamily="34" charset="-122"/>
                          <a:cs typeface="Calibri" pitchFamily="34" charset="-120"/>
                        </a:rPr>
                        <a:t>Weekly Drift Detection</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Drift recall, false alerts, coverage</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AI-reviewed, development-only</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7203F"/>
                          </a:solidFill>
                          <a:latin typeface="Calibri" pitchFamily="34" charset="0"/>
                          <a:ea typeface="Calibri" pitchFamily="34" charset="-122"/>
                          <a:cs typeface="Calibri" pitchFamily="34" charset="-120"/>
                        </a:rPr>
                        <a:t>Coach Digest</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Validations plus four eval scores</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Same-model AI review, n = 5</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7203F"/>
                          </a:solidFill>
                          <a:latin typeface="Calibri" pitchFamily="34" charset="0"/>
                          <a:ea typeface="Calibri" pitchFamily="34" charset="-122"/>
                          <a:cs typeface="Calibri" pitchFamily="34" charset="-120"/>
                        </a:rPr>
                        <a:t>Application</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Tests, replays, fail-closed, deletion</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1F2433"/>
                          </a:solidFill>
                          <a:latin typeface="Calibri" pitchFamily="34" charset="0"/>
                          <a:ea typeface="Calibri" pitchFamily="34" charset="-122"/>
                          <a:cs typeface="Calibri" pitchFamily="34" charset="-120"/>
                        </a:rPr>
                        <a:t>Implementation, not usability</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B5544F"/>
                          </a:solidFill>
                          <a:latin typeface="Calibri" pitchFamily="34" charset="0"/>
                          <a:ea typeface="Calibri" pitchFamily="34" charset="-122"/>
                          <a:cs typeface="Calibri" pitchFamily="34" charset="-120"/>
                        </a:rPr>
                        <a:t>Displayed nudge</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B5544F"/>
                          </a:solidFill>
                          <a:latin typeface="Calibri" pitchFamily="34" charset="0"/>
                          <a:ea typeface="Calibri" pitchFamily="34" charset="-122"/>
                          <a:cs typeface="Calibri" pitchFamily="34" charset="-120"/>
                        </a:rPr>
                        <a:t>Implemented, not separately evaluated</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indent="0" marL="0">
                        <a:buNone/>
                      </a:pPr>
                      <a:r>
                        <a:rPr lang="en-US" sz="1100" dirty="0">
                          <a:solidFill>
                            <a:srgbClr val="B5544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6200" marR="76200" marT="76200" marB="762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02920" y="4590288"/>
            <a:ext cx="8138160" cy="274320"/>
          </a:xfrm>
          <a:prstGeom prst="rect">
            <a:avLst/>
          </a:prstGeom>
          <a:noFill/>
          <a:ln/>
        </p:spPr>
        <p:txBody>
          <a:bodyPr wrap="square" lIns="0" tIns="0" rIns="0" bIns="0" rtlCol="0" anchor="ctr"/>
          <a:lstStyle/>
          <a:p>
            <a:pPr indent="0" marL="0">
              <a:buNone/>
            </a:pPr>
            <a:r>
              <a:rPr lang="en-US" sz="950" i="1" dirty="0">
                <a:solidFill>
                  <a:srgbClr val="B5544F"/>
                </a:solidFill>
                <a:latin typeface="Calibri" pitchFamily="34" charset="0"/>
                <a:ea typeface="Calibri" pitchFamily="34" charset="-122"/>
                <a:cs typeface="Calibri" pitchFamily="34" charset="-120"/>
              </a:rPr>
              <a:t>Say the last row out loud. Coverage is visible before the results start, so nobody has to wonder what went unmeasured.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3 · INVESTIGATION 1</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A longitudinal corpus that can be trusted — enough</a:t>
            </a:r>
            <a:endParaRPr lang="en-US" sz="2600" dirty="0"/>
          </a:p>
        </p:txBody>
      </p:sp>
      <p:sp>
        <p:nvSpPr>
          <p:cNvPr id="5" name="Shape 3"/>
          <p:cNvSpPr/>
          <p:nvPr/>
        </p:nvSpPr>
        <p:spPr>
          <a:xfrm>
            <a:off x="502920" y="1243584"/>
            <a:ext cx="2560320" cy="896112"/>
          </a:xfrm>
          <a:prstGeom prst="roundRect">
            <a:avLst>
              <a:gd name="adj" fmla="val 6122"/>
            </a:avLst>
          </a:prstGeom>
          <a:solidFill>
            <a:srgbClr val="E7ECF7"/>
          </a:solidFill>
          <a:ln w="12700">
            <a:solidFill>
              <a:srgbClr val="E7ECF7"/>
            </a:solidFill>
            <a:prstDash val="solid"/>
          </a:ln>
        </p:spPr>
      </p:sp>
      <p:sp>
        <p:nvSpPr>
          <p:cNvPr id="6" name="Text 4"/>
          <p:cNvSpPr txBox="1"/>
          <p:nvPr/>
        </p:nvSpPr>
        <p:spPr>
          <a:xfrm>
            <a:off x="594360" y="1335024"/>
            <a:ext cx="2377440" cy="420624"/>
          </a:xfrm>
          <a:prstGeom prst="rect">
            <a:avLst/>
          </a:prstGeom>
          <a:noFill/>
          <a:ln/>
        </p:spPr>
        <p:txBody>
          <a:bodyPr wrap="square" lIns="0" tIns="0" rIns="0" bIns="0" rtlCol="0" anchor="ctr"/>
          <a:lstStyle/>
          <a:p>
            <a:pPr algn="ctr" indent="0" marL="0">
              <a:buNone/>
            </a:pPr>
            <a:r>
              <a:rPr lang="en-US" sz="2600" b="1" dirty="0">
                <a:solidFill>
                  <a:srgbClr val="2C3A6B"/>
                </a:solidFill>
                <a:latin typeface="Cambria" pitchFamily="34" charset="0"/>
                <a:ea typeface="Cambria" pitchFamily="34" charset="-122"/>
                <a:cs typeface="Cambria" pitchFamily="34" charset="-120"/>
              </a:rPr>
              <a:t>204</a:t>
            </a:r>
            <a:endParaRPr lang="en-US" sz="2600" dirty="0"/>
          </a:p>
        </p:txBody>
      </p:sp>
      <p:sp>
        <p:nvSpPr>
          <p:cNvPr id="7" name="Text 5"/>
          <p:cNvSpPr txBox="1"/>
          <p:nvPr/>
        </p:nvSpPr>
        <p:spPr>
          <a:xfrm>
            <a:off x="640080" y="1764792"/>
            <a:ext cx="2286000" cy="310896"/>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personas</a:t>
            </a:r>
            <a:endParaRPr lang="en-US" sz="1000" dirty="0"/>
          </a:p>
        </p:txBody>
      </p:sp>
      <p:sp>
        <p:nvSpPr>
          <p:cNvPr id="8" name="Shape 6"/>
          <p:cNvSpPr/>
          <p:nvPr/>
        </p:nvSpPr>
        <p:spPr>
          <a:xfrm>
            <a:off x="3291840" y="1243584"/>
            <a:ext cx="2560320" cy="896112"/>
          </a:xfrm>
          <a:prstGeom prst="roundRect">
            <a:avLst>
              <a:gd name="adj" fmla="val 6122"/>
            </a:avLst>
          </a:prstGeom>
          <a:solidFill>
            <a:srgbClr val="E7ECF7"/>
          </a:solidFill>
          <a:ln w="12700">
            <a:solidFill>
              <a:srgbClr val="E7ECF7"/>
            </a:solidFill>
            <a:prstDash val="solid"/>
          </a:ln>
        </p:spPr>
      </p:sp>
      <p:sp>
        <p:nvSpPr>
          <p:cNvPr id="9" name="Text 7"/>
          <p:cNvSpPr txBox="1"/>
          <p:nvPr/>
        </p:nvSpPr>
        <p:spPr>
          <a:xfrm>
            <a:off x="3383280" y="1335024"/>
            <a:ext cx="2377440" cy="420624"/>
          </a:xfrm>
          <a:prstGeom prst="rect">
            <a:avLst/>
          </a:prstGeom>
          <a:noFill/>
          <a:ln/>
        </p:spPr>
        <p:txBody>
          <a:bodyPr wrap="square" lIns="0" tIns="0" rIns="0" bIns="0" rtlCol="0" anchor="ctr"/>
          <a:lstStyle/>
          <a:p>
            <a:pPr algn="ctr" indent="0" marL="0">
              <a:buNone/>
            </a:pPr>
            <a:r>
              <a:rPr lang="en-US" sz="2600" b="1" dirty="0">
                <a:solidFill>
                  <a:srgbClr val="2C3A6B"/>
                </a:solidFill>
                <a:latin typeface="Cambria" pitchFamily="34" charset="0"/>
                <a:ea typeface="Cambria" pitchFamily="34" charset="-122"/>
                <a:cs typeface="Cambria" pitchFamily="34" charset="-120"/>
              </a:rPr>
              <a:t>1,651</a:t>
            </a:r>
            <a:endParaRPr lang="en-US" sz="2600" dirty="0"/>
          </a:p>
        </p:txBody>
      </p:sp>
      <p:sp>
        <p:nvSpPr>
          <p:cNvPr id="10" name="Text 8"/>
          <p:cNvSpPr txBox="1"/>
          <p:nvPr/>
        </p:nvSpPr>
        <p:spPr>
          <a:xfrm>
            <a:off x="3429000" y="1764792"/>
            <a:ext cx="2286000" cy="310896"/>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Journal Entries</a:t>
            </a:r>
            <a:endParaRPr lang="en-US" sz="1000" dirty="0"/>
          </a:p>
        </p:txBody>
      </p:sp>
      <p:sp>
        <p:nvSpPr>
          <p:cNvPr id="11" name="Shape 9"/>
          <p:cNvSpPr/>
          <p:nvPr/>
        </p:nvSpPr>
        <p:spPr>
          <a:xfrm>
            <a:off x="6080760" y="1243584"/>
            <a:ext cx="2560320" cy="896112"/>
          </a:xfrm>
          <a:prstGeom prst="roundRect">
            <a:avLst>
              <a:gd name="adj" fmla="val 6122"/>
            </a:avLst>
          </a:prstGeom>
          <a:solidFill>
            <a:srgbClr val="F7EFEF"/>
          </a:solidFill>
          <a:ln w="12700">
            <a:solidFill>
              <a:srgbClr val="F7EFEF"/>
            </a:solidFill>
            <a:prstDash val="solid"/>
          </a:ln>
        </p:spPr>
      </p:sp>
      <p:sp>
        <p:nvSpPr>
          <p:cNvPr id="12" name="Text 10"/>
          <p:cNvSpPr txBox="1"/>
          <p:nvPr/>
        </p:nvSpPr>
        <p:spPr>
          <a:xfrm>
            <a:off x="6172200" y="1335024"/>
            <a:ext cx="2377440" cy="420624"/>
          </a:xfrm>
          <a:prstGeom prst="rect">
            <a:avLst/>
          </a:prstGeom>
          <a:noFill/>
          <a:ln/>
        </p:spPr>
        <p:txBody>
          <a:bodyPr wrap="square" lIns="0" tIns="0" rIns="0" bIns="0" rtlCol="0" anchor="ctr"/>
          <a:lstStyle/>
          <a:p>
            <a:pPr algn="ctr" indent="0" marL="0">
              <a:buNone/>
            </a:pPr>
            <a:r>
              <a:rPr lang="en-US" sz="2600" b="1" dirty="0">
                <a:solidFill>
                  <a:srgbClr val="B5544F"/>
                </a:solidFill>
                <a:latin typeface="Cambria" pitchFamily="34" charset="0"/>
                <a:ea typeface="Cambria" pitchFamily="34" charset="-122"/>
                <a:cs typeface="Cambria" pitchFamily="34" charset="-120"/>
              </a:rPr>
              <a:t>75.92%</a:t>
            </a:r>
            <a:endParaRPr lang="en-US" sz="2600" dirty="0"/>
          </a:p>
        </p:txBody>
      </p:sp>
      <p:sp>
        <p:nvSpPr>
          <p:cNvPr id="13" name="Text 11"/>
          <p:cNvSpPr txBox="1"/>
          <p:nvPr/>
        </p:nvSpPr>
        <p:spPr>
          <a:xfrm>
            <a:off x="6217920" y="1764792"/>
            <a:ext cx="2286000" cy="310896"/>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neutral labels — the long tail, before any training</a:t>
            </a:r>
            <a:endParaRPr lang="en-US" sz="1000" dirty="0"/>
          </a:p>
        </p:txBody>
      </p:sp>
      <p:sp>
        <p:nvSpPr>
          <p:cNvPr id="14" name="Shape 12"/>
          <p:cNvSpPr/>
          <p:nvPr/>
        </p:nvSpPr>
        <p:spPr>
          <a:xfrm>
            <a:off x="502920" y="2249424"/>
            <a:ext cx="8138160" cy="512064"/>
          </a:xfrm>
          <a:prstGeom prst="roundRect">
            <a:avLst>
              <a:gd name="adj" fmla="val 10714"/>
            </a:avLst>
          </a:prstGeom>
          <a:solidFill>
            <a:srgbClr val="F3F4F7"/>
          </a:solidFill>
          <a:ln w="12700">
            <a:solidFill>
              <a:srgbClr val="F3F4F7"/>
            </a:solidFill>
            <a:prstDash val="solid"/>
          </a:ln>
        </p:spPr>
      </p:sp>
      <p:sp>
        <p:nvSpPr>
          <p:cNvPr id="15" name="Text 13"/>
          <p:cNvSpPr txBox="1"/>
          <p:nvPr/>
        </p:nvSpPr>
        <p:spPr>
          <a:xfrm>
            <a:off x="722376" y="2249424"/>
            <a:ext cx="7699248" cy="512064"/>
          </a:xfrm>
          <a:prstGeom prst="rect">
            <a:avLst/>
          </a:prstGeom>
          <a:noFill/>
          <a:ln/>
        </p:spPr>
        <p:txBody>
          <a:bodyPr wrap="square" lIns="0" tIns="0" rIns="0" bIns="0" rtlCol="0" anchor="ctr"/>
          <a:lstStyle/>
          <a:p>
            <a:pPr indent="0" marL="0">
              <a:buNone/>
            </a:pPr>
            <a:r>
              <a:rPr lang="en-US" sz="1050" b="1" dirty="0">
                <a:solidFill>
                  <a:srgbClr val="17203F"/>
                </a:solidFill>
                <a:latin typeface="Calibri" pitchFamily="34" charset="0"/>
                <a:ea typeface="Calibri" pitchFamily="34" charset="-122"/>
                <a:cs typeface="Calibri" pitchFamily="34" charset="-120"/>
              </a:rPr>
              <a:t>Generation controls:  </a:t>
            </a:r>
            <a:pPr indent="0" marL="0">
              <a:buNone/>
            </a:pPr>
            <a:r>
              <a:rPr lang="en-US" sz="1050" dirty="0">
                <a:solidFill>
                  <a:srgbClr val="1F2433"/>
                </a:solidFill>
                <a:latin typeface="Calibri" pitchFamily="34" charset="0"/>
                <a:ea typeface="Calibri" pitchFamily="34" charset="-122"/>
                <a:cs typeface="Calibri" pitchFamily="34" charset="-120"/>
              </a:rPr>
              <a:t>parallel across personas, sequential within one, so narrative continuity holds  ·  banned terms, and no generation metadata reaches production-like logic  ·  train-only augmentation against frozen validation and test personas</a:t>
            </a:r>
            <a:endParaRPr lang="en-US" sz="1050" dirty="0"/>
          </a:p>
        </p:txBody>
      </p:sp>
      <p:sp>
        <p:nvSpPr>
          <p:cNvPr id="16" name="Text 14"/>
          <p:cNvSpPr txBox="1"/>
          <p:nvPr/>
        </p:nvSpPr>
        <p:spPr>
          <a:xfrm>
            <a:off x="502920" y="2816352"/>
            <a:ext cx="8138160" cy="274320"/>
          </a:xfrm>
          <a:prstGeom prst="rect">
            <a:avLst/>
          </a:prstGeom>
          <a:noFill/>
          <a:ln/>
        </p:spPr>
        <p:txBody>
          <a:bodyPr wrap="square" lIns="0" tIns="0" rIns="0" bIns="0" rtlCol="0" anchor="ctr"/>
          <a:lstStyle/>
          <a:p>
            <a:pPr indent="0" marL="0">
              <a:buNone/>
            </a:pPr>
            <a:r>
              <a:rPr lang="en-US" sz="1500" b="1" dirty="0">
                <a:solidFill>
                  <a:srgbClr val="17203F"/>
                </a:solidFill>
                <a:latin typeface="Cambria" pitchFamily="34" charset="0"/>
                <a:ea typeface="Cambria" pitchFamily="34" charset="-122"/>
                <a:cs typeface="Cambria" pitchFamily="34" charset="-120"/>
              </a:rPr>
              <a:t>Validation — and its limits</a:t>
            </a:r>
            <a:endParaRPr lang="en-US" sz="1500" dirty="0"/>
          </a:p>
        </p:txBody>
      </p:sp>
      <p:sp>
        <p:nvSpPr>
          <p:cNvPr id="17" name="Shape 15"/>
          <p:cNvSpPr/>
          <p:nvPr/>
        </p:nvSpPr>
        <p:spPr>
          <a:xfrm>
            <a:off x="502920" y="3127248"/>
            <a:ext cx="1737360" cy="868680"/>
          </a:xfrm>
          <a:prstGeom prst="roundRect">
            <a:avLst>
              <a:gd name="adj" fmla="val 6316"/>
            </a:avLst>
          </a:prstGeom>
          <a:solidFill>
            <a:srgbClr val="F3F4F7"/>
          </a:solidFill>
          <a:ln w="12700">
            <a:solidFill>
              <a:srgbClr val="F3F4F7"/>
            </a:solidFill>
            <a:prstDash val="solid"/>
          </a:ln>
        </p:spPr>
      </p:sp>
      <p:sp>
        <p:nvSpPr>
          <p:cNvPr id="18" name="Text 16"/>
          <p:cNvSpPr txBox="1"/>
          <p:nvPr/>
        </p:nvSpPr>
        <p:spPr>
          <a:xfrm>
            <a:off x="557784" y="3218688"/>
            <a:ext cx="1627632" cy="329184"/>
          </a:xfrm>
          <a:prstGeom prst="rect">
            <a:avLst/>
          </a:prstGeom>
          <a:noFill/>
          <a:ln/>
        </p:spPr>
        <p:txBody>
          <a:bodyPr wrap="square" lIns="0" tIns="0" rIns="0" bIns="0" rtlCol="0" anchor="ctr"/>
          <a:lstStyle/>
          <a:p>
            <a:pPr algn="ctr" indent="0" marL="0">
              <a:buNone/>
            </a:pPr>
            <a:r>
              <a:rPr lang="en-US" sz="1900" b="1" dirty="0">
                <a:solidFill>
                  <a:srgbClr val="2C3A6B"/>
                </a:solidFill>
                <a:latin typeface="Cambria" pitchFamily="34" charset="0"/>
                <a:ea typeface="Cambria" pitchFamily="34" charset="-122"/>
                <a:cs typeface="Cambria" pitchFamily="34" charset="-120"/>
              </a:rPr>
              <a:t>0.56</a:t>
            </a:r>
            <a:endParaRPr lang="en-US" sz="1900" dirty="0"/>
          </a:p>
        </p:txBody>
      </p:sp>
      <p:sp>
        <p:nvSpPr>
          <p:cNvPr id="19" name="Text 17"/>
          <p:cNvSpPr txBox="1"/>
          <p:nvPr/>
        </p:nvSpPr>
        <p:spPr>
          <a:xfrm>
            <a:off x="612648" y="3547872"/>
            <a:ext cx="1517904" cy="402336"/>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Human–human Fleiss' κ</a:t>
            </a:r>
            <a:endParaRPr lang="en-US" sz="900" dirty="0"/>
          </a:p>
        </p:txBody>
      </p:sp>
      <p:sp>
        <p:nvSpPr>
          <p:cNvPr id="20" name="Shape 18"/>
          <p:cNvSpPr/>
          <p:nvPr/>
        </p:nvSpPr>
        <p:spPr>
          <a:xfrm>
            <a:off x="2423160" y="3127248"/>
            <a:ext cx="1737360" cy="868680"/>
          </a:xfrm>
          <a:prstGeom prst="roundRect">
            <a:avLst>
              <a:gd name="adj" fmla="val 6316"/>
            </a:avLst>
          </a:prstGeom>
          <a:solidFill>
            <a:srgbClr val="F3F4F7"/>
          </a:solidFill>
          <a:ln w="12700">
            <a:solidFill>
              <a:srgbClr val="F3F4F7"/>
            </a:solidFill>
            <a:prstDash val="solid"/>
          </a:ln>
        </p:spPr>
      </p:sp>
      <p:sp>
        <p:nvSpPr>
          <p:cNvPr id="21" name="Text 19"/>
          <p:cNvSpPr txBox="1"/>
          <p:nvPr/>
        </p:nvSpPr>
        <p:spPr>
          <a:xfrm>
            <a:off x="2478024" y="3218688"/>
            <a:ext cx="1627632" cy="329184"/>
          </a:xfrm>
          <a:prstGeom prst="rect">
            <a:avLst/>
          </a:prstGeom>
          <a:noFill/>
          <a:ln/>
        </p:spPr>
        <p:txBody>
          <a:bodyPr wrap="square" lIns="0" tIns="0" rIns="0" bIns="0" rtlCol="0" anchor="ctr"/>
          <a:lstStyle/>
          <a:p>
            <a:pPr algn="ctr" indent="0" marL="0">
              <a:buNone/>
            </a:pPr>
            <a:r>
              <a:rPr lang="en-US" sz="1900" b="1" dirty="0">
                <a:solidFill>
                  <a:srgbClr val="2F8F7E"/>
                </a:solidFill>
                <a:latin typeface="Cambria" pitchFamily="34" charset="0"/>
                <a:ea typeface="Cambria" pitchFamily="34" charset="-122"/>
                <a:cs typeface="Cambria" pitchFamily="34" charset="-120"/>
              </a:rPr>
              <a:t>0.66</a:t>
            </a:r>
            <a:endParaRPr lang="en-US" sz="1900" dirty="0"/>
          </a:p>
        </p:txBody>
      </p:sp>
      <p:sp>
        <p:nvSpPr>
          <p:cNvPr id="22" name="Text 20"/>
          <p:cNvSpPr txBox="1"/>
          <p:nvPr/>
        </p:nvSpPr>
        <p:spPr>
          <a:xfrm>
            <a:off x="2532888" y="3547872"/>
            <a:ext cx="1517904" cy="402336"/>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Mean LLM-Judge–human Cohen's κ</a:t>
            </a:r>
            <a:endParaRPr lang="en-US" sz="900" dirty="0"/>
          </a:p>
        </p:txBody>
      </p:sp>
      <p:sp>
        <p:nvSpPr>
          <p:cNvPr id="23" name="Shape 21"/>
          <p:cNvSpPr/>
          <p:nvPr/>
        </p:nvSpPr>
        <p:spPr>
          <a:xfrm>
            <a:off x="4343400" y="3127248"/>
            <a:ext cx="1737360" cy="868680"/>
          </a:xfrm>
          <a:prstGeom prst="roundRect">
            <a:avLst>
              <a:gd name="adj" fmla="val 6316"/>
            </a:avLst>
          </a:prstGeom>
          <a:solidFill>
            <a:srgbClr val="F3F4F7"/>
          </a:solidFill>
          <a:ln w="12700">
            <a:solidFill>
              <a:srgbClr val="F3F4F7"/>
            </a:solidFill>
            <a:prstDash val="solid"/>
          </a:ln>
        </p:spPr>
      </p:sp>
      <p:sp>
        <p:nvSpPr>
          <p:cNvPr id="24" name="Text 22"/>
          <p:cNvSpPr txBox="1"/>
          <p:nvPr/>
        </p:nvSpPr>
        <p:spPr>
          <a:xfrm>
            <a:off x="4398264" y="3218688"/>
            <a:ext cx="1627632" cy="329184"/>
          </a:xfrm>
          <a:prstGeom prst="rect">
            <a:avLst/>
          </a:prstGeom>
          <a:noFill/>
          <a:ln/>
        </p:spPr>
        <p:txBody>
          <a:bodyPr wrap="square" lIns="0" tIns="0" rIns="0" bIns="0" rtlCol="0" anchor="ctr"/>
          <a:lstStyle/>
          <a:p>
            <a:pPr algn="ctr" indent="0" marL="0">
              <a:buNone/>
            </a:pPr>
            <a:r>
              <a:rPr lang="en-US" sz="1900" b="1" dirty="0">
                <a:solidFill>
                  <a:srgbClr val="2C3A6B"/>
                </a:solidFill>
                <a:latin typeface="Cambria" pitchFamily="34" charset="0"/>
                <a:ea typeface="Cambria" pitchFamily="34" charset="-122"/>
                <a:cs typeface="Cambria" pitchFamily="34" charset="-120"/>
              </a:rPr>
              <a:t>0.775–0.890</a:t>
            </a:r>
            <a:endParaRPr lang="en-US" sz="1900" dirty="0"/>
          </a:p>
        </p:txBody>
      </p:sp>
      <p:sp>
        <p:nvSpPr>
          <p:cNvPr id="25" name="Text 23"/>
          <p:cNvSpPr txBox="1"/>
          <p:nvPr/>
        </p:nvSpPr>
        <p:spPr>
          <a:xfrm>
            <a:off x="4453128" y="3547872"/>
            <a:ext cx="1517904" cy="402336"/>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Repeated-call Fleiss' κ, five passes</a:t>
            </a:r>
            <a:endParaRPr lang="en-US" sz="900" dirty="0"/>
          </a:p>
        </p:txBody>
      </p:sp>
      <p:sp>
        <p:nvSpPr>
          <p:cNvPr id="26" name="Shape 24"/>
          <p:cNvSpPr/>
          <p:nvPr/>
        </p:nvSpPr>
        <p:spPr>
          <a:xfrm>
            <a:off x="6263640" y="3127248"/>
            <a:ext cx="2377440" cy="868680"/>
          </a:xfrm>
          <a:prstGeom prst="roundRect">
            <a:avLst>
              <a:gd name="adj" fmla="val 6316"/>
            </a:avLst>
          </a:prstGeom>
          <a:solidFill>
            <a:srgbClr val="FBF3E1"/>
          </a:solidFill>
          <a:ln w="12700">
            <a:solidFill>
              <a:srgbClr val="FBF3E1"/>
            </a:solidFill>
            <a:prstDash val="solid"/>
          </a:ln>
        </p:spPr>
      </p:sp>
      <p:sp>
        <p:nvSpPr>
          <p:cNvPr id="27" name="Text 25"/>
          <p:cNvSpPr txBox="1"/>
          <p:nvPr/>
        </p:nvSpPr>
        <p:spPr>
          <a:xfrm>
            <a:off x="6446520" y="3127248"/>
            <a:ext cx="2011680" cy="868680"/>
          </a:xfrm>
          <a:prstGeom prst="rect">
            <a:avLst/>
          </a:prstGeom>
          <a:noFill/>
          <a:ln/>
        </p:spPr>
        <p:txBody>
          <a:bodyPr wrap="square" lIns="0" tIns="0" rIns="0" bIns="0" rtlCol="0" anchor="ctr"/>
          <a:lstStyle/>
          <a:p>
            <a:pPr indent="0" marL="0">
              <a:buNone/>
            </a:pPr>
            <a:r>
              <a:rPr lang="en-US" sz="950" dirty="0">
                <a:solidFill>
                  <a:srgbClr val="7A5A10"/>
                </a:solidFill>
                <a:latin typeface="Calibri" pitchFamily="34" charset="0"/>
                <a:ea typeface="Calibri" pitchFamily="34" charset="-122"/>
                <a:cs typeface="Calibri" pitchFamily="34" charset="-120"/>
              </a:rPr>
              <a:t>Different rater structures — not a paired advantage, and neither is a ceiling. Frozen holdouts gave local lifts and one regression.</a:t>
            </a:r>
            <a:endParaRPr lang="en-US" sz="950" dirty="0"/>
          </a:p>
        </p:txBody>
      </p:sp>
      <p:sp>
        <p:nvSpPr>
          <p:cNvPr id="28" name="Shape 26"/>
          <p:cNvSpPr/>
          <p:nvPr/>
        </p:nvSpPr>
        <p:spPr>
          <a:xfrm>
            <a:off x="502920" y="4114800"/>
            <a:ext cx="8138160" cy="493776"/>
          </a:xfrm>
          <a:prstGeom prst="roundRect">
            <a:avLst>
              <a:gd name="adj" fmla="val 11111"/>
            </a:avLst>
          </a:prstGeom>
          <a:solidFill>
            <a:srgbClr val="EDF4F1"/>
          </a:solidFill>
          <a:ln w="12700">
            <a:solidFill>
              <a:srgbClr val="EDF4F1"/>
            </a:solidFill>
            <a:prstDash val="solid"/>
          </a:ln>
        </p:spPr>
      </p:sp>
      <p:sp>
        <p:nvSpPr>
          <p:cNvPr id="29" name="Text 27"/>
          <p:cNvSpPr txBox="1"/>
          <p:nvPr/>
        </p:nvSpPr>
        <p:spPr>
          <a:xfrm>
            <a:off x="740664" y="4114800"/>
            <a:ext cx="7662672" cy="493776"/>
          </a:xfrm>
          <a:prstGeom prst="rect">
            <a:avLst/>
          </a:prstGeom>
          <a:noFill/>
          <a:ln/>
        </p:spPr>
        <p:txBody>
          <a:bodyPr wrap="square" lIns="0" tIns="0" rIns="0" bIns="0" rtlCol="0" anchor="ctr"/>
          <a:lstStyle/>
          <a:p>
            <a:pPr indent="0" marL="0">
              <a:buNone/>
            </a:pPr>
            <a:r>
              <a:rPr lang="en-US" sz="1150" b="1" dirty="0">
                <a:solidFill>
                  <a:srgbClr val="2A6055"/>
                </a:solidFill>
                <a:latin typeface="Calibri" pitchFamily="34" charset="0"/>
                <a:ea typeface="Calibri" pitchFamily="34" charset="-122"/>
                <a:cs typeface="Calibri" pitchFamily="34" charset="-120"/>
              </a:rPr>
              <a:t>Finding: suitable for bounded model development. Not population realism, not objective labels, not independent human validation.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4 · INVESTIGATION 2</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A compact model, deliberately</a:t>
            </a:r>
            <a:endParaRPr lang="en-US" sz="2600" dirty="0"/>
          </a:p>
        </p:txBody>
      </p:sp>
      <p:sp>
        <p:nvSpPr>
          <p:cNvPr id="5" name="Text 3"/>
          <p:cNvSpPr txBox="1"/>
          <p:nvPr/>
        </p:nvSpPr>
        <p:spPr>
          <a:xfrm>
            <a:off x="502920" y="1243584"/>
            <a:ext cx="8138160" cy="384048"/>
          </a:xfrm>
          <a:prstGeom prst="rect">
            <a:avLst/>
          </a:prstGeom>
          <a:noFill/>
          <a:ln/>
        </p:spPr>
        <p:txBody>
          <a:bodyPr wrap="square" lIns="0" tIns="0" rIns="0" bIns="0" rtlCol="0" anchor="ctr"/>
          <a:lstStyle/>
          <a:p>
            <a:pPr indent="0" marL="0">
              <a:buNone/>
            </a:pPr>
            <a:r>
              <a:rPr lang="en-US" sz="1200" dirty="0">
                <a:solidFill>
                  <a:srgbClr val="1F2433"/>
                </a:solidFill>
                <a:latin typeface="Calibri" pitchFamily="34" charset="0"/>
                <a:ea typeface="Calibri" pitchFamily="34" charset="-122"/>
                <a:cs typeface="Calibri" pitchFamily="34" charset="-120"/>
              </a:rPr>
              <a:t>23,454-parameter MLP over frozen embeddings plus Profile weights. We tested whether the small model could do the job before handing the task to a larger one.</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3931920" cy="914400"/>
        </p:xfrm>
        <a:graphic>
          <a:graphicData uri="http://schemas.openxmlformats.org/drawingml/2006/table">
            <a:tbl>
              <a:tblPr/>
              <a:tblGrid>
                <a:gridCol w="1371600"/>
                <a:gridCol w="1280160"/>
                <a:gridCol w="1280160"/>
              </a:tblGrid>
              <a:tr h="29260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Training seed</a:t>
                      </a:r>
                      <a:endParaRPr lang="en-US" sz="105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Test QWK</a:t>
                      </a:r>
                      <a:endParaRPr lang="en-US" sz="105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Conflict recall</a:t>
                      </a:r>
                      <a:endParaRPr lang="en-US" sz="105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r>
              <a:tr h="329184">
                <a:tc>
                  <a:txBody>
                    <a:bodyPr/>
                    <a:lstStyle/>
                    <a:p>
                      <a:pPr algn="ctr" indent="0" marL="0">
                        <a:buNone/>
                      </a:pPr>
                      <a:r>
                        <a:rPr lang="en-US" sz="1100" dirty="0">
                          <a:solidFill>
                            <a:srgbClr val="1F2433"/>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33"/>
                          </a:solidFill>
                          <a:latin typeface="Calibri" pitchFamily="34" charset="0"/>
                          <a:ea typeface="Calibri" pitchFamily="34" charset="-122"/>
                          <a:cs typeface="Calibri" pitchFamily="34" charset="-120"/>
                        </a:rPr>
                        <a:t>0.362</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33"/>
                          </a:solidFill>
                          <a:latin typeface="Calibri" pitchFamily="34" charset="0"/>
                          <a:ea typeface="Calibri" pitchFamily="34" charset="-122"/>
                          <a:cs typeface="Calibri" pitchFamily="34" charset="-120"/>
                        </a:rPr>
                        <a:t>0.277</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1F2433"/>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33"/>
                          </a:solidFill>
                          <a:latin typeface="Calibri" pitchFamily="34" charset="0"/>
                          <a:ea typeface="Calibri" pitchFamily="34" charset="-122"/>
                          <a:cs typeface="Calibri" pitchFamily="34" charset="-120"/>
                        </a:rPr>
                        <a:t>0.378</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33"/>
                          </a:solidFill>
                          <a:latin typeface="Calibri" pitchFamily="34" charset="0"/>
                          <a:ea typeface="Calibri" pitchFamily="34" charset="-122"/>
                          <a:cs typeface="Calibri" pitchFamily="34" charset="-120"/>
                        </a:rPr>
                        <a:t>0.342</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1F2433"/>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33"/>
                          </a:solidFill>
                          <a:latin typeface="Calibri" pitchFamily="34" charset="0"/>
                          <a:ea typeface="Calibri" pitchFamily="34" charset="-122"/>
                          <a:cs typeface="Calibri" pitchFamily="34" charset="-120"/>
                        </a:rPr>
                        <a:t>0.358</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33"/>
                          </a:solidFill>
                          <a:latin typeface="Calibri" pitchFamily="34" charset="0"/>
                          <a:ea typeface="Calibri" pitchFamily="34" charset="-122"/>
                          <a:cs typeface="Calibri" pitchFamily="34" charset="-120"/>
                        </a:rPr>
                        <a:t>0.313</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rgbClr val="17203F"/>
                          </a:solidFill>
                          <a:latin typeface="Calibri" pitchFamily="34" charset="0"/>
                          <a:ea typeface="Calibri" pitchFamily="34" charset="-122"/>
                          <a:cs typeface="Calibri" pitchFamily="34" charset="-120"/>
                        </a:rPr>
                        <a:t>Median</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203F"/>
                          </a:solidFill>
                          <a:latin typeface="Calibri" pitchFamily="34" charset="0"/>
                          <a:ea typeface="Calibri" pitchFamily="34" charset="-122"/>
                          <a:cs typeface="Calibri" pitchFamily="34" charset="-120"/>
                        </a:rPr>
                        <a:t>0.362</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203F"/>
                          </a:solidFill>
                          <a:latin typeface="Calibri" pitchFamily="34" charset="0"/>
                          <a:ea typeface="Calibri" pitchFamily="34" charset="-122"/>
                          <a:cs typeface="Calibri" pitchFamily="34" charset="-120"/>
                        </a:rPr>
                        <a:t>0.313</a:t>
                      </a:r>
                      <a:endParaRPr lang="en-US" sz="1100" dirty="0">
                        <a:latin typeface="Calibri" charset="0"/>
                        <a:ea typeface="Calibri" charset="0"/>
                        <a:cs typeface="Calibri" charset="0"/>
                      </a:endParaRPr>
                    </a:p>
                  </a:txBody>
                  <a:tcPr marL="63500" marR="63500" marT="63500" marB="635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02920" y="3438144"/>
            <a:ext cx="3931920" cy="402336"/>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Corrected-split Balanced Softmax reference, three seeds. Reporting only the best run would overstate stability.</a:t>
            </a:r>
            <a:endParaRPr lang="en-US" sz="950" dirty="0"/>
          </a:p>
        </p:txBody>
      </p:sp>
      <p:sp>
        <p:nvSpPr>
          <p:cNvPr id="8" name="Shape 5"/>
          <p:cNvSpPr/>
          <p:nvPr/>
        </p:nvSpPr>
        <p:spPr>
          <a:xfrm>
            <a:off x="4709160" y="1737360"/>
            <a:ext cx="1920240" cy="786384"/>
          </a:xfrm>
          <a:prstGeom prst="roundRect">
            <a:avLst>
              <a:gd name="adj" fmla="val 6977"/>
            </a:avLst>
          </a:prstGeom>
          <a:solidFill>
            <a:srgbClr val="E7ECF7"/>
          </a:solidFill>
          <a:ln w="12700">
            <a:solidFill>
              <a:srgbClr val="E7ECF7"/>
            </a:solidFill>
            <a:prstDash val="solid"/>
          </a:ln>
        </p:spPr>
      </p:sp>
      <p:sp>
        <p:nvSpPr>
          <p:cNvPr id="9" name="Text 6"/>
          <p:cNvSpPr txBox="1"/>
          <p:nvPr/>
        </p:nvSpPr>
        <p:spPr>
          <a:xfrm>
            <a:off x="4709160" y="1828800"/>
            <a:ext cx="1920240" cy="384048"/>
          </a:xfrm>
          <a:prstGeom prst="rect">
            <a:avLst/>
          </a:prstGeom>
          <a:noFill/>
          <a:ln/>
        </p:spPr>
        <p:txBody>
          <a:bodyPr wrap="square" lIns="0" tIns="0" rIns="0" bIns="0" rtlCol="0" anchor="ctr"/>
          <a:lstStyle/>
          <a:p>
            <a:pPr algn="ctr" indent="0" marL="0">
              <a:buNone/>
            </a:pPr>
            <a:r>
              <a:rPr lang="en-US" sz="2400" b="1" dirty="0">
                <a:solidFill>
                  <a:srgbClr val="2C3A6B"/>
                </a:solidFill>
                <a:latin typeface="Cambria" pitchFamily="34" charset="0"/>
                <a:ea typeface="Cambria" pitchFamily="34" charset="-122"/>
                <a:cs typeface="Cambria" pitchFamily="34" charset="-120"/>
              </a:rPr>
              <a:t>69</a:t>
            </a:r>
            <a:endParaRPr lang="en-US" sz="2400" dirty="0"/>
          </a:p>
        </p:txBody>
      </p:sp>
      <p:sp>
        <p:nvSpPr>
          <p:cNvPr id="10" name="Text 7"/>
          <p:cNvSpPr txBox="1"/>
          <p:nvPr/>
        </p:nvSpPr>
        <p:spPr>
          <a:xfrm>
            <a:off x="4754880" y="2212848"/>
            <a:ext cx="1828800" cy="237744"/>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run IDs</a:t>
            </a:r>
            <a:endParaRPr lang="en-US" sz="1000" dirty="0"/>
          </a:p>
        </p:txBody>
      </p:sp>
      <p:sp>
        <p:nvSpPr>
          <p:cNvPr id="11" name="Shape 8"/>
          <p:cNvSpPr/>
          <p:nvPr/>
        </p:nvSpPr>
        <p:spPr>
          <a:xfrm>
            <a:off x="6720840" y="1737360"/>
            <a:ext cx="1920240" cy="786384"/>
          </a:xfrm>
          <a:prstGeom prst="roundRect">
            <a:avLst>
              <a:gd name="adj" fmla="val 6977"/>
            </a:avLst>
          </a:prstGeom>
          <a:solidFill>
            <a:srgbClr val="E7ECF7"/>
          </a:solidFill>
          <a:ln w="12700">
            <a:solidFill>
              <a:srgbClr val="E7ECF7"/>
            </a:solidFill>
            <a:prstDash val="solid"/>
          </a:ln>
        </p:spPr>
      </p:sp>
      <p:sp>
        <p:nvSpPr>
          <p:cNvPr id="12" name="Text 9"/>
          <p:cNvSpPr txBox="1"/>
          <p:nvPr/>
        </p:nvSpPr>
        <p:spPr>
          <a:xfrm>
            <a:off x="6720840" y="1828800"/>
            <a:ext cx="1920240" cy="384048"/>
          </a:xfrm>
          <a:prstGeom prst="rect">
            <a:avLst/>
          </a:prstGeom>
          <a:noFill/>
          <a:ln/>
        </p:spPr>
        <p:txBody>
          <a:bodyPr wrap="square" lIns="0" tIns="0" rIns="0" bIns="0" rtlCol="0" anchor="ctr"/>
          <a:lstStyle/>
          <a:p>
            <a:pPr algn="ctr" indent="0" marL="0">
              <a:buNone/>
            </a:pPr>
            <a:r>
              <a:rPr lang="en-US" sz="2400" b="1" dirty="0">
                <a:solidFill>
                  <a:srgbClr val="2C3A6B"/>
                </a:solidFill>
                <a:latin typeface="Cambria" pitchFamily="34" charset="0"/>
                <a:ea typeface="Cambria" pitchFamily="34" charset="-122"/>
                <a:cs typeface="Cambria" pitchFamily="34" charset="-120"/>
              </a:rPr>
              <a:t>133</a:t>
            </a:r>
            <a:endParaRPr lang="en-US" sz="2400" dirty="0"/>
          </a:p>
        </p:txBody>
      </p:sp>
      <p:sp>
        <p:nvSpPr>
          <p:cNvPr id="13" name="Text 10"/>
          <p:cNvSpPr txBox="1"/>
          <p:nvPr/>
        </p:nvSpPr>
        <p:spPr>
          <a:xfrm>
            <a:off x="6766560" y="2212848"/>
            <a:ext cx="1828800" cy="237744"/>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persisted configurations</a:t>
            </a:r>
            <a:endParaRPr lang="en-US" sz="1000" dirty="0"/>
          </a:p>
        </p:txBody>
      </p:sp>
      <p:sp>
        <p:nvSpPr>
          <p:cNvPr id="14" name="Text 11"/>
          <p:cNvSpPr txBox="1"/>
          <p:nvPr/>
        </p:nvSpPr>
        <p:spPr>
          <a:xfrm>
            <a:off x="4709160" y="2651760"/>
            <a:ext cx="3931920" cy="237744"/>
          </a:xfrm>
          <a:prstGeom prst="rect">
            <a:avLst/>
          </a:prstGeom>
          <a:noFill/>
          <a:ln/>
        </p:spPr>
        <p:txBody>
          <a:bodyPr wrap="square" lIns="0" tIns="0" rIns="0" bIns="0" rtlCol="0" anchor="ctr"/>
          <a:lstStyle/>
          <a:p>
            <a:pPr indent="0" marL="0">
              <a:buNone/>
            </a:pPr>
            <a:r>
              <a:rPr lang="en-US" sz="1100" b="1" dirty="0">
                <a:solidFill>
                  <a:srgbClr val="17203F"/>
                </a:solidFill>
                <a:latin typeface="Calibri" pitchFamily="34" charset="0"/>
                <a:ea typeface="Calibri" pitchFamily="34" charset="-122"/>
                <a:cs typeface="Calibri" pitchFamily="34" charset="-120"/>
              </a:rPr>
              <a:t>Across four families:</a:t>
            </a:r>
            <a:endParaRPr lang="en-US" sz="1100" dirty="0"/>
          </a:p>
        </p:txBody>
      </p:sp>
      <p:sp>
        <p:nvSpPr>
          <p:cNvPr id="15" name="Text 12"/>
          <p:cNvSpPr txBox="1"/>
          <p:nvPr/>
        </p:nvSpPr>
        <p:spPr>
          <a:xfrm>
            <a:off x="4709160" y="2926080"/>
            <a:ext cx="3931920" cy="91440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1F2433"/>
                </a:solidFill>
                <a:latin typeface="Calibri" pitchFamily="34" charset="0"/>
                <a:ea typeface="Calibri" pitchFamily="34" charset="-122"/>
                <a:cs typeface="Calibri" pitchFamily="34" charset="-120"/>
              </a:rPr>
              <a:t>Ordinal losses</a:t>
            </a:r>
            <a:endParaRPr lang="en-US" sz="1100" dirty="0"/>
          </a:p>
          <a:p>
            <a:pPr marL="342900" indent="-342900">
              <a:spcAft>
                <a:spcPts val="300"/>
              </a:spcAft>
              <a:buSzPct val="100000"/>
              <a:buChar char="•"/>
            </a:pPr>
            <a:r>
              <a:rPr lang="en-US" sz="1100" dirty="0">
                <a:solidFill>
                  <a:srgbClr val="1F2433"/>
                </a:solidFill>
                <a:latin typeface="Calibri" pitchFamily="34" charset="0"/>
                <a:ea typeface="Calibri" pitchFamily="34" charset="-122"/>
                <a:cs typeface="Calibri" pitchFamily="34" charset="-120"/>
              </a:rPr>
              <a:t>Long-tail losses</a:t>
            </a:r>
            <a:endParaRPr lang="en-US" sz="1100" dirty="0"/>
          </a:p>
          <a:p>
            <a:pPr marL="342900" indent="-342900">
              <a:spcAft>
                <a:spcPts val="300"/>
              </a:spcAft>
              <a:buSzPct val="100000"/>
              <a:buChar char="•"/>
            </a:pPr>
            <a:r>
              <a:rPr lang="en-US" sz="1100" dirty="0">
                <a:solidFill>
                  <a:srgbClr val="1F2433"/>
                </a:solidFill>
                <a:latin typeface="Calibri" pitchFamily="34" charset="0"/>
                <a:ea typeface="Calibri" pitchFamily="34" charset="-122"/>
                <a:cs typeface="Calibri" pitchFamily="34" charset="-120"/>
              </a:rPr>
              <a:t>Two-stage reformulation</a:t>
            </a:r>
            <a:endParaRPr lang="en-US" sz="1100" dirty="0"/>
          </a:p>
          <a:p>
            <a:pPr marL="342900" indent="-342900">
              <a:spcAft>
                <a:spcPts val="300"/>
              </a:spcAft>
              <a:buSzPct val="100000"/>
              <a:buChar char="•"/>
            </a:pPr>
            <a:r>
              <a:rPr lang="en-US" sz="1100" dirty="0">
                <a:solidFill>
                  <a:srgbClr val="1F2433"/>
                </a:solidFill>
                <a:latin typeface="Calibri" pitchFamily="34" charset="0"/>
                <a:ea typeface="Calibri" pitchFamily="34" charset="-122"/>
                <a:cs typeface="Calibri" pitchFamily="34" charset="-120"/>
              </a:rPr>
              <a:t>Encoder swaps (Qwen rerun: QWK 0.370)</a:t>
            </a:r>
            <a:endParaRPr lang="en-US" sz="1100" dirty="0"/>
          </a:p>
        </p:txBody>
      </p:sp>
      <p:sp>
        <p:nvSpPr>
          <p:cNvPr id="16" name="Text 13"/>
          <p:cNvSpPr txBox="1"/>
          <p:nvPr/>
        </p:nvSpPr>
        <p:spPr>
          <a:xfrm>
            <a:off x="502920" y="4590288"/>
            <a:ext cx="8138160" cy="274320"/>
          </a:xfrm>
          <a:prstGeom prst="rect">
            <a:avLst/>
          </a:prstGeom>
          <a:noFill/>
          <a:ln/>
        </p:spPr>
        <p:txBody>
          <a:bodyPr wrap="square" lIns="0" tIns="0" rIns="0" bIns="0" rtlCol="0" anchor="ctr"/>
          <a:lstStyle/>
          <a:p>
            <a:pPr indent="0" marL="0">
              <a:buNone/>
            </a:pPr>
            <a:r>
              <a:rPr lang="en-US" sz="950" i="1" dirty="0">
                <a:solidFill>
                  <a:srgbClr val="2C3A6B"/>
                </a:solidFill>
                <a:latin typeface="Calibri" pitchFamily="34" charset="0"/>
                <a:ea typeface="Calibri" pitchFamily="34" charset="-122"/>
                <a:cs typeface="Calibri" pitchFamily="34" charset="-120"/>
              </a:rPr>
              <a:t>Balanced Softmax escaped the all-neutral failure mode. No intervention produced a stable all-metric replacement for the reference.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4 · INVESTIGATION 2</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Where it breaks — and why that matters</a:t>
            </a:r>
            <a:endParaRPr lang="en-US" sz="2600" dirty="0"/>
          </a:p>
        </p:txBody>
      </p:sp>
      <p:graphicFrame>
        <p:nvGraphicFramePr>
          <p:cNvPr id="5" name="Chart 0" descr=""/>
          <p:cNvGraphicFramePr/>
          <p:nvPr/>
        </p:nvGraphicFramePr>
        <p:xfrm>
          <a:off x="502920" y="1243584"/>
          <a:ext cx="5257800" cy="28803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943600" y="1243584"/>
            <a:ext cx="2697480" cy="1234440"/>
          </a:xfrm>
          <a:prstGeom prst="roundRect">
            <a:avLst>
              <a:gd name="adj" fmla="val 4444"/>
            </a:avLst>
          </a:prstGeom>
          <a:solidFill>
            <a:srgbClr val="F7EFEF"/>
          </a:solidFill>
          <a:ln w="12700">
            <a:solidFill>
              <a:srgbClr val="F7EFEF"/>
            </a:solidFill>
            <a:prstDash val="solid"/>
          </a:ln>
        </p:spPr>
      </p:sp>
      <p:sp>
        <p:nvSpPr>
          <p:cNvPr id="7" name="Text 4"/>
          <p:cNvSpPr txBox="1"/>
          <p:nvPr/>
        </p:nvSpPr>
        <p:spPr>
          <a:xfrm>
            <a:off x="6144768" y="1371600"/>
            <a:ext cx="2295144" cy="402336"/>
          </a:xfrm>
          <a:prstGeom prst="rect">
            <a:avLst/>
          </a:prstGeom>
          <a:noFill/>
          <a:ln/>
        </p:spPr>
        <p:txBody>
          <a:bodyPr wrap="square" lIns="0" tIns="0" rIns="0" bIns="0" rtlCol="0" anchor="ctr"/>
          <a:lstStyle/>
          <a:p>
            <a:pPr indent="0" marL="0">
              <a:buNone/>
            </a:pPr>
            <a:r>
              <a:rPr lang="en-US" sz="2600" b="1" dirty="0">
                <a:solidFill>
                  <a:srgbClr val="B5544F"/>
                </a:solidFill>
                <a:latin typeface="Cambria" pitchFamily="34" charset="0"/>
                <a:ea typeface="Cambria" pitchFamily="34" charset="-122"/>
                <a:cs typeface="Cambria" pitchFamily="34" charset="-120"/>
              </a:rPr>
              <a:t>⅓</a:t>
            </a:r>
            <a:endParaRPr lang="en-US" sz="2600" dirty="0"/>
          </a:p>
        </p:txBody>
      </p:sp>
      <p:sp>
        <p:nvSpPr>
          <p:cNvPr id="8" name="Text 5"/>
          <p:cNvSpPr txBox="1"/>
          <p:nvPr/>
        </p:nvSpPr>
        <p:spPr>
          <a:xfrm>
            <a:off x="6144768" y="1792224"/>
            <a:ext cx="2295144" cy="566928"/>
          </a:xfrm>
          <a:prstGeom prst="rect">
            <a:avLst/>
          </a:prstGeom>
          <a:noFill/>
          <a:ln/>
        </p:spPr>
        <p:txBody>
          <a:bodyPr wrap="square" lIns="0" tIns="0" rIns="0" bIns="0" rtlCol="0" anchor="ctr"/>
          <a:lstStyle/>
          <a:p>
            <a:pPr indent="0" marL="0">
              <a:buNone/>
            </a:pPr>
            <a:r>
              <a:rPr lang="en-US" sz="1150" b="1" dirty="0">
                <a:solidFill>
                  <a:srgbClr val="8A4A45"/>
                </a:solidFill>
                <a:latin typeface="Calibri" pitchFamily="34" charset="0"/>
                <a:ea typeface="Calibri" pitchFamily="34" charset="-122"/>
                <a:cs typeface="Calibri" pitchFamily="34" charset="-120"/>
              </a:rPr>
              <a:t>of reference Conflicts are caught. It misses about two thirds.</a:t>
            </a:r>
            <a:endParaRPr lang="en-US" sz="1150" dirty="0"/>
          </a:p>
        </p:txBody>
      </p:sp>
      <p:sp>
        <p:nvSpPr>
          <p:cNvPr id="9" name="Shape 6"/>
          <p:cNvSpPr/>
          <p:nvPr/>
        </p:nvSpPr>
        <p:spPr>
          <a:xfrm>
            <a:off x="5943600" y="2615184"/>
            <a:ext cx="2697480" cy="1737360"/>
          </a:xfrm>
          <a:prstGeom prst="roundRect">
            <a:avLst>
              <a:gd name="adj" fmla="val 3158"/>
            </a:avLst>
          </a:prstGeom>
          <a:solidFill>
            <a:srgbClr val="F3F4F7"/>
          </a:solidFill>
          <a:ln w="12700">
            <a:solidFill>
              <a:srgbClr val="F3F4F7"/>
            </a:solidFill>
            <a:prstDash val="solid"/>
          </a:ln>
        </p:spPr>
      </p:sp>
      <p:sp>
        <p:nvSpPr>
          <p:cNvPr id="10" name="Text 7"/>
          <p:cNvSpPr txBox="1"/>
          <p:nvPr/>
        </p:nvSpPr>
        <p:spPr>
          <a:xfrm>
            <a:off x="6144768" y="2724912"/>
            <a:ext cx="2295144" cy="512064"/>
          </a:xfrm>
          <a:prstGeom prst="rect">
            <a:avLst/>
          </a:prstGeom>
          <a:noFill/>
          <a:ln/>
        </p:spPr>
        <p:txBody>
          <a:bodyPr wrap="square" lIns="0" tIns="0" rIns="0" bIns="0" rtlCol="0" anchor="ctr"/>
          <a:lstStyle/>
          <a:p>
            <a:pPr indent="0" marL="0">
              <a:buNone/>
            </a:pPr>
            <a:r>
              <a:rPr lang="en-US" sz="1250" b="1" dirty="0">
                <a:solidFill>
                  <a:srgbClr val="17203F"/>
                </a:solidFill>
                <a:latin typeface="Cambria" pitchFamily="34" charset="0"/>
                <a:ea typeface="Cambria" pitchFamily="34" charset="-122"/>
                <a:cs typeface="Cambria" pitchFamily="34" charset="-120"/>
              </a:rPr>
              <a:t>A negative result inside a tested design space</a:t>
            </a:r>
            <a:endParaRPr lang="en-US" sz="1250" dirty="0"/>
          </a:p>
        </p:txBody>
      </p:sp>
      <p:sp>
        <p:nvSpPr>
          <p:cNvPr id="11" name="Text 8"/>
          <p:cNvSpPr txBox="1"/>
          <p:nvPr/>
        </p:nvSpPr>
        <p:spPr>
          <a:xfrm>
            <a:off x="6144768" y="3273552"/>
            <a:ext cx="2295144" cy="1005840"/>
          </a:xfrm>
          <a:prstGeom prst="rect">
            <a:avLst/>
          </a:prstGeom>
          <a:noFill/>
          <a:ln/>
        </p:spPr>
        <p:txBody>
          <a:bodyPr wrap="square" lIns="0" tIns="0" rIns="0" bIns="0" rtlCol="0" anchor="ctr"/>
          <a:lstStyle/>
          <a:p>
            <a:pPr indent="0" marL="0">
              <a:buNone/>
            </a:pPr>
            <a:r>
              <a:rPr lang="en-US" sz="1000" dirty="0">
                <a:solidFill>
                  <a:srgbClr val="1F2433"/>
                </a:solidFill>
                <a:latin typeface="Calibri" pitchFamily="34" charset="0"/>
                <a:ea typeface="Calibri" pitchFamily="34" charset="-122"/>
                <a:cs typeface="Calibri" pitchFamily="34" charset="-120"/>
              </a:rPr>
              <a:t>Per-value recall runs from 0.125 to 0.733. That spread — not the median alone — is why the model does not hold user-facing Drift authority. Support varies too: three Universalism Conflicts against 45 for Self-Direction.</a:t>
            </a:r>
            <a:endParaRPr lang="en-US" sz="1000" dirty="0"/>
          </a:p>
        </p:txBody>
      </p:sp>
      <p:sp>
        <p:nvSpPr>
          <p:cNvPr id="12" name="Text 9"/>
          <p:cNvSpPr txBox="1"/>
          <p:nvPr/>
        </p:nvSpPr>
        <p:spPr>
          <a:xfrm>
            <a:off x="502920" y="4590288"/>
            <a:ext cx="813816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Introduce the spread here. The interpretation comes back in Part 7, with the second panel beside it.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5 · INVESTIGATION 3</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Does the offline model help downstream?</a:t>
            </a:r>
            <a:endParaRPr lang="en-US" sz="2600" dirty="0"/>
          </a:p>
        </p:txBody>
      </p:sp>
      <p:graphicFrame>
        <p:nvGraphicFramePr>
          <p:cNvPr id="5" name="Chart 0" descr=""/>
          <p:cNvGraphicFramePr/>
          <p:nvPr/>
        </p:nvGraphicFramePr>
        <p:xfrm>
          <a:off x="502920" y="1243584"/>
          <a:ext cx="5349240" cy="27432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035040" y="1243584"/>
            <a:ext cx="2606040" cy="1371600"/>
          </a:xfrm>
          <a:prstGeom prst="roundRect">
            <a:avLst>
              <a:gd name="adj" fmla="val 4000"/>
            </a:avLst>
          </a:prstGeom>
          <a:solidFill>
            <a:srgbClr val="F3F4F7"/>
          </a:solidFill>
          <a:ln w="12700">
            <a:solidFill>
              <a:srgbClr val="F3F4F7"/>
            </a:solidFill>
            <a:prstDash val="solid"/>
          </a:ln>
        </p:spPr>
      </p:sp>
      <p:sp>
        <p:nvSpPr>
          <p:cNvPr id="7" name="Text 4"/>
          <p:cNvSpPr txBox="1"/>
          <p:nvPr/>
        </p:nvSpPr>
        <p:spPr>
          <a:xfrm>
            <a:off x="6236208" y="1371600"/>
            <a:ext cx="2203704" cy="256032"/>
          </a:xfrm>
          <a:prstGeom prst="rect">
            <a:avLst/>
          </a:prstGeom>
          <a:noFill/>
          <a:ln/>
        </p:spPr>
        <p:txBody>
          <a:bodyPr wrap="square" lIns="0" tIns="0" rIns="0" bIns="0" rtlCol="0" anchor="ctr"/>
          <a:lstStyle/>
          <a:p>
            <a:pPr indent="0" marL="0">
              <a:buNone/>
            </a:pPr>
            <a:r>
              <a:rPr lang="en-US" sz="950" b="1" spc="120" kern="0" dirty="0">
                <a:solidFill>
                  <a:srgbClr val="6B7280"/>
                </a:solidFill>
                <a:latin typeface="Calibri" pitchFamily="34" charset="0"/>
                <a:ea typeface="Calibri" pitchFamily="34" charset="-122"/>
                <a:cs typeface="Calibri" pitchFamily="34" charset="-120"/>
              </a:rPr>
              <a:t>Paired difference</a:t>
            </a:r>
            <a:endParaRPr lang="en-US" sz="950" dirty="0"/>
          </a:p>
        </p:txBody>
      </p:sp>
      <p:sp>
        <p:nvSpPr>
          <p:cNvPr id="8" name="Text 5"/>
          <p:cNvSpPr txBox="1"/>
          <p:nvPr/>
        </p:nvSpPr>
        <p:spPr>
          <a:xfrm>
            <a:off x="6236208" y="1627632"/>
            <a:ext cx="2203704" cy="402336"/>
          </a:xfrm>
          <a:prstGeom prst="rect">
            <a:avLst/>
          </a:prstGeom>
          <a:noFill/>
          <a:ln/>
        </p:spPr>
        <p:txBody>
          <a:bodyPr wrap="square" lIns="0" tIns="0" rIns="0" bIns="0" rtlCol="0" anchor="ctr"/>
          <a:lstStyle/>
          <a:p>
            <a:pPr indent="0" marL="0">
              <a:buNone/>
            </a:pPr>
            <a:r>
              <a:rPr lang="en-US" sz="2400" b="1" dirty="0">
                <a:solidFill>
                  <a:srgbClr val="17203F"/>
                </a:solidFill>
                <a:latin typeface="Cambria" pitchFamily="34" charset="0"/>
                <a:ea typeface="Cambria" pitchFamily="34" charset="-122"/>
                <a:cs typeface="Cambria" pitchFamily="34" charset="-120"/>
              </a:rPr>
              <a:t>−0.061</a:t>
            </a:r>
            <a:endParaRPr lang="en-US" sz="2400" dirty="0"/>
          </a:p>
        </p:txBody>
      </p:sp>
      <p:sp>
        <p:nvSpPr>
          <p:cNvPr id="9" name="Text 6"/>
          <p:cNvSpPr txBox="1"/>
          <p:nvPr/>
        </p:nvSpPr>
        <p:spPr>
          <a:xfrm>
            <a:off x="6236208" y="2048256"/>
            <a:ext cx="2203704" cy="502920"/>
          </a:xfrm>
          <a:prstGeom prst="rect">
            <a:avLst/>
          </a:prstGeom>
          <a:noFill/>
          <a:ln/>
        </p:spPr>
        <p:txBody>
          <a:bodyPr wrap="square" lIns="0" tIns="0" rIns="0" bIns="0" rtlCol="0" anchor="ctr"/>
          <a:lstStyle/>
          <a:p>
            <a:pPr indent="0" marL="0">
              <a:buNone/>
            </a:pPr>
            <a:r>
              <a:rPr lang="en-US" sz="1050" dirty="0">
                <a:solidFill>
                  <a:srgbClr val="1F2433"/>
                </a:solidFill>
                <a:latin typeface="Calibri" pitchFamily="34" charset="0"/>
                <a:ea typeface="Calibri" pitchFamily="34" charset="-122"/>
                <a:cs typeface="Calibri" pitchFamily="34" charset="-120"/>
              </a:rPr>
              <a:t>95% interval −0.158 to +0.033 — it includes zero, so the recall loss is inconclusive. Coverage fell by 0.094.</a:t>
            </a:r>
            <a:endParaRPr lang="en-US" sz="1050" dirty="0"/>
          </a:p>
        </p:txBody>
      </p:sp>
      <p:sp>
        <p:nvSpPr>
          <p:cNvPr id="10" name="Shape 7"/>
          <p:cNvSpPr/>
          <p:nvPr/>
        </p:nvSpPr>
        <p:spPr>
          <a:xfrm>
            <a:off x="6035040" y="2761488"/>
            <a:ext cx="2606040" cy="1371600"/>
          </a:xfrm>
          <a:prstGeom prst="roundRect">
            <a:avLst>
              <a:gd name="adj" fmla="val 4000"/>
            </a:avLst>
          </a:prstGeom>
          <a:solidFill>
            <a:srgbClr val="F7EFEF"/>
          </a:solidFill>
          <a:ln w="12700">
            <a:solidFill>
              <a:srgbClr val="F7EFEF"/>
            </a:solidFill>
            <a:prstDash val="solid"/>
          </a:ln>
        </p:spPr>
      </p:sp>
      <p:sp>
        <p:nvSpPr>
          <p:cNvPr id="11" name="Text 8"/>
          <p:cNvSpPr txBox="1"/>
          <p:nvPr/>
        </p:nvSpPr>
        <p:spPr>
          <a:xfrm>
            <a:off x="6236208" y="2871216"/>
            <a:ext cx="2203704" cy="512064"/>
          </a:xfrm>
          <a:prstGeom prst="rect">
            <a:avLst/>
          </a:prstGeom>
          <a:noFill/>
          <a:ln/>
        </p:spPr>
        <p:txBody>
          <a:bodyPr wrap="square" lIns="0" tIns="0" rIns="0" bIns="0" rtlCol="0" anchor="ctr"/>
          <a:lstStyle/>
          <a:p>
            <a:pPr indent="0" marL="0">
              <a:buNone/>
            </a:pPr>
            <a:r>
              <a:rPr lang="en-US" sz="1250" b="1" dirty="0">
                <a:solidFill>
                  <a:srgbClr val="8A4A45"/>
                </a:solidFill>
                <a:latin typeface="Cambria" pitchFamily="34" charset="0"/>
                <a:ea typeface="Cambria" pitchFamily="34" charset="-122"/>
                <a:cs typeface="Cambria" pitchFamily="34" charset="-120"/>
              </a:rPr>
              <a:t>Early triggering changed delay, not hits</a:t>
            </a:r>
            <a:endParaRPr lang="en-US" sz="1250" dirty="0"/>
          </a:p>
        </p:txBody>
      </p:sp>
      <p:sp>
        <p:nvSpPr>
          <p:cNvPr id="12" name="Text 9"/>
          <p:cNvSpPr txBox="1"/>
          <p:nvPr/>
        </p:nvSpPr>
        <p:spPr>
          <a:xfrm>
            <a:off x="6236208" y="3419856"/>
            <a:ext cx="2203704" cy="658368"/>
          </a:xfrm>
          <a:prstGeom prst="rect">
            <a:avLst/>
          </a:prstGeom>
          <a:noFill/>
          <a:ln/>
        </p:spPr>
        <p:txBody>
          <a:bodyPr wrap="square" lIns="0" tIns="0" rIns="0" bIns="0" rtlCol="0" anchor="ctr"/>
          <a:lstStyle/>
          <a:p>
            <a:pPr indent="0" marL="0">
              <a:buNone/>
            </a:pPr>
            <a:r>
              <a:rPr lang="en-US" sz="1000" dirty="0">
                <a:solidFill>
                  <a:srgbClr val="8A4A45"/>
                </a:solidFill>
                <a:latin typeface="Calibri" pitchFamily="34" charset="0"/>
                <a:ea typeface="Calibri" pitchFamily="34" charset="-122"/>
                <a:cs typeface="Calibri" pitchFamily="34" charset="-120"/>
              </a:rPr>
              <a:t>Median delay fell from five days to one — but the recall difference was exactly zero, and the delay benefit did not transfer to the non-training subgroup.</a:t>
            </a:r>
            <a:endParaRPr lang="en-US" sz="1000" dirty="0"/>
          </a:p>
        </p:txBody>
      </p:sp>
      <p:sp>
        <p:nvSpPr>
          <p:cNvPr id="13" name="Text 10"/>
          <p:cNvSpPr txBox="1"/>
          <p:nvPr/>
        </p:nvSpPr>
        <p:spPr>
          <a:xfrm>
            <a:off x="502920" y="4590288"/>
            <a:ext cx="8138160" cy="274320"/>
          </a:xfrm>
          <a:prstGeom prst="rect">
            <a:avLst/>
          </a:prstGeom>
          <a:noFill/>
          <a:ln/>
        </p:spPr>
        <p:txBody>
          <a:bodyPr wrap="square" lIns="0" tIns="0" rIns="0" bIns="0" rtlCol="0" anchor="ctr"/>
          <a:lstStyle/>
          <a:p>
            <a:pPr indent="0" marL="0">
              <a:buNone/>
            </a:pPr>
            <a:r>
              <a:rPr lang="en-US" sz="950" i="1" dirty="0">
                <a:solidFill>
                  <a:srgbClr val="B5544F"/>
                </a:solidFill>
                <a:latin typeface="Calibri" pitchFamily="34" charset="0"/>
                <a:ea typeface="Calibri" pitchFamily="34" charset="-122"/>
                <a:cs typeface="Calibri" pitchFamily="34" charset="-120"/>
              </a:rPr>
              <a:t>Honest caveat: no matched Luna-low VIF ablation was run, so this cannot settle whether the offline signal would help under the adopted contract.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5 · INVESTIGATION 3</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Choosing the operating point</a:t>
            </a:r>
            <a:endParaRPr lang="en-US" sz="2600" dirty="0"/>
          </a:p>
        </p:txBody>
      </p:sp>
      <p:sp>
        <p:nvSpPr>
          <p:cNvPr id="5" name="Text 3"/>
          <p:cNvSpPr txBox="1"/>
          <p:nvPr/>
        </p:nvSpPr>
        <p:spPr>
          <a:xfrm>
            <a:off x="502920" y="1243584"/>
            <a:ext cx="8138160" cy="347472"/>
          </a:xfrm>
          <a:prstGeom prst="rect">
            <a:avLst/>
          </a:prstGeom>
          <a:noFill/>
          <a:ln/>
        </p:spPr>
        <p:txBody>
          <a:bodyPr wrap="square" lIns="0" tIns="0" rIns="0" bIns="0" rtlCol="0" anchor="ctr"/>
          <a:lstStyle/>
          <a:p>
            <a:pPr indent="0" marL="0">
              <a:buNone/>
            </a:pPr>
            <a:r>
              <a:rPr lang="en-US" sz="1200" dirty="0">
                <a:solidFill>
                  <a:srgbClr val="1F2433"/>
                </a:solidFill>
                <a:latin typeface="Calibri" pitchFamily="34" charset="0"/>
                <a:ea typeface="Calibri" pitchFamily="34" charset="-122"/>
                <a:cs typeface="Calibri" pitchFamily="34" charset="-120"/>
              </a:rPr>
              <a:t>Reviewing cumulative Journal Entry history is the stronger tested path. 292 development cases, 42 known Drifts, three repeats.</a:t>
            </a:r>
            <a:endParaRPr lang="en-US" sz="1200" dirty="0"/>
          </a:p>
        </p:txBody>
      </p:sp>
      <p:graphicFrame>
        <p:nvGraphicFramePr>
          <p:cNvPr id="6" name="Chart 0" descr=""/>
          <p:cNvGraphicFramePr/>
          <p:nvPr/>
        </p:nvGraphicFramePr>
        <p:xfrm>
          <a:off x="502920" y="1682496"/>
          <a:ext cx="4206240"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937760" y="1883664"/>
          <a:ext cx="3703320" cy="914400"/>
        </p:xfrm>
        <a:graphic>
          <a:graphicData uri="http://schemas.openxmlformats.org/drawingml/2006/table">
            <a:tbl>
              <a:tblPr/>
              <a:tblGrid>
                <a:gridCol w="914400"/>
                <a:gridCol w="1005840"/>
                <a:gridCol w="914400"/>
                <a:gridCol w="868680"/>
              </a:tblGrid>
              <a:tr h="27432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Effort</a:t>
                      </a:r>
                      <a:endParaRPr lang="en-US" sz="100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False alerts</a:t>
                      </a:r>
                      <a:endParaRPr lang="en-US" sz="100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Coverage</a:t>
                      </a:r>
                      <a:endParaRPr lang="en-US" sz="100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2C3A6B"/>
                    </a:solidFill>
                  </a:tcPr>
                </a:tc>
              </a:tr>
              <a:tr h="329184">
                <a:tc>
                  <a:txBody>
                    <a:bodyPr/>
                    <a:lstStyle/>
                    <a:p>
                      <a:pPr algn="ctr" indent="0" marL="0">
                        <a:buNone/>
                      </a:pPr>
                      <a:r>
                        <a:rPr lang="en-US" sz="1050" b="1" dirty="0">
                          <a:solidFill>
                            <a:srgbClr val="7A5A10"/>
                          </a:solidFill>
                          <a:latin typeface="Calibri" pitchFamily="34" charset="0"/>
                          <a:ea typeface="Calibri" pitchFamily="34" charset="-122"/>
                          <a:cs typeface="Calibri" pitchFamily="34" charset="-120"/>
                        </a:rPr>
                        <a:t>Low ★</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BF3E1"/>
                    </a:solidFill>
                  </a:tcPr>
                </a:tc>
                <a:tc>
                  <a:txBody>
                    <a:bodyPr/>
                    <a:lstStyle/>
                    <a:p>
                      <a:pPr algn="ctr" indent="0" marL="0">
                        <a:buNone/>
                      </a:pPr>
                      <a:r>
                        <a:rPr lang="en-US" sz="1050" b="1" dirty="0">
                          <a:solidFill>
                            <a:srgbClr val="7A5A1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BF3E1"/>
                    </a:solidFill>
                  </a:tcPr>
                </a:tc>
                <a:tc>
                  <a:txBody>
                    <a:bodyPr/>
                    <a:lstStyle/>
                    <a:p>
                      <a:pPr algn="ctr" indent="0" marL="0">
                        <a:buNone/>
                      </a:pPr>
                      <a:r>
                        <a:rPr lang="en-US" sz="1050" b="1" dirty="0">
                          <a:solidFill>
                            <a:srgbClr val="7A5A10"/>
                          </a:solidFill>
                          <a:latin typeface="Calibri" pitchFamily="34" charset="0"/>
                          <a:ea typeface="Calibri" pitchFamily="34" charset="-122"/>
                          <a:cs typeface="Calibri" pitchFamily="34" charset="-120"/>
                        </a:rPr>
                        <a:t>0.852</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BF3E1"/>
                    </a:solidFill>
                  </a:tcPr>
                </a:tc>
                <a:tc>
                  <a:txBody>
                    <a:bodyPr/>
                    <a:lstStyle/>
                    <a:p>
                      <a:pPr algn="ctr" indent="0" marL="0">
                        <a:buNone/>
                      </a:pPr>
                      <a:r>
                        <a:rPr lang="en-US" sz="1050" b="1" dirty="0">
                          <a:solidFill>
                            <a:srgbClr val="7A5A10"/>
                          </a:solidFill>
                          <a:latin typeface="Calibri" pitchFamily="34" charset="0"/>
                          <a:ea typeface="Calibri" pitchFamily="34" charset="-122"/>
                          <a:cs typeface="Calibri" pitchFamily="34" charset="-120"/>
                        </a:rPr>
                        <a:t>0.637</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BF3E1"/>
                    </a:solidFill>
                  </a:tcPr>
                </a:tc>
              </a:tr>
              <a:tr h="310896">
                <a:tc>
                  <a:txBody>
                    <a:bodyPr/>
                    <a:lstStyle/>
                    <a:p>
                      <a:pPr algn="ctr" indent="0" marL="0">
                        <a:buNone/>
                      </a:pPr>
                      <a:r>
                        <a:rPr lang="en-US" sz="1050" dirty="0">
                          <a:solidFill>
                            <a:srgbClr val="1F2433"/>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33"/>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3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3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r h="310896">
                <a:tc>
                  <a:txBody>
                    <a:bodyPr/>
                    <a:lstStyle/>
                    <a:p>
                      <a:pPr algn="ctr" indent="0" marL="0">
                        <a:buNone/>
                      </a:pPr>
                      <a:r>
                        <a:rPr lang="en-US" sz="1050" dirty="0">
                          <a:solidFill>
                            <a:srgbClr val="1F2433"/>
                          </a:solidFill>
                          <a:latin typeface="Calibri" pitchFamily="34" charset="0"/>
                          <a:ea typeface="Calibri" pitchFamily="34" charset="-122"/>
                          <a:cs typeface="Calibri" pitchFamily="34" charset="-120"/>
                        </a:rPr>
                        <a:t>Xhigh</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33"/>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33"/>
                          </a:solidFill>
                          <a:latin typeface="Calibri" pitchFamily="34" charset="0"/>
                          <a:ea typeface="Calibri" pitchFamily="34" charset="-122"/>
                          <a:cs typeface="Calibri" pitchFamily="34" charset="-120"/>
                        </a:rPr>
                        <a:t>0.750</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3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50800" marB="50800" anchor="ctr">
                    <a:lnL w="12700" cap="flat" cmpd="sng" algn="ctr">
                      <a:solidFill>
                        <a:srgbClr val="DDE1EA"/>
                      </a:solidFill>
                      <a:prstDash val="solid"/>
                      <a:round/>
                      <a:headEnd type="none" w="med" len="med"/>
                      <a:tailEnd type="none" w="med" len="med"/>
                    </a:lnL>
                    <a:lnR w="12700" cap="flat" cmpd="sng" algn="ctr">
                      <a:solidFill>
                        <a:srgbClr val="DDE1EA"/>
                      </a:solidFill>
                      <a:prstDash val="solid"/>
                      <a:round/>
                      <a:headEnd type="none" w="med" len="med"/>
                      <a:tailEnd type="none" w="med" len="med"/>
                    </a:lnR>
                    <a:lnT w="12700" cap="flat" cmpd="sng" algn="ctr">
                      <a:solidFill>
                        <a:srgbClr val="DDE1EA"/>
                      </a:solidFill>
                      <a:prstDash val="solid"/>
                      <a:round/>
                      <a:headEnd type="none" w="med" len="med"/>
                      <a:tailEnd type="none" w="med" len="med"/>
                    </a:lnT>
                    <a:lnB w="12700" cap="flat" cmpd="sng" algn="ctr">
                      <a:solidFill>
                        <a:srgbClr val="DDE1EA"/>
                      </a:solidFill>
                      <a:prstDash val="solid"/>
                      <a:round/>
                      <a:headEnd type="none" w="med" len="med"/>
                      <a:tailEnd type="none" w="med" len="med"/>
                    </a:lnB>
                    <a:solidFill>
                      <a:srgbClr val="FFFFFF"/>
                    </a:solidFill>
                  </a:tcPr>
                </a:tc>
              </a:tr>
            </a:tbl>
          </a:graphicData>
        </a:graphic>
      </p:graphicFrame>
      <p:sp>
        <p:nvSpPr>
          <p:cNvPr id="8" name="Shape 4"/>
          <p:cNvSpPr/>
          <p:nvPr/>
        </p:nvSpPr>
        <p:spPr>
          <a:xfrm>
            <a:off x="4937760" y="3200400"/>
            <a:ext cx="3703320" cy="813816"/>
          </a:xfrm>
          <a:prstGeom prst="roundRect">
            <a:avLst>
              <a:gd name="adj" fmla="val 6742"/>
            </a:avLst>
          </a:prstGeom>
          <a:solidFill>
            <a:srgbClr val="FBF3E1"/>
          </a:solidFill>
          <a:ln w="12700">
            <a:solidFill>
              <a:srgbClr val="FBF3E1"/>
            </a:solidFill>
            <a:prstDash val="solid"/>
          </a:ln>
        </p:spPr>
      </p:sp>
      <p:sp>
        <p:nvSpPr>
          <p:cNvPr id="9" name="Text 5"/>
          <p:cNvSpPr txBox="1"/>
          <p:nvPr/>
        </p:nvSpPr>
        <p:spPr>
          <a:xfrm>
            <a:off x="5120640" y="3200400"/>
            <a:ext cx="3337560" cy="813816"/>
          </a:xfrm>
          <a:prstGeom prst="rect">
            <a:avLst/>
          </a:prstGeom>
          <a:noFill/>
          <a:ln/>
        </p:spPr>
        <p:txBody>
          <a:bodyPr wrap="square" lIns="0" tIns="0" rIns="0" bIns="0" rtlCol="0" anchor="ctr"/>
          <a:lstStyle/>
          <a:p>
            <a:pPr indent="0" marL="0">
              <a:buNone/>
            </a:pPr>
            <a:r>
              <a:rPr lang="en-US" sz="1050" b="1" dirty="0">
                <a:solidFill>
                  <a:srgbClr val="7A5A10"/>
                </a:solidFill>
                <a:latin typeface="Calibri" pitchFamily="34" charset="0"/>
                <a:ea typeface="Calibri" pitchFamily="34" charset="-122"/>
                <a:cs typeface="Calibri" pitchFamily="34" charset="-120"/>
              </a:rPr>
              <a:t>Xhigh buys +0.095 recall and pays five more false alerts. We retained low — a documented capstone choice, after replacing a preregistered rule that no longer fit.</a:t>
            </a:r>
            <a:endParaRPr lang="en-US" sz="1050" dirty="0"/>
          </a:p>
        </p:txBody>
      </p:sp>
      <p:sp>
        <p:nvSpPr>
          <p:cNvPr id="10" name="Text 6"/>
          <p:cNvSpPr txBox="1"/>
          <p:nvPr/>
        </p:nvSpPr>
        <p:spPr>
          <a:xfrm>
            <a:off x="502920" y="4590288"/>
            <a:ext cx="8138160" cy="274320"/>
          </a:xfrm>
          <a:prstGeom prst="rect">
            <a:avLst/>
          </a:prstGeom>
          <a:noFill/>
          <a:ln/>
        </p:spPr>
        <p:txBody>
          <a:bodyPr wrap="square" lIns="0" tIns="0" rIns="0" bIns="0" rtlCol="0" anchor="ctr"/>
          <a:lstStyle/>
          <a:p>
            <a:pPr indent="0" marL="0">
              <a:buNone/>
            </a:pPr>
            <a:r>
              <a:rPr lang="en-US" sz="950" i="1" dirty="0">
                <a:solidFill>
                  <a:srgbClr val="B5544F"/>
                </a:solidFill>
                <a:latin typeface="Calibri" pitchFamily="34" charset="0"/>
                <a:ea typeface="Calibri" pitchFamily="34" charset="-122"/>
                <a:cs typeface="Calibri" pitchFamily="34" charset="-120"/>
              </a:rPr>
              <a:t>AI-reviewed synthetic development data. This is a capstone contract, not a deployment threshold.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5 · INVESTIGATION 3</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What that operating point produces</a:t>
            </a:r>
            <a:endParaRPr lang="en-US" sz="2600" dirty="0"/>
          </a:p>
        </p:txBody>
      </p:sp>
      <p:sp>
        <p:nvSpPr>
          <p:cNvPr id="5" name="Text 3"/>
          <p:cNvSpPr txBox="1"/>
          <p:nvPr/>
        </p:nvSpPr>
        <p:spPr>
          <a:xfrm>
            <a:off x="502920" y="1243584"/>
            <a:ext cx="8138160" cy="347472"/>
          </a:xfrm>
          <a:prstGeom prst="rect">
            <a:avLst/>
          </a:prstGeom>
          <a:noFill/>
          <a:ln/>
        </p:spPr>
        <p:txBody>
          <a:bodyPr wrap="square" lIns="0" tIns="0" rIns="0" bIns="0" rtlCol="0" anchor="ctr"/>
          <a:lstStyle/>
          <a:p>
            <a:pPr indent="0" marL="0">
              <a:buNone/>
            </a:pPr>
            <a:r>
              <a:rPr lang="en-US" sz="1200" dirty="0">
                <a:solidFill>
                  <a:srgbClr val="1F2433"/>
                </a:solidFill>
                <a:latin typeface="Calibri" pitchFamily="34" charset="0"/>
                <a:ea typeface="Calibri" pitchFamily="34" charset="-122"/>
                <a:cs typeface="Calibri" pitchFamily="34" charset="-120"/>
              </a:rPr>
              <a:t>Coverage of 0.637 is abstract. Insufficient Evidence is what it looks like on screen — and it is the reviewer you are about to see in the demo.</a:t>
            </a:r>
            <a:endParaRPr lang="en-US" sz="1200" dirty="0"/>
          </a:p>
        </p:txBody>
      </p:sp>
      <p:sp>
        <p:nvSpPr>
          <p:cNvPr id="6" name="Shape 4"/>
          <p:cNvSpPr/>
          <p:nvPr/>
        </p:nvSpPr>
        <p:spPr>
          <a:xfrm>
            <a:off x="502920" y="1682496"/>
            <a:ext cx="3909060" cy="2148840"/>
          </a:xfrm>
          <a:prstGeom prst="roundRect">
            <a:avLst>
              <a:gd name="adj" fmla="val 2553"/>
            </a:avLst>
          </a:prstGeom>
          <a:solidFill>
            <a:srgbClr val="F3F4F7"/>
          </a:solidFill>
          <a:ln w="12700">
            <a:solidFill>
              <a:srgbClr val="C9CEDB"/>
            </a:solidFill>
            <a:prstDash val="dash"/>
          </a:ln>
        </p:spPr>
      </p:sp>
      <p:sp>
        <p:nvSpPr>
          <p:cNvPr id="7" name="Text 5"/>
          <p:cNvSpPr txBox="1"/>
          <p:nvPr/>
        </p:nvSpPr>
        <p:spPr>
          <a:xfrm>
            <a:off x="640080" y="2299716"/>
            <a:ext cx="3634740" cy="201168"/>
          </a:xfrm>
          <a:prstGeom prst="rect">
            <a:avLst/>
          </a:prstGeom>
          <a:noFill/>
          <a:ln/>
        </p:spPr>
        <p:txBody>
          <a:bodyPr wrap="square" lIns="0" tIns="0" rIns="0" bIns="0" rtlCol="0" anchor="ctr"/>
          <a:lstStyle/>
          <a:p>
            <a:pPr algn="ctr" indent="0" marL="0">
              <a:buNone/>
            </a:pPr>
            <a:r>
              <a:rPr lang="en-US" sz="900" b="1" spc="140" kern="0" dirty="0">
                <a:solidFill>
                  <a:srgbClr val="6B7280"/>
                </a:solidFill>
                <a:latin typeface="Calibri" pitchFamily="34" charset="0"/>
                <a:ea typeface="Calibri" pitchFamily="34" charset="-122"/>
                <a:cs typeface="Calibri" pitchFamily="34" charset="-120"/>
              </a:rPr>
              <a:t>FIGURE</a:t>
            </a:r>
            <a:endParaRPr lang="en-US" sz="900" dirty="0"/>
          </a:p>
        </p:txBody>
      </p:sp>
      <p:sp>
        <p:nvSpPr>
          <p:cNvPr id="8" name="Text 6"/>
          <p:cNvSpPr txBox="1"/>
          <p:nvPr/>
        </p:nvSpPr>
        <p:spPr>
          <a:xfrm>
            <a:off x="640080" y="2519172"/>
            <a:ext cx="3634740" cy="274320"/>
          </a:xfrm>
          <a:prstGeom prst="rect">
            <a:avLst/>
          </a:prstGeom>
          <a:noFill/>
          <a:ln/>
        </p:spPr>
        <p:txBody>
          <a:bodyPr wrap="square" lIns="0" tIns="0" rIns="0" bIns="0" rtlCol="0" anchor="ctr"/>
          <a:lstStyle/>
          <a:p>
            <a:pPr algn="ctr" indent="0" marL="0">
              <a:buNone/>
            </a:pPr>
            <a:r>
              <a:rPr lang="en-US" sz="1050" b="1" dirty="0">
                <a:solidFill>
                  <a:srgbClr val="2C3A6B"/>
                </a:solidFill>
                <a:latin typeface="Courier New" pitchFamily="34" charset="0"/>
                <a:ea typeface="Courier New" pitchFamily="34" charset="-122"/>
                <a:cs typeface="Courier New" pitchFamily="34" charset="-120"/>
              </a:rPr>
              <a:t>screenshots/reviewer-decision.png</a:t>
            </a:r>
            <a:endParaRPr lang="en-US" sz="1050" dirty="0"/>
          </a:p>
        </p:txBody>
      </p:sp>
      <p:sp>
        <p:nvSpPr>
          <p:cNvPr id="9" name="Text 7"/>
          <p:cNvSpPr txBox="1"/>
          <p:nvPr/>
        </p:nvSpPr>
        <p:spPr>
          <a:xfrm>
            <a:off x="704088" y="2848356"/>
            <a:ext cx="3506724" cy="548640"/>
          </a:xfrm>
          <a:prstGeom prst="rect">
            <a:avLst/>
          </a:prstGeom>
          <a:noFill/>
          <a:ln/>
        </p:spPr>
        <p:txBody>
          <a:bodyPr wrap="square" lIns="0" tIns="0" rIns="0" bIns="0" rtlCol="0" anchor="ctr"/>
          <a:lstStyle/>
          <a:p>
            <a:pPr algn="ctr" indent="0" marL="0">
              <a:buNone/>
            </a:pPr>
            <a:r>
              <a:rPr lang="en-US" sz="950" i="1" dirty="0">
                <a:solidFill>
                  <a:srgbClr val="6B7280"/>
                </a:solidFill>
                <a:latin typeface="Calibri" pitchFamily="34" charset="0"/>
                <a:ea typeface="Calibri" pitchFamily="34" charset="-122"/>
                <a:cs typeface="Calibri" pitchFamily="34" charset="-120"/>
              </a:rPr>
              <a:t>A Weekly Drift Reviewer Decision in Inspect: model, low reasoning effort, Conflict / Not Conflict, and the justification against cited Journal Entries</a:t>
            </a:r>
            <a:endParaRPr lang="en-US" sz="950" dirty="0"/>
          </a:p>
        </p:txBody>
      </p:sp>
      <p:sp>
        <p:nvSpPr>
          <p:cNvPr id="10" name="Shape 8"/>
          <p:cNvSpPr/>
          <p:nvPr/>
        </p:nvSpPr>
        <p:spPr>
          <a:xfrm>
            <a:off x="4732020" y="1682496"/>
            <a:ext cx="3909060" cy="2148840"/>
          </a:xfrm>
          <a:prstGeom prst="roundRect">
            <a:avLst>
              <a:gd name="adj" fmla="val 2553"/>
            </a:avLst>
          </a:prstGeom>
          <a:solidFill>
            <a:srgbClr val="F3F4F7"/>
          </a:solidFill>
          <a:ln w="12700">
            <a:solidFill>
              <a:srgbClr val="C9CEDB"/>
            </a:solidFill>
            <a:prstDash val="dash"/>
          </a:ln>
        </p:spPr>
      </p:sp>
      <p:sp>
        <p:nvSpPr>
          <p:cNvPr id="11" name="Text 9"/>
          <p:cNvSpPr txBox="1"/>
          <p:nvPr/>
        </p:nvSpPr>
        <p:spPr>
          <a:xfrm>
            <a:off x="4869180" y="2299716"/>
            <a:ext cx="3634740" cy="201168"/>
          </a:xfrm>
          <a:prstGeom prst="rect">
            <a:avLst/>
          </a:prstGeom>
          <a:noFill/>
          <a:ln/>
        </p:spPr>
        <p:txBody>
          <a:bodyPr wrap="square" lIns="0" tIns="0" rIns="0" bIns="0" rtlCol="0" anchor="ctr"/>
          <a:lstStyle/>
          <a:p>
            <a:pPr algn="ctr" indent="0" marL="0">
              <a:buNone/>
            </a:pPr>
            <a:r>
              <a:rPr lang="en-US" sz="900" b="1" spc="140" kern="0" dirty="0">
                <a:solidFill>
                  <a:srgbClr val="6B7280"/>
                </a:solidFill>
                <a:latin typeface="Calibri" pitchFamily="34" charset="0"/>
                <a:ea typeface="Calibri" pitchFamily="34" charset="-122"/>
                <a:cs typeface="Calibri" pitchFamily="34" charset="-120"/>
              </a:rPr>
              <a:t>FIGURE</a:t>
            </a:r>
            <a:endParaRPr lang="en-US" sz="900" dirty="0"/>
          </a:p>
        </p:txBody>
      </p:sp>
      <p:sp>
        <p:nvSpPr>
          <p:cNvPr id="12" name="Text 10"/>
          <p:cNvSpPr txBox="1"/>
          <p:nvPr/>
        </p:nvSpPr>
        <p:spPr>
          <a:xfrm>
            <a:off x="4869180" y="2519172"/>
            <a:ext cx="3634740" cy="274320"/>
          </a:xfrm>
          <a:prstGeom prst="rect">
            <a:avLst/>
          </a:prstGeom>
          <a:noFill/>
          <a:ln/>
        </p:spPr>
        <p:txBody>
          <a:bodyPr wrap="square" lIns="0" tIns="0" rIns="0" bIns="0" rtlCol="0" anchor="ctr"/>
          <a:lstStyle/>
          <a:p>
            <a:pPr algn="ctr" indent="0" marL="0">
              <a:buNone/>
            </a:pPr>
            <a:r>
              <a:rPr lang="en-US" sz="1050" b="1" dirty="0">
                <a:solidFill>
                  <a:srgbClr val="2C3A6B"/>
                </a:solidFill>
                <a:latin typeface="Courier New" pitchFamily="34" charset="0"/>
                <a:ea typeface="Courier New" pitchFamily="34" charset="-122"/>
                <a:cs typeface="Courier New" pitchFamily="34" charset="-120"/>
              </a:rPr>
              <a:t>screenshots/insufficient-evidence.png</a:t>
            </a:r>
            <a:endParaRPr lang="en-US" sz="1050" dirty="0"/>
          </a:p>
        </p:txBody>
      </p:sp>
      <p:sp>
        <p:nvSpPr>
          <p:cNvPr id="13" name="Text 11"/>
          <p:cNvSpPr txBox="1"/>
          <p:nvPr/>
        </p:nvSpPr>
        <p:spPr>
          <a:xfrm>
            <a:off x="4933188" y="2848356"/>
            <a:ext cx="3506724" cy="548640"/>
          </a:xfrm>
          <a:prstGeom prst="rect">
            <a:avLst/>
          </a:prstGeom>
          <a:noFill/>
          <a:ln/>
        </p:spPr>
        <p:txBody>
          <a:bodyPr wrap="square" lIns="0" tIns="0" rIns="0" bIns="0" rtlCol="0" anchor="ctr"/>
          <a:lstStyle/>
          <a:p>
            <a:pPr algn="ctr" indent="0" marL="0">
              <a:buNone/>
            </a:pPr>
            <a:r>
              <a:rPr lang="en-US" sz="950" i="1" dirty="0">
                <a:solidFill>
                  <a:srgbClr val="6B7280"/>
                </a:solidFill>
                <a:latin typeface="Calibri" pitchFamily="34" charset="0"/>
                <a:ea typeface="Calibri" pitchFamily="34" charset="-122"/>
                <a:cs typeface="Calibri" pitchFamily="34" charset="-120"/>
              </a:rPr>
              <a:t>An Abstain or failed review resolving to Insufficient Evidence — the fail-closed path the coverage number implies</a:t>
            </a:r>
            <a:endParaRPr lang="en-US" sz="950" dirty="0"/>
          </a:p>
        </p:txBody>
      </p:sp>
      <p:sp>
        <p:nvSpPr>
          <p:cNvPr id="14" name="Shape 12"/>
          <p:cNvSpPr/>
          <p:nvPr/>
        </p:nvSpPr>
        <p:spPr>
          <a:xfrm>
            <a:off x="502920" y="3968496"/>
            <a:ext cx="8138160" cy="548640"/>
          </a:xfrm>
          <a:prstGeom prst="roundRect">
            <a:avLst>
              <a:gd name="adj" fmla="val 10000"/>
            </a:avLst>
          </a:prstGeom>
          <a:solidFill>
            <a:srgbClr val="EDF4F1"/>
          </a:solidFill>
          <a:ln w="12700">
            <a:solidFill>
              <a:srgbClr val="EDF4F1"/>
            </a:solidFill>
            <a:prstDash val="solid"/>
          </a:ln>
        </p:spPr>
      </p:sp>
      <p:sp>
        <p:nvSpPr>
          <p:cNvPr id="15" name="Text 13"/>
          <p:cNvSpPr txBox="1"/>
          <p:nvPr/>
        </p:nvSpPr>
        <p:spPr>
          <a:xfrm>
            <a:off x="740664" y="3968496"/>
            <a:ext cx="7662672" cy="548640"/>
          </a:xfrm>
          <a:prstGeom prst="rect">
            <a:avLst/>
          </a:prstGeom>
          <a:noFill/>
          <a:ln/>
        </p:spPr>
        <p:txBody>
          <a:bodyPr wrap="square" lIns="0" tIns="0" rIns="0" bIns="0" rtlCol="0" anchor="ctr"/>
          <a:lstStyle/>
          <a:p>
            <a:pPr indent="0" marL="0">
              <a:buNone/>
            </a:pPr>
            <a:r>
              <a:rPr lang="en-US" sz="1150" b="1" dirty="0">
                <a:solidFill>
                  <a:srgbClr val="2A6055"/>
                </a:solidFill>
                <a:latin typeface="Calibri" pitchFamily="34" charset="0"/>
                <a:ea typeface="Calibri" pitchFamily="34" charset="-122"/>
                <a:cs typeface="Calibri" pitchFamily="34" charset="-120"/>
              </a:rPr>
              <a:t>A failed review yields Insufficient Evidence. An Abstain or entry gap does so only when it blocks a current claim after recent Conflict evidence.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203F"/>
        </a:solidFill>
      </p:bgPr>
    </p:bg>
    <p:spTree>
      <p:nvGrpSpPr>
        <p:cNvPr id="1" name=""/>
        <p:cNvGrpSpPr/>
        <p:nvPr/>
      </p:nvGrpSpPr>
      <p:grpSpPr>
        <a:xfrm>
          <a:off x="0" y="0"/>
          <a:ext cx="0" cy="0"/>
          <a:chOff x="0" y="0"/>
          <a:chExt cx="0" cy="0"/>
        </a:xfrm>
      </p:grpSpPr>
      <p:sp>
        <p:nvSpPr>
          <p:cNvPr id="2" name="Shape 0"/>
          <p:cNvSpPr/>
          <p:nvPr/>
        </p:nvSpPr>
        <p:spPr>
          <a:xfrm>
            <a:off x="502920" y="1828800"/>
            <a:ext cx="128016" cy="128016"/>
          </a:xfrm>
          <a:prstGeom prst="ellipse">
            <a:avLst/>
          </a:prstGeom>
          <a:solidFill>
            <a:srgbClr val="E0A32E"/>
          </a:solidFill>
          <a:ln/>
        </p:spPr>
      </p:sp>
      <p:sp>
        <p:nvSpPr>
          <p:cNvPr id="3" name="Text 1"/>
          <p:cNvSpPr txBox="1"/>
          <p:nvPr/>
        </p:nvSpPr>
        <p:spPr>
          <a:xfrm>
            <a:off x="740664" y="1737360"/>
            <a:ext cx="8138160" cy="292608"/>
          </a:xfrm>
          <a:prstGeom prst="rect">
            <a:avLst/>
          </a:prstGeom>
          <a:noFill/>
          <a:ln/>
        </p:spPr>
        <p:txBody>
          <a:bodyPr wrap="square" lIns="0" tIns="0" rIns="0" bIns="0" rtlCol="0" anchor="ctr"/>
          <a:lstStyle/>
          <a:p>
            <a:pPr indent="0" marL="0">
              <a:buNone/>
            </a:pPr>
            <a:r>
              <a:rPr lang="en-US" sz="1100" b="1" spc="200" kern="0" dirty="0">
                <a:solidFill>
                  <a:srgbClr val="E0A32E"/>
                </a:solidFill>
                <a:latin typeface="Calibri" pitchFamily="34" charset="0"/>
                <a:ea typeface="Calibri" pitchFamily="34" charset="-122"/>
                <a:cs typeface="Calibri" pitchFamily="34" charset="-120"/>
              </a:rPr>
              <a:t>PART 6 · THE APPLICATION</a:t>
            </a:r>
            <a:endParaRPr lang="en-US" sz="1100" dirty="0"/>
          </a:p>
        </p:txBody>
      </p:sp>
      <p:sp>
        <p:nvSpPr>
          <p:cNvPr id="4" name="Text 2"/>
          <p:cNvSpPr txBox="1"/>
          <p:nvPr/>
        </p:nvSpPr>
        <p:spPr>
          <a:xfrm>
            <a:off x="502920" y="2148840"/>
            <a:ext cx="704088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Live demo</a:t>
            </a:r>
            <a:endParaRPr lang="en-US" sz="3200" dirty="0"/>
          </a:p>
        </p:txBody>
      </p:sp>
      <p:sp>
        <p:nvSpPr>
          <p:cNvPr id="5" name="Text 3"/>
          <p:cNvSpPr txBox="1"/>
          <p:nvPr/>
        </p:nvSpPr>
        <p:spPr>
          <a:xfrm>
            <a:off x="502920" y="3017520"/>
            <a:ext cx="6675120" cy="548640"/>
          </a:xfrm>
          <a:prstGeom prst="rect">
            <a:avLst/>
          </a:prstGeom>
          <a:noFill/>
          <a:ln/>
        </p:spPr>
        <p:txBody>
          <a:bodyPr wrap="square" lIns="0" tIns="0" rIns="0" bIns="0" rtlCol="0" anchor="ctr"/>
          <a:lstStyle/>
          <a:p>
            <a:pPr indent="0" marL="0">
              <a:buNone/>
            </a:pPr>
            <a:r>
              <a:rPr lang="en-US" sz="1300" dirty="0">
                <a:solidFill>
                  <a:srgbClr val="AEB6CF"/>
                </a:solidFill>
                <a:latin typeface="Calibri" pitchFamily="34" charset="0"/>
                <a:ea typeface="Calibri" pitchFamily="34" charset="-122"/>
                <a:cs typeface="Calibri" pitchFamily="34" charset="-120"/>
              </a:rPr>
              <a:t>One traced example: Wei Jun, Universalism — Active Drift, then Inspect</a:t>
            </a:r>
            <a:endParaRPr lang="en-US" sz="1300" dirty="0"/>
          </a:p>
        </p:txBody>
      </p:sp>
      <p:sp>
        <p:nvSpPr>
          <p:cNvPr id="6" name="Text 4"/>
          <p:cNvSpPr txBox="1"/>
          <p:nvPr/>
        </p:nvSpPr>
        <p:spPr>
          <a:xfrm>
            <a:off x="502920" y="3931920"/>
            <a:ext cx="8138160" cy="274320"/>
          </a:xfrm>
          <a:prstGeom prst="rect">
            <a:avLst/>
          </a:prstGeom>
          <a:noFill/>
          <a:ln/>
        </p:spPr>
        <p:txBody>
          <a:bodyPr wrap="square" lIns="0" tIns="0" rIns="0" bIns="0" rtlCol="0" anchor="ctr"/>
          <a:lstStyle/>
          <a:p>
            <a:pPr indent="0" marL="0">
              <a:buNone/>
            </a:pPr>
            <a:r>
              <a:rPr lang="en-US" sz="1100" i="1" dirty="0">
                <a:solidFill>
                  <a:srgbClr val="6E779B"/>
                </a:solidFill>
                <a:latin typeface="Calibri" pitchFamily="34" charset="0"/>
                <a:ea typeface="Calibri" pitchFamily="34" charset="-122"/>
                <a:cs typeface="Calibri" pitchFamily="34" charset="-120"/>
              </a:rPr>
              <a:t>Fallback screenshots follow on the next slides.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4572000"/>
            <a:ext cx="1828800" cy="274320"/>
          </a:xfrm>
          <a:prstGeom prst="rect">
            <a:avLst/>
          </a:prstGeom>
          <a:noFill/>
          <a:ln/>
        </p:spPr>
        <p:txBody>
          <a:bodyPr wrap="square" lIns="0" tIns="0" rIns="0" bIns="0" rtlCol="0" anchor="ctr"/>
          <a:lstStyle/>
          <a:p>
            <a:pPr indent="0" marL="0">
              <a:buNone/>
            </a:pPr>
            <a:r>
              <a:rPr lang="en-US" sz="1000" dirty="0">
                <a:solidFill>
                  <a:srgbClr val="D8DBE4"/>
                </a:solidFill>
                <a:latin typeface="Calibri" pitchFamily="34" charset="0"/>
                <a:ea typeface="Calibri" pitchFamily="34" charset="-122"/>
                <a:cs typeface="Calibri" pitchFamily="34" charset="-120"/>
              </a:rPr>
              <a:t>Demo</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6 · THE APPLICATION</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One traced example</a:t>
            </a:r>
            <a:endParaRPr lang="en-US" sz="2600" dirty="0"/>
          </a:p>
        </p:txBody>
      </p:sp>
      <p:sp>
        <p:nvSpPr>
          <p:cNvPr id="5" name="Shape 3"/>
          <p:cNvSpPr/>
          <p:nvPr/>
        </p:nvSpPr>
        <p:spPr>
          <a:xfrm>
            <a:off x="502920" y="1243584"/>
            <a:ext cx="3977640" cy="475488"/>
          </a:xfrm>
          <a:prstGeom prst="roundRect">
            <a:avLst>
              <a:gd name="adj" fmla="val 11538"/>
            </a:avLst>
          </a:prstGeom>
          <a:solidFill>
            <a:srgbClr val="F3F4F7"/>
          </a:solidFill>
          <a:ln w="12700">
            <a:solidFill>
              <a:srgbClr val="F3F4F7"/>
            </a:solidFill>
            <a:prstDash val="solid"/>
          </a:ln>
        </p:spPr>
      </p:sp>
      <p:sp>
        <p:nvSpPr>
          <p:cNvPr id="6" name="Shape 4"/>
          <p:cNvSpPr/>
          <p:nvPr/>
        </p:nvSpPr>
        <p:spPr>
          <a:xfrm>
            <a:off x="649224" y="1344168"/>
            <a:ext cx="274320" cy="274320"/>
          </a:xfrm>
          <a:prstGeom prst="ellipse">
            <a:avLst/>
          </a:prstGeom>
          <a:solidFill>
            <a:srgbClr val="2C3A6B"/>
          </a:solidFill>
          <a:ln/>
        </p:spPr>
      </p:sp>
      <p:sp>
        <p:nvSpPr>
          <p:cNvPr id="7" name="Text 5"/>
          <p:cNvSpPr txBox="1"/>
          <p:nvPr/>
        </p:nvSpPr>
        <p:spPr>
          <a:xfrm>
            <a:off x="649224" y="1344168"/>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t8</a:t>
            </a:r>
            <a:endParaRPr lang="en-US" sz="950" dirty="0"/>
          </a:p>
        </p:txBody>
      </p:sp>
      <p:sp>
        <p:nvSpPr>
          <p:cNvPr id="8" name="Text 6"/>
          <p:cNvSpPr txBox="1"/>
          <p:nvPr/>
        </p:nvSpPr>
        <p:spPr>
          <a:xfrm>
            <a:off x="1014984" y="1243584"/>
            <a:ext cx="3337560" cy="475488"/>
          </a:xfrm>
          <a:prstGeom prst="rect">
            <a:avLst/>
          </a:prstGeom>
          <a:noFill/>
          <a:ln/>
        </p:spPr>
        <p:txBody>
          <a:bodyPr wrap="square" lIns="0" tIns="0" rIns="0" bIns="0" rtlCol="0" anchor="ctr"/>
          <a:lstStyle/>
          <a:p>
            <a:pPr indent="0" marL="0">
              <a:buNone/>
            </a:pPr>
            <a:r>
              <a:rPr lang="en-US" sz="1050" dirty="0">
                <a:solidFill>
                  <a:srgbClr val="1F2433"/>
                </a:solidFill>
                <a:latin typeface="Calibri" pitchFamily="34" charset="0"/>
                <a:ea typeface="Calibri" pitchFamily="34" charset="-122"/>
                <a:cs typeface="Calibri" pitchFamily="34" charset="-120"/>
              </a:rPr>
              <a:t>Conflict with Universalism</a:t>
            </a:r>
            <a:endParaRPr lang="en-US" sz="1050" dirty="0"/>
          </a:p>
        </p:txBody>
      </p:sp>
      <p:sp>
        <p:nvSpPr>
          <p:cNvPr id="9" name="Shape 7"/>
          <p:cNvSpPr/>
          <p:nvPr/>
        </p:nvSpPr>
        <p:spPr>
          <a:xfrm>
            <a:off x="502920" y="1810512"/>
            <a:ext cx="3977640" cy="475488"/>
          </a:xfrm>
          <a:prstGeom prst="roundRect">
            <a:avLst>
              <a:gd name="adj" fmla="val 11538"/>
            </a:avLst>
          </a:prstGeom>
          <a:solidFill>
            <a:srgbClr val="F3F4F7"/>
          </a:solidFill>
          <a:ln w="12700">
            <a:solidFill>
              <a:srgbClr val="F3F4F7"/>
            </a:solidFill>
            <a:prstDash val="solid"/>
          </a:ln>
        </p:spPr>
      </p:sp>
      <p:sp>
        <p:nvSpPr>
          <p:cNvPr id="10" name="Shape 8"/>
          <p:cNvSpPr/>
          <p:nvPr/>
        </p:nvSpPr>
        <p:spPr>
          <a:xfrm>
            <a:off x="649224" y="1911096"/>
            <a:ext cx="274320" cy="274320"/>
          </a:xfrm>
          <a:prstGeom prst="ellipse">
            <a:avLst/>
          </a:prstGeom>
          <a:solidFill>
            <a:srgbClr val="B5544F"/>
          </a:solidFill>
          <a:ln/>
        </p:spPr>
      </p:sp>
      <p:sp>
        <p:nvSpPr>
          <p:cNvPr id="11" name="Text 9"/>
          <p:cNvSpPr txBox="1"/>
          <p:nvPr/>
        </p:nvSpPr>
        <p:spPr>
          <a:xfrm>
            <a:off x="649224" y="1911096"/>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t9</a:t>
            </a:r>
            <a:endParaRPr lang="en-US" sz="950" dirty="0"/>
          </a:p>
        </p:txBody>
      </p:sp>
      <p:sp>
        <p:nvSpPr>
          <p:cNvPr id="12" name="Text 10"/>
          <p:cNvSpPr txBox="1"/>
          <p:nvPr/>
        </p:nvSpPr>
        <p:spPr>
          <a:xfrm>
            <a:off x="1014984" y="1810512"/>
            <a:ext cx="3337560" cy="475488"/>
          </a:xfrm>
          <a:prstGeom prst="rect">
            <a:avLst/>
          </a:prstGeom>
          <a:noFill/>
          <a:ln/>
        </p:spPr>
        <p:txBody>
          <a:bodyPr wrap="square" lIns="0" tIns="0" rIns="0" bIns="0" rtlCol="0" anchor="ctr"/>
          <a:lstStyle/>
          <a:p>
            <a:pPr indent="0" marL="0">
              <a:buNone/>
            </a:pPr>
            <a:r>
              <a:rPr lang="en-US" sz="1050" dirty="0">
                <a:solidFill>
                  <a:srgbClr val="1F2433"/>
                </a:solidFill>
                <a:latin typeface="Calibri" pitchFamily="34" charset="0"/>
                <a:ea typeface="Calibri" pitchFamily="34" charset="-122"/>
                <a:cs typeface="Calibri" pitchFamily="34" charset="-120"/>
              </a:rPr>
              <a:t>Second consecutive Conflict → Active Drift confirmed, across a week boundary</a:t>
            </a:r>
            <a:endParaRPr lang="en-US" sz="1050" dirty="0"/>
          </a:p>
        </p:txBody>
      </p:sp>
      <p:sp>
        <p:nvSpPr>
          <p:cNvPr id="13" name="Shape 11"/>
          <p:cNvSpPr/>
          <p:nvPr/>
        </p:nvSpPr>
        <p:spPr>
          <a:xfrm>
            <a:off x="502920" y="2377440"/>
            <a:ext cx="3977640" cy="475488"/>
          </a:xfrm>
          <a:prstGeom prst="roundRect">
            <a:avLst>
              <a:gd name="adj" fmla="val 11538"/>
            </a:avLst>
          </a:prstGeom>
          <a:solidFill>
            <a:srgbClr val="F3F4F7"/>
          </a:solidFill>
          <a:ln w="12700">
            <a:solidFill>
              <a:srgbClr val="F3F4F7"/>
            </a:solidFill>
            <a:prstDash val="solid"/>
          </a:ln>
        </p:spPr>
      </p:sp>
      <p:sp>
        <p:nvSpPr>
          <p:cNvPr id="14" name="Shape 12"/>
          <p:cNvSpPr/>
          <p:nvPr/>
        </p:nvSpPr>
        <p:spPr>
          <a:xfrm>
            <a:off x="649224" y="2478024"/>
            <a:ext cx="274320" cy="274320"/>
          </a:xfrm>
          <a:prstGeom prst="ellipse">
            <a:avLst/>
          </a:prstGeom>
          <a:solidFill>
            <a:srgbClr val="B5544F"/>
          </a:solidFill>
          <a:ln/>
        </p:spPr>
      </p:sp>
      <p:sp>
        <p:nvSpPr>
          <p:cNvPr id="15" name="Text 13"/>
          <p:cNvSpPr txBox="1"/>
          <p:nvPr/>
        </p:nvSpPr>
        <p:spPr>
          <a:xfrm>
            <a:off x="649224" y="2478024"/>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t10</a:t>
            </a:r>
            <a:endParaRPr lang="en-US" sz="950" dirty="0"/>
          </a:p>
        </p:txBody>
      </p:sp>
      <p:sp>
        <p:nvSpPr>
          <p:cNvPr id="16" name="Text 14"/>
          <p:cNvSpPr txBox="1"/>
          <p:nvPr/>
        </p:nvSpPr>
        <p:spPr>
          <a:xfrm>
            <a:off x="1014984" y="2377440"/>
            <a:ext cx="3337560" cy="475488"/>
          </a:xfrm>
          <a:prstGeom prst="rect">
            <a:avLst/>
          </a:prstGeom>
          <a:noFill/>
          <a:ln/>
        </p:spPr>
        <p:txBody>
          <a:bodyPr wrap="square" lIns="0" tIns="0" rIns="0" bIns="0" rtlCol="0" anchor="ctr"/>
          <a:lstStyle/>
          <a:p>
            <a:pPr indent="0" marL="0">
              <a:buNone/>
            </a:pPr>
            <a:r>
              <a:rPr lang="en-US" sz="1050" dirty="0">
                <a:solidFill>
                  <a:srgbClr val="1F2433"/>
                </a:solidFill>
                <a:latin typeface="Calibri" pitchFamily="34" charset="0"/>
                <a:ea typeface="Calibri" pitchFamily="34" charset="-122"/>
                <a:cs typeface="Calibri" pitchFamily="34" charset="-120"/>
              </a:rPr>
              <a:t>Third Conflict — run length three</a:t>
            </a:r>
            <a:endParaRPr lang="en-US" sz="1050" dirty="0"/>
          </a:p>
        </p:txBody>
      </p:sp>
      <p:sp>
        <p:nvSpPr>
          <p:cNvPr id="17" name="Text 15"/>
          <p:cNvSpPr txBox="1"/>
          <p:nvPr/>
        </p:nvSpPr>
        <p:spPr>
          <a:xfrm>
            <a:off x="502920" y="2999232"/>
            <a:ext cx="3977640" cy="731520"/>
          </a:xfrm>
          <a:prstGeom prst="rect">
            <a:avLst/>
          </a:prstGeom>
          <a:noFill/>
          <a:ln/>
        </p:spPr>
        <p:txBody>
          <a:bodyPr wrap="square" lIns="0" tIns="0" rIns="0" bIns="0" rtlCol="0" anchor="ctr"/>
          <a:lstStyle/>
          <a:p>
            <a:pPr indent="0" marL="0">
              <a:buNone/>
            </a:pPr>
            <a:r>
              <a:rPr lang="en-US" sz="1100" dirty="0">
                <a:solidFill>
                  <a:srgbClr val="1F2433"/>
                </a:solidFill>
                <a:latin typeface="Calibri" pitchFamily="34" charset="0"/>
                <a:ea typeface="Calibri" pitchFamily="34" charset="-122"/>
                <a:cs typeface="Calibri" pitchFamily="34" charset="-120"/>
              </a:rPr>
              <a:t>Then Inspect shows the model, the reasoning effort, the justifications, the weekly cutoffs, and the Drift Detector state transitions behind that exact result.</a:t>
            </a:r>
            <a:endParaRPr lang="en-US" sz="1100" dirty="0"/>
          </a:p>
        </p:txBody>
      </p:sp>
      <p:sp>
        <p:nvSpPr>
          <p:cNvPr id="18" name="Shape 16"/>
          <p:cNvSpPr/>
          <p:nvPr/>
        </p:nvSpPr>
        <p:spPr>
          <a:xfrm>
            <a:off x="4709160" y="1243584"/>
            <a:ext cx="1874520" cy="2240280"/>
          </a:xfrm>
          <a:prstGeom prst="roundRect">
            <a:avLst>
              <a:gd name="adj" fmla="val 2927"/>
            </a:avLst>
          </a:prstGeom>
          <a:solidFill>
            <a:srgbClr val="F3F4F7"/>
          </a:solidFill>
          <a:ln w="12700">
            <a:solidFill>
              <a:srgbClr val="C9CEDB"/>
            </a:solidFill>
            <a:prstDash val="dash"/>
          </a:ln>
        </p:spPr>
      </p:sp>
      <p:sp>
        <p:nvSpPr>
          <p:cNvPr id="19" name="Text 17"/>
          <p:cNvSpPr txBox="1"/>
          <p:nvPr/>
        </p:nvSpPr>
        <p:spPr>
          <a:xfrm>
            <a:off x="4846320" y="1650492"/>
            <a:ext cx="1600200" cy="201168"/>
          </a:xfrm>
          <a:prstGeom prst="rect">
            <a:avLst/>
          </a:prstGeom>
          <a:noFill/>
          <a:ln/>
        </p:spPr>
        <p:txBody>
          <a:bodyPr wrap="square" lIns="0" tIns="0" rIns="0" bIns="0" rtlCol="0" anchor="ctr"/>
          <a:lstStyle/>
          <a:p>
            <a:pPr algn="ctr" indent="0" marL="0">
              <a:buNone/>
            </a:pPr>
            <a:r>
              <a:rPr lang="en-US" sz="900" b="1" spc="140" kern="0" dirty="0">
                <a:solidFill>
                  <a:srgbClr val="6B7280"/>
                </a:solidFill>
                <a:latin typeface="Calibri" pitchFamily="34" charset="0"/>
                <a:ea typeface="Calibri" pitchFamily="34" charset="-122"/>
                <a:cs typeface="Calibri" pitchFamily="34" charset="-120"/>
              </a:rPr>
              <a:t>FIGURE</a:t>
            </a:r>
            <a:endParaRPr lang="en-US" sz="900" dirty="0"/>
          </a:p>
        </p:txBody>
      </p:sp>
      <p:sp>
        <p:nvSpPr>
          <p:cNvPr id="20" name="Text 18"/>
          <p:cNvSpPr txBox="1"/>
          <p:nvPr/>
        </p:nvSpPr>
        <p:spPr>
          <a:xfrm>
            <a:off x="4846320" y="1869948"/>
            <a:ext cx="1600200" cy="566928"/>
          </a:xfrm>
          <a:prstGeom prst="rect">
            <a:avLst/>
          </a:prstGeom>
          <a:noFill/>
          <a:ln/>
        </p:spPr>
        <p:txBody>
          <a:bodyPr wrap="square" lIns="0" tIns="0" rIns="0" bIns="0" rtlCol="0" anchor="ctr"/>
          <a:lstStyle/>
          <a:p>
            <a:pPr algn="ctr" indent="0" marL="0">
              <a:buNone/>
            </a:pPr>
            <a:r>
              <a:rPr lang="en-US" sz="900" b="1" dirty="0">
                <a:solidFill>
                  <a:srgbClr val="2C3A6B"/>
                </a:solidFill>
                <a:latin typeface="Courier New" pitchFamily="34" charset="0"/>
                <a:ea typeface="Courier New" pitchFamily="34" charset="-122"/>
                <a:cs typeface="Courier New" pitchFamily="34" charset="-120"/>
              </a:rPr>
              <a:t>images/active-drift-experience.png</a:t>
            </a:r>
            <a:endParaRPr lang="en-US" sz="900" dirty="0"/>
          </a:p>
        </p:txBody>
      </p:sp>
      <p:sp>
        <p:nvSpPr>
          <p:cNvPr id="21" name="Text 19"/>
          <p:cNvSpPr txBox="1"/>
          <p:nvPr/>
        </p:nvSpPr>
        <p:spPr>
          <a:xfrm>
            <a:off x="4910328" y="2491740"/>
            <a:ext cx="1472184" cy="548640"/>
          </a:xfrm>
          <a:prstGeom prst="rect">
            <a:avLst/>
          </a:prstGeom>
          <a:noFill/>
          <a:ln/>
        </p:spPr>
        <p:txBody>
          <a:bodyPr wrap="square" lIns="0" tIns="0" rIns="0" bIns="0" rtlCol="0" anchor="ctr"/>
          <a:lstStyle/>
          <a:p>
            <a:pPr algn="ctr" indent="0" marL="0">
              <a:buNone/>
            </a:pPr>
            <a:r>
              <a:rPr lang="en-US" sz="950" i="1" dirty="0">
                <a:solidFill>
                  <a:srgbClr val="6B7280"/>
                </a:solidFill>
                <a:latin typeface="Calibri" pitchFamily="34" charset="0"/>
                <a:ea typeface="Calibri" pitchFamily="34" charset="-122"/>
                <a:cs typeface="Calibri" pitchFamily="34" charset="-120"/>
              </a:rPr>
              <a:t>The weekly Experience</a:t>
            </a:r>
            <a:endParaRPr lang="en-US" sz="950" dirty="0"/>
          </a:p>
        </p:txBody>
      </p:sp>
      <p:sp>
        <p:nvSpPr>
          <p:cNvPr id="22" name="Shape 20"/>
          <p:cNvSpPr/>
          <p:nvPr/>
        </p:nvSpPr>
        <p:spPr>
          <a:xfrm>
            <a:off x="6766560" y="1243584"/>
            <a:ext cx="1874520" cy="2240280"/>
          </a:xfrm>
          <a:prstGeom prst="roundRect">
            <a:avLst>
              <a:gd name="adj" fmla="val 2927"/>
            </a:avLst>
          </a:prstGeom>
          <a:solidFill>
            <a:srgbClr val="F3F4F7"/>
          </a:solidFill>
          <a:ln w="12700">
            <a:solidFill>
              <a:srgbClr val="C9CEDB"/>
            </a:solidFill>
            <a:prstDash val="dash"/>
          </a:ln>
        </p:spPr>
      </p:sp>
      <p:sp>
        <p:nvSpPr>
          <p:cNvPr id="23" name="Text 21"/>
          <p:cNvSpPr txBox="1"/>
          <p:nvPr/>
        </p:nvSpPr>
        <p:spPr>
          <a:xfrm>
            <a:off x="6903720" y="1650492"/>
            <a:ext cx="1600200" cy="201168"/>
          </a:xfrm>
          <a:prstGeom prst="rect">
            <a:avLst/>
          </a:prstGeom>
          <a:noFill/>
          <a:ln/>
        </p:spPr>
        <p:txBody>
          <a:bodyPr wrap="square" lIns="0" tIns="0" rIns="0" bIns="0" rtlCol="0" anchor="ctr"/>
          <a:lstStyle/>
          <a:p>
            <a:pPr algn="ctr" indent="0" marL="0">
              <a:buNone/>
            </a:pPr>
            <a:r>
              <a:rPr lang="en-US" sz="900" b="1" spc="140" kern="0" dirty="0">
                <a:solidFill>
                  <a:srgbClr val="6B7280"/>
                </a:solidFill>
                <a:latin typeface="Calibri" pitchFamily="34" charset="0"/>
                <a:ea typeface="Calibri" pitchFamily="34" charset="-122"/>
                <a:cs typeface="Calibri" pitchFamily="34" charset="-120"/>
              </a:rPr>
              <a:t>FIGURE</a:t>
            </a:r>
            <a:endParaRPr lang="en-US" sz="900" dirty="0"/>
          </a:p>
        </p:txBody>
      </p:sp>
      <p:sp>
        <p:nvSpPr>
          <p:cNvPr id="24" name="Text 22"/>
          <p:cNvSpPr txBox="1"/>
          <p:nvPr/>
        </p:nvSpPr>
        <p:spPr>
          <a:xfrm>
            <a:off x="6903720" y="1869948"/>
            <a:ext cx="1600200" cy="566928"/>
          </a:xfrm>
          <a:prstGeom prst="rect">
            <a:avLst/>
          </a:prstGeom>
          <a:noFill/>
          <a:ln/>
        </p:spPr>
        <p:txBody>
          <a:bodyPr wrap="square" lIns="0" tIns="0" rIns="0" bIns="0" rtlCol="0" anchor="ctr"/>
          <a:lstStyle/>
          <a:p>
            <a:pPr algn="ctr" indent="0" marL="0">
              <a:buNone/>
            </a:pPr>
            <a:r>
              <a:rPr lang="en-US" sz="900" b="1" dirty="0">
                <a:solidFill>
                  <a:srgbClr val="2C3A6B"/>
                </a:solidFill>
                <a:latin typeface="Courier New" pitchFamily="34" charset="0"/>
                <a:ea typeface="Courier New" pitchFamily="34" charset="-122"/>
                <a:cs typeface="Courier New" pitchFamily="34" charset="-120"/>
              </a:rPr>
              <a:t>images/inspect-evidence-trail.png</a:t>
            </a:r>
            <a:endParaRPr lang="en-US" sz="900" dirty="0"/>
          </a:p>
        </p:txBody>
      </p:sp>
      <p:sp>
        <p:nvSpPr>
          <p:cNvPr id="25" name="Text 23"/>
          <p:cNvSpPr txBox="1"/>
          <p:nvPr/>
        </p:nvSpPr>
        <p:spPr>
          <a:xfrm>
            <a:off x="6967728" y="2491740"/>
            <a:ext cx="1472184" cy="548640"/>
          </a:xfrm>
          <a:prstGeom prst="rect">
            <a:avLst/>
          </a:prstGeom>
          <a:noFill/>
          <a:ln/>
        </p:spPr>
        <p:txBody>
          <a:bodyPr wrap="square" lIns="0" tIns="0" rIns="0" bIns="0" rtlCol="0" anchor="ctr"/>
          <a:lstStyle/>
          <a:p>
            <a:pPr algn="ctr" indent="0" marL="0">
              <a:buNone/>
            </a:pPr>
            <a:r>
              <a:rPr lang="en-US" sz="950" i="1" dirty="0">
                <a:solidFill>
                  <a:srgbClr val="6B7280"/>
                </a:solidFill>
                <a:latin typeface="Calibri" pitchFamily="34" charset="0"/>
                <a:ea typeface="Calibri" pitchFamily="34" charset="-122"/>
                <a:cs typeface="Calibri" pitchFamily="34" charset="-120"/>
              </a:rPr>
              <a:t>The Inspect evidence trail</a:t>
            </a:r>
            <a:endParaRPr lang="en-US" sz="950" dirty="0"/>
          </a:p>
        </p:txBody>
      </p:sp>
      <p:sp>
        <p:nvSpPr>
          <p:cNvPr id="26" name="Shape 24"/>
          <p:cNvSpPr/>
          <p:nvPr/>
        </p:nvSpPr>
        <p:spPr>
          <a:xfrm>
            <a:off x="502920" y="4114800"/>
            <a:ext cx="8138160" cy="512064"/>
          </a:xfrm>
          <a:prstGeom prst="roundRect">
            <a:avLst>
              <a:gd name="adj" fmla="val 10714"/>
            </a:avLst>
          </a:prstGeom>
          <a:solidFill>
            <a:srgbClr val="E7ECF7"/>
          </a:solidFill>
          <a:ln w="12700">
            <a:solidFill>
              <a:srgbClr val="E7ECF7"/>
            </a:solidFill>
            <a:prstDash val="solid"/>
          </a:ln>
        </p:spPr>
      </p:sp>
      <p:sp>
        <p:nvSpPr>
          <p:cNvPr id="27" name="Text 25"/>
          <p:cNvSpPr txBox="1"/>
          <p:nvPr/>
        </p:nvSpPr>
        <p:spPr>
          <a:xfrm>
            <a:off x="740664" y="4114800"/>
            <a:ext cx="7662672" cy="512064"/>
          </a:xfrm>
          <a:prstGeom prst="rect">
            <a:avLst/>
          </a:prstGeom>
          <a:noFill/>
          <a:ln/>
        </p:spPr>
        <p:txBody>
          <a:bodyPr wrap="square" lIns="0" tIns="0" rIns="0" bIns="0" rtlCol="0" anchor="ctr"/>
          <a:lstStyle/>
          <a:p>
            <a:pPr indent="0" marL="0">
              <a:buNone/>
            </a:pPr>
            <a:r>
              <a:rPr lang="en-US" sz="1150" b="1" dirty="0">
                <a:solidFill>
                  <a:srgbClr val="2C3A6B"/>
                </a:solidFill>
                <a:latin typeface="Calibri" pitchFamily="34" charset="0"/>
                <a:ea typeface="Calibri" pitchFamily="34" charset="-122"/>
                <a:cs typeface="Calibri" pitchFamily="34" charset="-120"/>
              </a:rPr>
              <a:t>Nothing on this screen is asserted without a link back to a recorded entry, prompt, response, or validation.</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6 · THE APPLICATION</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Coach Digest, and what verifies the application</a:t>
            </a:r>
            <a:endParaRPr lang="en-US" sz="2600" dirty="0"/>
          </a:p>
        </p:txBody>
      </p:sp>
      <p:sp>
        <p:nvSpPr>
          <p:cNvPr id="5" name="Shape 3"/>
          <p:cNvSpPr/>
          <p:nvPr/>
        </p:nvSpPr>
        <p:spPr>
          <a:xfrm>
            <a:off x="502920" y="1243584"/>
            <a:ext cx="3909060" cy="1700784"/>
          </a:xfrm>
          <a:prstGeom prst="roundRect">
            <a:avLst>
              <a:gd name="adj" fmla="val 3226"/>
            </a:avLst>
          </a:prstGeom>
          <a:solidFill>
            <a:srgbClr val="F3F4F7"/>
          </a:solidFill>
          <a:ln w="12700">
            <a:solidFill>
              <a:srgbClr val="F3F4F7"/>
            </a:solidFill>
            <a:prstDash val="solid"/>
          </a:ln>
        </p:spPr>
      </p:sp>
      <p:sp>
        <p:nvSpPr>
          <p:cNvPr id="6" name="Text 4"/>
          <p:cNvSpPr txBox="1"/>
          <p:nvPr/>
        </p:nvSpPr>
        <p:spPr>
          <a:xfrm>
            <a:off x="722376" y="1371600"/>
            <a:ext cx="3470148" cy="256032"/>
          </a:xfrm>
          <a:prstGeom prst="rect">
            <a:avLst/>
          </a:prstGeom>
          <a:noFill/>
          <a:ln/>
        </p:spPr>
        <p:txBody>
          <a:bodyPr wrap="square" lIns="0" tIns="0" rIns="0" bIns="0" rtlCol="0" anchor="ctr"/>
          <a:lstStyle/>
          <a:p>
            <a:pPr indent="0" marL="0">
              <a:buNone/>
            </a:pPr>
            <a:r>
              <a:rPr lang="en-US" sz="1400" b="1" dirty="0">
                <a:solidFill>
                  <a:srgbClr val="17203F"/>
                </a:solidFill>
                <a:latin typeface="Cambria" pitchFamily="34" charset="0"/>
                <a:ea typeface="Cambria" pitchFamily="34" charset="-122"/>
                <a:cs typeface="Cambria" pitchFamily="34" charset="-120"/>
              </a:rPr>
              <a:t>Coach Digest — five saved responses</a:t>
            </a:r>
            <a:endParaRPr lang="en-US" sz="1400" dirty="0"/>
          </a:p>
        </p:txBody>
      </p:sp>
      <p:sp>
        <p:nvSpPr>
          <p:cNvPr id="7" name="Text 5"/>
          <p:cNvSpPr txBox="1"/>
          <p:nvPr/>
        </p:nvSpPr>
        <p:spPr>
          <a:xfrm>
            <a:off x="722376" y="1719072"/>
            <a:ext cx="867537" cy="329184"/>
          </a:xfrm>
          <a:prstGeom prst="rect">
            <a:avLst/>
          </a:prstGeom>
          <a:noFill/>
          <a:ln/>
        </p:spPr>
        <p:txBody>
          <a:bodyPr wrap="square" lIns="0" tIns="0" rIns="0" bIns="0" rtlCol="0" anchor="ctr"/>
          <a:lstStyle/>
          <a:p>
            <a:pPr indent="0" marL="0">
              <a:buNone/>
            </a:pPr>
            <a:r>
              <a:rPr lang="en-US" sz="1800" b="1" dirty="0">
                <a:solidFill>
                  <a:srgbClr val="2C3A6B"/>
                </a:solidFill>
                <a:latin typeface="Cambria" pitchFamily="34" charset="0"/>
                <a:ea typeface="Cambria" pitchFamily="34" charset="-122"/>
                <a:cs typeface="Cambria" pitchFamily="34" charset="-120"/>
              </a:rPr>
              <a:t>4.80</a:t>
            </a:r>
            <a:endParaRPr lang="en-US" sz="1800" dirty="0"/>
          </a:p>
        </p:txBody>
      </p:sp>
      <p:sp>
        <p:nvSpPr>
          <p:cNvPr id="8" name="Text 6"/>
          <p:cNvSpPr txBox="1"/>
          <p:nvPr/>
        </p:nvSpPr>
        <p:spPr>
          <a:xfrm>
            <a:off x="722376" y="2048256"/>
            <a:ext cx="821817"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correctness</a:t>
            </a:r>
            <a:endParaRPr lang="en-US" sz="850" dirty="0"/>
          </a:p>
        </p:txBody>
      </p:sp>
      <p:sp>
        <p:nvSpPr>
          <p:cNvPr id="9" name="Text 7"/>
          <p:cNvSpPr txBox="1"/>
          <p:nvPr/>
        </p:nvSpPr>
        <p:spPr>
          <a:xfrm>
            <a:off x="1589913" y="1719072"/>
            <a:ext cx="867537" cy="329184"/>
          </a:xfrm>
          <a:prstGeom prst="rect">
            <a:avLst/>
          </a:prstGeom>
          <a:noFill/>
          <a:ln/>
        </p:spPr>
        <p:txBody>
          <a:bodyPr wrap="square" lIns="0" tIns="0" rIns="0" bIns="0" rtlCol="0" anchor="ctr"/>
          <a:lstStyle/>
          <a:p>
            <a:pPr indent="0" marL="0">
              <a:buNone/>
            </a:pPr>
            <a:r>
              <a:rPr lang="en-US" sz="1800" b="1" dirty="0">
                <a:solidFill>
                  <a:srgbClr val="2C3A6B"/>
                </a:solidFill>
                <a:latin typeface="Cambria" pitchFamily="34" charset="0"/>
                <a:ea typeface="Cambria" pitchFamily="34" charset="-122"/>
                <a:cs typeface="Cambria" pitchFamily="34" charset="-120"/>
              </a:rPr>
              <a:t>5.00</a:t>
            </a:r>
            <a:endParaRPr lang="en-US" sz="1800" dirty="0"/>
          </a:p>
        </p:txBody>
      </p:sp>
      <p:sp>
        <p:nvSpPr>
          <p:cNvPr id="10" name="Text 8"/>
          <p:cNvSpPr txBox="1"/>
          <p:nvPr/>
        </p:nvSpPr>
        <p:spPr>
          <a:xfrm>
            <a:off x="1589913" y="2048256"/>
            <a:ext cx="821817"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specificity</a:t>
            </a:r>
            <a:endParaRPr lang="en-US" sz="850" dirty="0"/>
          </a:p>
        </p:txBody>
      </p:sp>
      <p:sp>
        <p:nvSpPr>
          <p:cNvPr id="11" name="Text 9"/>
          <p:cNvSpPr txBox="1"/>
          <p:nvPr/>
        </p:nvSpPr>
        <p:spPr>
          <a:xfrm>
            <a:off x="2457450" y="1719072"/>
            <a:ext cx="867537" cy="329184"/>
          </a:xfrm>
          <a:prstGeom prst="rect">
            <a:avLst/>
          </a:prstGeom>
          <a:noFill/>
          <a:ln/>
        </p:spPr>
        <p:txBody>
          <a:bodyPr wrap="square" lIns="0" tIns="0" rIns="0" bIns="0" rtlCol="0" anchor="ctr"/>
          <a:lstStyle/>
          <a:p>
            <a:pPr indent="0" marL="0">
              <a:buNone/>
            </a:pPr>
            <a:r>
              <a:rPr lang="en-US" sz="1800" b="1" dirty="0">
                <a:solidFill>
                  <a:srgbClr val="2C3A6B"/>
                </a:solidFill>
                <a:latin typeface="Cambria" pitchFamily="34" charset="0"/>
                <a:ea typeface="Cambria" pitchFamily="34" charset="-122"/>
                <a:cs typeface="Cambria" pitchFamily="34" charset="-120"/>
              </a:rPr>
              <a:t>5.00</a:t>
            </a:r>
            <a:endParaRPr lang="en-US" sz="1800" dirty="0"/>
          </a:p>
        </p:txBody>
      </p:sp>
      <p:sp>
        <p:nvSpPr>
          <p:cNvPr id="12" name="Text 10"/>
          <p:cNvSpPr txBox="1"/>
          <p:nvPr/>
        </p:nvSpPr>
        <p:spPr>
          <a:xfrm>
            <a:off x="2457450" y="2048256"/>
            <a:ext cx="821817"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non-prescriptive</a:t>
            </a:r>
            <a:endParaRPr lang="en-US" sz="850" dirty="0"/>
          </a:p>
        </p:txBody>
      </p:sp>
      <p:sp>
        <p:nvSpPr>
          <p:cNvPr id="13" name="Text 11"/>
          <p:cNvSpPr txBox="1"/>
          <p:nvPr/>
        </p:nvSpPr>
        <p:spPr>
          <a:xfrm>
            <a:off x="3324987" y="1719072"/>
            <a:ext cx="867537" cy="329184"/>
          </a:xfrm>
          <a:prstGeom prst="rect">
            <a:avLst/>
          </a:prstGeom>
          <a:noFill/>
          <a:ln/>
        </p:spPr>
        <p:txBody>
          <a:bodyPr wrap="square" lIns="0" tIns="0" rIns="0" bIns="0" rtlCol="0" anchor="ctr"/>
          <a:lstStyle/>
          <a:p>
            <a:pPr indent="0" marL="0">
              <a:buNone/>
            </a:pPr>
            <a:r>
              <a:rPr lang="en-US" sz="1800" b="1" dirty="0">
                <a:solidFill>
                  <a:srgbClr val="2C3A6B"/>
                </a:solidFill>
                <a:latin typeface="Cambria" pitchFamily="34" charset="0"/>
                <a:ea typeface="Cambria" pitchFamily="34" charset="-122"/>
                <a:cs typeface="Cambria" pitchFamily="34" charset="-120"/>
              </a:rPr>
              <a:t>4.60</a:t>
            </a:r>
            <a:endParaRPr lang="en-US" sz="1800" dirty="0"/>
          </a:p>
        </p:txBody>
      </p:sp>
      <p:sp>
        <p:nvSpPr>
          <p:cNvPr id="14" name="Text 12"/>
          <p:cNvSpPr txBox="1"/>
          <p:nvPr/>
        </p:nvSpPr>
        <p:spPr>
          <a:xfrm>
            <a:off x="3324987" y="2048256"/>
            <a:ext cx="821817"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tension honesty</a:t>
            </a:r>
            <a:endParaRPr lang="en-US" sz="850" dirty="0"/>
          </a:p>
        </p:txBody>
      </p:sp>
      <p:sp>
        <p:nvSpPr>
          <p:cNvPr id="15" name="Text 13"/>
          <p:cNvSpPr txBox="1"/>
          <p:nvPr/>
        </p:nvSpPr>
        <p:spPr>
          <a:xfrm>
            <a:off x="722376" y="2340864"/>
            <a:ext cx="3470148" cy="411480"/>
          </a:xfrm>
          <a:prstGeom prst="rect">
            <a:avLst/>
          </a:prstGeom>
          <a:noFill/>
          <a:ln/>
        </p:spPr>
        <p:txBody>
          <a:bodyPr wrap="square" lIns="0" tIns="0" rIns="0" bIns="0" rtlCol="0" anchor="ctr"/>
          <a:lstStyle/>
          <a:p>
            <a:pPr indent="0" marL="0">
              <a:buNone/>
            </a:pPr>
            <a:r>
              <a:rPr lang="en-US" sz="1050" b="1" dirty="0">
                <a:solidFill>
                  <a:srgbClr val="B5544F"/>
                </a:solidFill>
                <a:latin typeface="Calibri" pitchFamily="34" charset="0"/>
                <a:ea typeface="Calibri" pitchFamily="34" charset="-122"/>
                <a:cs typeface="Calibri" pitchFamily="34" charset="-120"/>
              </a:rPr>
              <a:t>All five passed the Coach Digest Validations. Five same-model reviews — this is a calibration target, not an error rate.</a:t>
            </a:r>
            <a:endParaRPr lang="en-US" sz="1050" dirty="0"/>
          </a:p>
        </p:txBody>
      </p:sp>
      <p:sp>
        <p:nvSpPr>
          <p:cNvPr id="16" name="Shape 14"/>
          <p:cNvSpPr/>
          <p:nvPr/>
        </p:nvSpPr>
        <p:spPr>
          <a:xfrm>
            <a:off x="4732020" y="1243584"/>
            <a:ext cx="3909060" cy="1700784"/>
          </a:xfrm>
          <a:prstGeom prst="roundRect">
            <a:avLst>
              <a:gd name="adj" fmla="val 3226"/>
            </a:avLst>
          </a:prstGeom>
          <a:solidFill>
            <a:srgbClr val="E7ECF7"/>
          </a:solidFill>
          <a:ln w="12700">
            <a:solidFill>
              <a:srgbClr val="E7ECF7"/>
            </a:solidFill>
            <a:prstDash val="solid"/>
          </a:ln>
        </p:spPr>
      </p:sp>
      <p:sp>
        <p:nvSpPr>
          <p:cNvPr id="17" name="Text 15"/>
          <p:cNvSpPr txBox="1"/>
          <p:nvPr/>
        </p:nvSpPr>
        <p:spPr>
          <a:xfrm>
            <a:off x="4951476" y="1371600"/>
            <a:ext cx="3470148" cy="256032"/>
          </a:xfrm>
          <a:prstGeom prst="rect">
            <a:avLst/>
          </a:prstGeom>
          <a:noFill/>
          <a:ln/>
        </p:spPr>
        <p:txBody>
          <a:bodyPr wrap="square" lIns="0" tIns="0" rIns="0" bIns="0" rtlCol="0" anchor="ctr"/>
          <a:lstStyle/>
          <a:p>
            <a:pPr indent="0" marL="0">
              <a:buNone/>
            </a:pPr>
            <a:r>
              <a:rPr lang="en-US" sz="1400" b="1" dirty="0">
                <a:solidFill>
                  <a:srgbClr val="17203F"/>
                </a:solidFill>
                <a:latin typeface="Cambria" pitchFamily="34" charset="0"/>
                <a:ea typeface="Cambria" pitchFamily="34" charset="-122"/>
                <a:cs typeface="Cambria" pitchFamily="34" charset="-120"/>
              </a:rPr>
              <a:t>Verification behind the demo</a:t>
            </a:r>
            <a:endParaRPr lang="en-US" sz="1400" dirty="0"/>
          </a:p>
        </p:txBody>
      </p:sp>
      <p:sp>
        <p:nvSpPr>
          <p:cNvPr id="18" name="Text 16"/>
          <p:cNvSpPr txBox="1"/>
          <p:nvPr/>
        </p:nvSpPr>
        <p:spPr>
          <a:xfrm>
            <a:off x="4951476" y="1700784"/>
            <a:ext cx="3470148" cy="10058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F2433"/>
                </a:solidFill>
                <a:latin typeface="Calibri" pitchFamily="34" charset="0"/>
                <a:ea typeface="Calibri" pitchFamily="34" charset="-122"/>
                <a:cs typeface="Calibri" pitchFamily="34" charset="-120"/>
              </a:rPr>
              <a:t>2,111 passing Python tests</a:t>
            </a:r>
            <a:endParaRPr lang="en-US" sz="1150" dirty="0"/>
          </a:p>
          <a:p>
            <a:pPr marL="342900" indent="-342900">
              <a:spcAft>
                <a:spcPts val="400"/>
              </a:spcAft>
              <a:buSzPct val="100000"/>
              <a:buChar char="•"/>
            </a:pPr>
            <a:r>
              <a:rPr lang="en-US" sz="1150" dirty="0">
                <a:solidFill>
                  <a:srgbClr val="1F2433"/>
                </a:solidFill>
                <a:latin typeface="Calibri" pitchFamily="34" charset="0"/>
                <a:ea typeface="Calibri" pitchFamily="34" charset="-122"/>
                <a:cs typeface="Calibri" pitchFamily="34" charset="-120"/>
              </a:rPr>
              <a:t>385 passing React tests across 24 files</a:t>
            </a:r>
            <a:endParaRPr lang="en-US" sz="1150" dirty="0"/>
          </a:p>
          <a:p>
            <a:pPr marL="342900" indent="-342900">
              <a:spcAft>
                <a:spcPts val="400"/>
              </a:spcAft>
              <a:buSzPct val="100000"/>
              <a:buChar char="•"/>
            </a:pPr>
            <a:r>
              <a:rPr lang="en-US" sz="1150" dirty="0">
                <a:solidFill>
                  <a:srgbClr val="1F2433"/>
                </a:solidFill>
                <a:latin typeface="Calibri" pitchFamily="34" charset="0"/>
                <a:ea typeface="Calibri" pitchFamily="34" charset="-122"/>
                <a:cs typeface="Calibri" pitchFamily="34" charset="-120"/>
              </a:rPr>
              <a:t>Two Chromium journeys; build, lint, type checks</a:t>
            </a:r>
            <a:endParaRPr lang="en-US" sz="1150" dirty="0"/>
          </a:p>
        </p:txBody>
      </p:sp>
      <p:sp>
        <p:nvSpPr>
          <p:cNvPr id="19" name="Shape 17"/>
          <p:cNvSpPr/>
          <p:nvPr/>
        </p:nvSpPr>
        <p:spPr>
          <a:xfrm>
            <a:off x="502920" y="3090672"/>
            <a:ext cx="2578608" cy="786384"/>
          </a:xfrm>
          <a:prstGeom prst="roundRect">
            <a:avLst>
              <a:gd name="adj" fmla="val 6977"/>
            </a:avLst>
          </a:prstGeom>
          <a:solidFill>
            <a:srgbClr val="F3F4F7"/>
          </a:solidFill>
          <a:ln w="12700">
            <a:solidFill>
              <a:srgbClr val="F3F4F7"/>
            </a:solidFill>
            <a:prstDash val="solid"/>
          </a:ln>
        </p:spPr>
      </p:sp>
      <p:sp>
        <p:nvSpPr>
          <p:cNvPr id="20" name="Shape 18"/>
          <p:cNvSpPr/>
          <p:nvPr/>
        </p:nvSpPr>
        <p:spPr>
          <a:xfrm>
            <a:off x="685800" y="3282696"/>
            <a:ext cx="91440" cy="91440"/>
          </a:xfrm>
          <a:prstGeom prst="ellipse">
            <a:avLst/>
          </a:prstGeom>
          <a:solidFill>
            <a:srgbClr val="2F8F7E"/>
          </a:solidFill>
          <a:ln/>
        </p:spPr>
      </p:sp>
      <p:sp>
        <p:nvSpPr>
          <p:cNvPr id="21" name="Text 19"/>
          <p:cNvSpPr txBox="1"/>
          <p:nvPr/>
        </p:nvSpPr>
        <p:spPr>
          <a:xfrm>
            <a:off x="841248" y="3200400"/>
            <a:ext cx="2075688" cy="256032"/>
          </a:xfrm>
          <a:prstGeom prst="rect">
            <a:avLst/>
          </a:prstGeom>
          <a:noFill/>
          <a:ln/>
        </p:spPr>
        <p:txBody>
          <a:bodyPr wrap="square" lIns="0" tIns="0" rIns="0" bIns="0" rtlCol="0" anchor="ctr"/>
          <a:lstStyle/>
          <a:p>
            <a:pPr indent="0" marL="0">
              <a:buNone/>
            </a:pPr>
            <a:r>
              <a:rPr lang="en-US" sz="1100" b="1" dirty="0">
                <a:solidFill>
                  <a:srgbClr val="17203F"/>
                </a:solidFill>
                <a:latin typeface="Calibri" pitchFamily="34" charset="0"/>
                <a:ea typeface="Calibri" pitchFamily="34" charset="-122"/>
                <a:cs typeface="Calibri" pitchFamily="34" charset="-120"/>
              </a:rPr>
              <a:t>Hash-checked replays</a:t>
            </a:r>
            <a:endParaRPr lang="en-US" sz="1100" dirty="0"/>
          </a:p>
        </p:txBody>
      </p:sp>
      <p:sp>
        <p:nvSpPr>
          <p:cNvPr id="22" name="Text 20"/>
          <p:cNvSpPr txBox="1"/>
          <p:nvPr/>
        </p:nvSpPr>
        <p:spPr>
          <a:xfrm>
            <a:off x="685800" y="3474720"/>
            <a:ext cx="2212848" cy="347472"/>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Five bundles, with no-future-data projection</a:t>
            </a:r>
            <a:endParaRPr lang="en-US" sz="950" dirty="0"/>
          </a:p>
        </p:txBody>
      </p:sp>
      <p:sp>
        <p:nvSpPr>
          <p:cNvPr id="23" name="Shape 21"/>
          <p:cNvSpPr/>
          <p:nvPr/>
        </p:nvSpPr>
        <p:spPr>
          <a:xfrm>
            <a:off x="3282696" y="3090672"/>
            <a:ext cx="2578608" cy="786384"/>
          </a:xfrm>
          <a:prstGeom prst="roundRect">
            <a:avLst>
              <a:gd name="adj" fmla="val 6977"/>
            </a:avLst>
          </a:prstGeom>
          <a:solidFill>
            <a:srgbClr val="F3F4F7"/>
          </a:solidFill>
          <a:ln w="12700">
            <a:solidFill>
              <a:srgbClr val="F3F4F7"/>
            </a:solidFill>
            <a:prstDash val="solid"/>
          </a:ln>
        </p:spPr>
      </p:sp>
      <p:sp>
        <p:nvSpPr>
          <p:cNvPr id="24" name="Shape 22"/>
          <p:cNvSpPr/>
          <p:nvPr/>
        </p:nvSpPr>
        <p:spPr>
          <a:xfrm>
            <a:off x="3465576" y="3282696"/>
            <a:ext cx="91440" cy="91440"/>
          </a:xfrm>
          <a:prstGeom prst="ellipse">
            <a:avLst/>
          </a:prstGeom>
          <a:solidFill>
            <a:srgbClr val="2F8F7E"/>
          </a:solidFill>
          <a:ln/>
        </p:spPr>
      </p:sp>
      <p:sp>
        <p:nvSpPr>
          <p:cNvPr id="25" name="Text 23"/>
          <p:cNvSpPr txBox="1"/>
          <p:nvPr/>
        </p:nvSpPr>
        <p:spPr>
          <a:xfrm>
            <a:off x="3621024" y="3200400"/>
            <a:ext cx="2075688" cy="256032"/>
          </a:xfrm>
          <a:prstGeom prst="rect">
            <a:avLst/>
          </a:prstGeom>
          <a:noFill/>
          <a:ln/>
        </p:spPr>
        <p:txBody>
          <a:bodyPr wrap="square" lIns="0" tIns="0" rIns="0" bIns="0" rtlCol="0" anchor="ctr"/>
          <a:lstStyle/>
          <a:p>
            <a:pPr indent="0" marL="0">
              <a:buNone/>
            </a:pPr>
            <a:r>
              <a:rPr lang="en-US" sz="1100" b="1" dirty="0">
                <a:solidFill>
                  <a:srgbClr val="17203F"/>
                </a:solidFill>
                <a:latin typeface="Calibri" pitchFamily="34" charset="0"/>
                <a:ea typeface="Calibri" pitchFamily="34" charset="-122"/>
                <a:cs typeface="Calibri" pitchFamily="34" charset="-120"/>
              </a:rPr>
              <a:t>Fail-closed validation</a:t>
            </a:r>
            <a:endParaRPr lang="en-US" sz="1100" dirty="0"/>
          </a:p>
        </p:txBody>
      </p:sp>
      <p:sp>
        <p:nvSpPr>
          <p:cNvPr id="26" name="Text 24"/>
          <p:cNvSpPr txBox="1"/>
          <p:nvPr/>
        </p:nvSpPr>
        <p:spPr>
          <a:xfrm>
            <a:off x="3465576" y="3474720"/>
            <a:ext cx="2212848" cy="347472"/>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Invalid model output is withheld, not displayed</a:t>
            </a:r>
            <a:endParaRPr lang="en-US" sz="950" dirty="0"/>
          </a:p>
        </p:txBody>
      </p:sp>
      <p:sp>
        <p:nvSpPr>
          <p:cNvPr id="27" name="Shape 25"/>
          <p:cNvSpPr/>
          <p:nvPr/>
        </p:nvSpPr>
        <p:spPr>
          <a:xfrm>
            <a:off x="6062472" y="3090672"/>
            <a:ext cx="2578608" cy="786384"/>
          </a:xfrm>
          <a:prstGeom prst="roundRect">
            <a:avLst>
              <a:gd name="adj" fmla="val 6977"/>
            </a:avLst>
          </a:prstGeom>
          <a:solidFill>
            <a:srgbClr val="F3F4F7"/>
          </a:solidFill>
          <a:ln w="12700">
            <a:solidFill>
              <a:srgbClr val="F3F4F7"/>
            </a:solidFill>
            <a:prstDash val="solid"/>
          </a:ln>
        </p:spPr>
      </p:sp>
      <p:sp>
        <p:nvSpPr>
          <p:cNvPr id="28" name="Shape 26"/>
          <p:cNvSpPr/>
          <p:nvPr/>
        </p:nvSpPr>
        <p:spPr>
          <a:xfrm>
            <a:off x="6245352" y="3282696"/>
            <a:ext cx="91440" cy="91440"/>
          </a:xfrm>
          <a:prstGeom prst="ellipse">
            <a:avLst/>
          </a:prstGeom>
          <a:solidFill>
            <a:srgbClr val="2F8F7E"/>
          </a:solidFill>
          <a:ln/>
        </p:spPr>
      </p:sp>
      <p:sp>
        <p:nvSpPr>
          <p:cNvPr id="29" name="Text 27"/>
          <p:cNvSpPr txBox="1"/>
          <p:nvPr/>
        </p:nvSpPr>
        <p:spPr>
          <a:xfrm>
            <a:off x="6400800" y="3200400"/>
            <a:ext cx="2075688" cy="256032"/>
          </a:xfrm>
          <a:prstGeom prst="rect">
            <a:avLst/>
          </a:prstGeom>
          <a:noFill/>
          <a:ln/>
        </p:spPr>
        <p:txBody>
          <a:bodyPr wrap="square" lIns="0" tIns="0" rIns="0" bIns="0" rtlCol="0" anchor="ctr"/>
          <a:lstStyle/>
          <a:p>
            <a:pPr indent="0" marL="0">
              <a:buNone/>
            </a:pPr>
            <a:r>
              <a:rPr lang="en-US" sz="1100" b="1" dirty="0">
                <a:solidFill>
                  <a:srgbClr val="17203F"/>
                </a:solidFill>
                <a:latin typeface="Calibri" pitchFamily="34" charset="0"/>
                <a:ea typeface="Calibri" pitchFamily="34" charset="-122"/>
                <a:cs typeface="Calibri" pitchFamily="34" charset="-120"/>
              </a:rPr>
              <a:t>Confirmed deletion</a:t>
            </a:r>
            <a:endParaRPr lang="en-US" sz="1100" dirty="0"/>
          </a:p>
        </p:txBody>
      </p:sp>
      <p:sp>
        <p:nvSpPr>
          <p:cNvPr id="30" name="Text 28"/>
          <p:cNvSpPr txBox="1"/>
          <p:nvPr/>
        </p:nvSpPr>
        <p:spPr>
          <a:xfrm>
            <a:off x="6245352" y="3474720"/>
            <a:ext cx="2212848" cy="347472"/>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Browser state and the matching Python session</a:t>
            </a:r>
            <a:endParaRPr lang="en-US" sz="950" dirty="0"/>
          </a:p>
        </p:txBody>
      </p:sp>
      <p:sp>
        <p:nvSpPr>
          <p:cNvPr id="31" name="Shape 29"/>
          <p:cNvSpPr/>
          <p:nvPr/>
        </p:nvSpPr>
        <p:spPr>
          <a:xfrm>
            <a:off x="502920" y="4041648"/>
            <a:ext cx="8138160" cy="548640"/>
          </a:xfrm>
          <a:prstGeom prst="roundRect">
            <a:avLst>
              <a:gd name="adj" fmla="val 10000"/>
            </a:avLst>
          </a:prstGeom>
          <a:solidFill>
            <a:srgbClr val="F7EFEF"/>
          </a:solidFill>
          <a:ln w="12700">
            <a:solidFill>
              <a:srgbClr val="F7EFEF"/>
            </a:solidFill>
            <a:prstDash val="solid"/>
          </a:ln>
        </p:spPr>
      </p:sp>
      <p:sp>
        <p:nvSpPr>
          <p:cNvPr id="32" name="Text 30"/>
          <p:cNvSpPr txBox="1"/>
          <p:nvPr/>
        </p:nvSpPr>
        <p:spPr>
          <a:xfrm>
            <a:off x="740664" y="4041648"/>
            <a:ext cx="7662672" cy="548640"/>
          </a:xfrm>
          <a:prstGeom prst="rect">
            <a:avLst/>
          </a:prstGeom>
          <a:noFill/>
          <a:ln/>
        </p:spPr>
        <p:txBody>
          <a:bodyPr wrap="square" lIns="0" tIns="0" rIns="0" bIns="0" rtlCol="0" anchor="ctr"/>
          <a:lstStyle/>
          <a:p>
            <a:pPr indent="0" marL="0">
              <a:buNone/>
            </a:pPr>
            <a:r>
              <a:rPr lang="en-US" sz="1150" b="1" dirty="0">
                <a:solidFill>
                  <a:srgbClr val="8A4A45"/>
                </a:solidFill>
                <a:latin typeface="Calibri" pitchFamily="34" charset="0"/>
                <a:ea typeface="Calibri" pitchFamily="34" charset="-122"/>
                <a:cs typeface="Calibri" pitchFamily="34" charset="-120"/>
              </a:rPr>
              <a:t>The ceiling, immediately: this establishes implemented and inspectable behaviour. Not usability, not load reliability, not deployment readiness.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7 · LIMITATIONS</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Not every value is equally detectable</a:t>
            </a:r>
            <a:endParaRPr lang="en-US" sz="2600" dirty="0"/>
          </a:p>
        </p:txBody>
      </p:sp>
      <p:graphicFrame>
        <p:nvGraphicFramePr>
          <p:cNvPr id="5" name="Chart 0" descr=""/>
          <p:cNvGraphicFramePr/>
          <p:nvPr/>
        </p:nvGraphicFramePr>
        <p:xfrm>
          <a:off x="502920" y="1243584"/>
          <a:ext cx="5029200" cy="26517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15000" y="1335024"/>
            <a:ext cx="91440" cy="91440"/>
          </a:xfrm>
          <a:prstGeom prst="ellipse">
            <a:avLst/>
          </a:prstGeom>
          <a:solidFill>
            <a:srgbClr val="B5544F"/>
          </a:solidFill>
          <a:ln/>
        </p:spPr>
      </p:sp>
      <p:sp>
        <p:nvSpPr>
          <p:cNvPr id="7" name="Text 4"/>
          <p:cNvSpPr txBox="1"/>
          <p:nvPr/>
        </p:nvSpPr>
        <p:spPr>
          <a:xfrm>
            <a:off x="5879592" y="1243584"/>
            <a:ext cx="2761488" cy="219456"/>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Weak in both</a:t>
            </a:r>
            <a:endParaRPr lang="en-US" sz="1150" dirty="0"/>
          </a:p>
        </p:txBody>
      </p:sp>
      <p:sp>
        <p:nvSpPr>
          <p:cNvPr id="8" name="Text 5"/>
          <p:cNvSpPr txBox="1"/>
          <p:nvPr/>
        </p:nvSpPr>
        <p:spPr>
          <a:xfrm>
            <a:off x="5879592" y="1463040"/>
            <a:ext cx="2761488" cy="457200"/>
          </a:xfrm>
          <a:prstGeom prst="rect">
            <a:avLst/>
          </a:prstGeom>
          <a:noFill/>
          <a:ln/>
        </p:spPr>
        <p:txBody>
          <a:bodyPr wrap="square" lIns="0" tIns="0" rIns="0" bIns="0" rtlCol="0" anchor="ctr"/>
          <a:lstStyle/>
          <a:p>
            <a:pPr indent="0" marL="0">
              <a:buNone/>
            </a:pPr>
            <a:r>
              <a:rPr lang="en-US" sz="1000" dirty="0">
                <a:solidFill>
                  <a:srgbClr val="1F2433"/>
                </a:solidFill>
                <a:latin typeface="Calibri" pitchFamily="34" charset="0"/>
                <a:ea typeface="Calibri" pitchFamily="34" charset="-122"/>
                <a:cs typeface="Calibri" pitchFamily="34" charset="-120"/>
              </a:rPr>
              <a:t>Stimulation and Tradition. Neither more history nor a stronger model rescued them. The honest failures.</a:t>
            </a:r>
            <a:endParaRPr lang="en-US" sz="1000" dirty="0"/>
          </a:p>
        </p:txBody>
      </p:sp>
      <p:sp>
        <p:nvSpPr>
          <p:cNvPr id="9" name="Shape 6"/>
          <p:cNvSpPr/>
          <p:nvPr/>
        </p:nvSpPr>
        <p:spPr>
          <a:xfrm>
            <a:off x="5715000" y="1993392"/>
            <a:ext cx="91440" cy="91440"/>
          </a:xfrm>
          <a:prstGeom prst="ellipse">
            <a:avLst/>
          </a:prstGeom>
          <a:solidFill>
            <a:srgbClr val="2F8F7E"/>
          </a:solidFill>
          <a:ln/>
        </p:spPr>
      </p:sp>
      <p:sp>
        <p:nvSpPr>
          <p:cNvPr id="10" name="Text 7"/>
          <p:cNvSpPr txBox="1"/>
          <p:nvPr/>
        </p:nvSpPr>
        <p:spPr>
          <a:xfrm>
            <a:off x="5879592" y="1901952"/>
            <a:ext cx="2761488" cy="219456"/>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Rescued by history</a:t>
            </a:r>
            <a:endParaRPr lang="en-US" sz="1150" dirty="0"/>
          </a:p>
        </p:txBody>
      </p:sp>
      <p:sp>
        <p:nvSpPr>
          <p:cNvPr id="11" name="Text 8"/>
          <p:cNvSpPr txBox="1"/>
          <p:nvPr/>
        </p:nvSpPr>
        <p:spPr>
          <a:xfrm>
            <a:off x="5879592" y="2121408"/>
            <a:ext cx="2761488" cy="457200"/>
          </a:xfrm>
          <a:prstGeom prst="rect">
            <a:avLst/>
          </a:prstGeom>
          <a:noFill/>
          <a:ln/>
        </p:spPr>
        <p:txBody>
          <a:bodyPr wrap="square" lIns="0" tIns="0" rIns="0" bIns="0" rtlCol="0" anchor="ctr"/>
          <a:lstStyle/>
          <a:p>
            <a:pPr indent="0" marL="0">
              <a:buNone/>
            </a:pPr>
            <a:r>
              <a:rPr lang="en-US" sz="1000" dirty="0">
                <a:solidFill>
                  <a:srgbClr val="1F2433"/>
                </a:solidFill>
                <a:latin typeface="Calibri" pitchFamily="34" charset="0"/>
                <a:ea typeface="Calibri" pitchFamily="34" charset="-122"/>
                <a:cs typeface="Calibri" pitchFamily="34" charset="-120"/>
              </a:rPr>
              <a:t>Power: 0.125 → 0.567. Some Conflicts are only visible longitudinally.</a:t>
            </a:r>
            <a:endParaRPr lang="en-US" sz="1000" dirty="0"/>
          </a:p>
        </p:txBody>
      </p:sp>
      <p:sp>
        <p:nvSpPr>
          <p:cNvPr id="12" name="Shape 9"/>
          <p:cNvSpPr/>
          <p:nvPr/>
        </p:nvSpPr>
        <p:spPr>
          <a:xfrm>
            <a:off x="5715000" y="2651760"/>
            <a:ext cx="91440" cy="91440"/>
          </a:xfrm>
          <a:prstGeom prst="ellipse">
            <a:avLst/>
          </a:prstGeom>
          <a:solidFill>
            <a:srgbClr val="E0A32E"/>
          </a:solidFill>
          <a:ln/>
        </p:spPr>
      </p:sp>
      <p:sp>
        <p:nvSpPr>
          <p:cNvPr id="13" name="Text 10"/>
          <p:cNvSpPr txBox="1"/>
          <p:nvPr/>
        </p:nvSpPr>
        <p:spPr>
          <a:xfrm>
            <a:off x="5879592" y="2560320"/>
            <a:ext cx="2761488" cy="219456"/>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Lost by it</a:t>
            </a:r>
            <a:endParaRPr lang="en-US" sz="1150" dirty="0"/>
          </a:p>
        </p:txBody>
      </p:sp>
      <p:sp>
        <p:nvSpPr>
          <p:cNvPr id="14" name="Text 11"/>
          <p:cNvSpPr txBox="1"/>
          <p:nvPr/>
        </p:nvSpPr>
        <p:spPr>
          <a:xfrm>
            <a:off x="5879592" y="2779776"/>
            <a:ext cx="2761488" cy="457200"/>
          </a:xfrm>
          <a:prstGeom prst="rect">
            <a:avLst/>
          </a:prstGeom>
          <a:noFill/>
          <a:ln/>
        </p:spPr>
        <p:txBody>
          <a:bodyPr wrap="square" lIns="0" tIns="0" rIns="0" bIns="0" rtlCol="0" anchor="ctr"/>
          <a:lstStyle/>
          <a:p>
            <a:pPr indent="0" marL="0">
              <a:buNone/>
            </a:pPr>
            <a:r>
              <a:rPr lang="en-US" sz="1000" dirty="0">
                <a:solidFill>
                  <a:srgbClr val="1F2433"/>
                </a:solidFill>
                <a:latin typeface="Calibri" pitchFamily="34" charset="0"/>
                <a:ea typeface="Calibri" pitchFamily="34" charset="-122"/>
                <a:cs typeface="Calibri" pitchFamily="34" charset="-120"/>
              </a:rPr>
              <a:t>Self-Direction: 0.733 → 0.533. Argues against a simple more-context-is-better story.</a:t>
            </a:r>
            <a:endParaRPr lang="en-US" sz="1000" dirty="0"/>
          </a:p>
        </p:txBody>
      </p:sp>
      <p:sp>
        <p:nvSpPr>
          <p:cNvPr id="15" name="Shape 12"/>
          <p:cNvSpPr/>
          <p:nvPr/>
        </p:nvSpPr>
        <p:spPr>
          <a:xfrm>
            <a:off x="5715000" y="3310128"/>
            <a:ext cx="91440" cy="91440"/>
          </a:xfrm>
          <a:prstGeom prst="ellipse">
            <a:avLst/>
          </a:prstGeom>
          <a:solidFill>
            <a:srgbClr val="6B7280"/>
          </a:solidFill>
          <a:ln/>
        </p:spPr>
      </p:sp>
      <p:sp>
        <p:nvSpPr>
          <p:cNvPr id="16" name="Text 13"/>
          <p:cNvSpPr txBox="1"/>
          <p:nvPr/>
        </p:nvSpPr>
        <p:spPr>
          <a:xfrm>
            <a:off x="5879592" y="3218688"/>
            <a:ext cx="2761488" cy="219456"/>
          </a:xfrm>
          <a:prstGeom prst="rect">
            <a:avLst/>
          </a:prstGeom>
          <a:noFill/>
          <a:ln/>
        </p:spPr>
        <p:txBody>
          <a:bodyPr wrap="square" lIns="0" tIns="0" rIns="0" bIns="0" rtlCol="0" anchor="ctr"/>
          <a:lstStyle/>
          <a:p>
            <a:pPr indent="0" marL="0">
              <a:buNone/>
            </a:pPr>
            <a:r>
              <a:rPr lang="en-US" sz="1150" b="1" dirty="0">
                <a:solidFill>
                  <a:srgbClr val="17203F"/>
                </a:solidFill>
                <a:latin typeface="Calibri" pitchFamily="34" charset="0"/>
                <a:ea typeface="Calibri" pitchFamily="34" charset="-122"/>
                <a:cs typeface="Calibri" pitchFamily="34" charset="-120"/>
              </a:rPr>
              <a:t>Unstable by support</a:t>
            </a:r>
            <a:endParaRPr lang="en-US" sz="1150" dirty="0"/>
          </a:p>
        </p:txBody>
      </p:sp>
      <p:sp>
        <p:nvSpPr>
          <p:cNvPr id="17" name="Text 14"/>
          <p:cNvSpPr txBox="1"/>
          <p:nvPr/>
        </p:nvSpPr>
        <p:spPr>
          <a:xfrm>
            <a:off x="5879592" y="3438144"/>
            <a:ext cx="2761488" cy="457200"/>
          </a:xfrm>
          <a:prstGeom prst="rect">
            <a:avLst/>
          </a:prstGeom>
          <a:noFill/>
          <a:ln/>
        </p:spPr>
        <p:txBody>
          <a:bodyPr wrap="square" lIns="0" tIns="0" rIns="0" bIns="0" rtlCol="0" anchor="ctr"/>
          <a:lstStyle/>
          <a:p>
            <a:pPr indent="0" marL="0">
              <a:buNone/>
            </a:pPr>
            <a:r>
              <a:rPr lang="en-US" sz="1000" dirty="0">
                <a:solidFill>
                  <a:srgbClr val="1F2433"/>
                </a:solidFill>
                <a:latin typeface="Calibri" pitchFamily="34" charset="0"/>
                <a:ea typeface="Calibri" pitchFamily="34" charset="-122"/>
                <a:cs typeface="Calibri" pitchFamily="34" charset="-120"/>
              </a:rPr>
              <a:t>Universalism on three test Conflicts; Achievement on two. That is noise, not a finding.</a:t>
            </a:r>
            <a:endParaRPr lang="en-US" sz="1000" dirty="0"/>
          </a:p>
        </p:txBody>
      </p:sp>
      <p:sp>
        <p:nvSpPr>
          <p:cNvPr id="18" name="Shape 15"/>
          <p:cNvSpPr/>
          <p:nvPr/>
        </p:nvSpPr>
        <p:spPr>
          <a:xfrm>
            <a:off x="502920" y="3986784"/>
            <a:ext cx="8138160" cy="640080"/>
          </a:xfrm>
          <a:prstGeom prst="roundRect">
            <a:avLst>
              <a:gd name="adj" fmla="val 8571"/>
            </a:avLst>
          </a:prstGeom>
          <a:solidFill>
            <a:srgbClr val="F7EFEF"/>
          </a:solidFill>
          <a:ln w="12700">
            <a:solidFill>
              <a:srgbClr val="F7EFEF"/>
            </a:solidFill>
            <a:prstDash val="solid"/>
          </a:ln>
        </p:spPr>
      </p:sp>
      <p:sp>
        <p:nvSpPr>
          <p:cNvPr id="19" name="Text 16"/>
          <p:cNvSpPr txBox="1"/>
          <p:nvPr/>
        </p:nvSpPr>
        <p:spPr>
          <a:xfrm>
            <a:off x="722376" y="3986784"/>
            <a:ext cx="7699248" cy="640080"/>
          </a:xfrm>
          <a:prstGeom prst="rect">
            <a:avLst/>
          </a:prstGeom>
          <a:noFill/>
          <a:ln/>
        </p:spPr>
        <p:txBody>
          <a:bodyPr wrap="square" lIns="0" tIns="0" rIns="0" bIns="0" rtlCol="0" anchor="ctr"/>
          <a:lstStyle/>
          <a:p>
            <a:pPr indent="0" marL="0">
              <a:buNone/>
            </a:pPr>
            <a:r>
              <a:rPr lang="en-US" sz="950" dirty="0">
                <a:solidFill>
                  <a:srgbClr val="8A4A45"/>
                </a:solidFill>
                <a:latin typeface="Calibri" pitchFamily="34" charset="0"/>
                <a:ea typeface="Calibri" pitchFamily="34" charset="-122"/>
                <a:cs typeface="Calibri" pitchFamily="34" charset="-120"/>
              </a:rPr>
              <a:t>The two regimes are not a controlled comparison — different data, labels, and inputs. This locates where the work is; it does not rank the components. A Conflict is judged from what was written, so an unwritten week is invisible; and the ten dimensions are scored as if independent, when Schwartz's continuum says they are not.</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7 · LIMITATIONS</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Evidence limits, and one honest trade-off</a:t>
            </a:r>
            <a:endParaRPr lang="en-US" sz="2600" dirty="0"/>
          </a:p>
        </p:txBody>
      </p:sp>
      <p:sp>
        <p:nvSpPr>
          <p:cNvPr id="5" name="Shape 3"/>
          <p:cNvSpPr/>
          <p:nvPr/>
        </p:nvSpPr>
        <p:spPr>
          <a:xfrm>
            <a:off x="502920" y="1243584"/>
            <a:ext cx="4892040" cy="658368"/>
          </a:xfrm>
          <a:prstGeom prst="roundRect">
            <a:avLst>
              <a:gd name="adj" fmla="val 8333"/>
            </a:avLst>
          </a:prstGeom>
          <a:solidFill>
            <a:srgbClr val="F3F4F7"/>
          </a:solidFill>
          <a:ln w="12700">
            <a:solidFill>
              <a:srgbClr val="F3F4F7"/>
            </a:solidFill>
            <a:prstDash val="solid"/>
          </a:ln>
        </p:spPr>
      </p:sp>
      <p:sp>
        <p:nvSpPr>
          <p:cNvPr id="6" name="Text 4"/>
          <p:cNvSpPr txBox="1"/>
          <p:nvPr/>
        </p:nvSpPr>
        <p:spPr>
          <a:xfrm>
            <a:off x="704088" y="1280160"/>
            <a:ext cx="4572000" cy="219456"/>
          </a:xfrm>
          <a:prstGeom prst="rect">
            <a:avLst/>
          </a:prstGeom>
          <a:noFill/>
          <a:ln/>
        </p:spPr>
        <p:txBody>
          <a:bodyPr wrap="square" lIns="0" tIns="0" rIns="0" bIns="0" rtlCol="0" anchor="ctr"/>
          <a:lstStyle/>
          <a:p>
            <a:pPr indent="0" marL="0">
              <a:buNone/>
            </a:pPr>
            <a:r>
              <a:rPr lang="en-US" sz="1100" b="1" dirty="0">
                <a:solidFill>
                  <a:srgbClr val="B5544F"/>
                </a:solidFill>
                <a:latin typeface="Calibri" pitchFamily="34" charset="0"/>
                <a:ea typeface="Calibri" pitchFamily="34" charset="-122"/>
                <a:cs typeface="Calibri" pitchFamily="34" charset="-120"/>
              </a:rPr>
              <a:t>Synthetic corpus</a:t>
            </a:r>
            <a:endParaRPr lang="en-US" sz="1100" dirty="0"/>
          </a:p>
        </p:txBody>
      </p:sp>
      <p:sp>
        <p:nvSpPr>
          <p:cNvPr id="7" name="Text 5"/>
          <p:cNvSpPr txBox="1"/>
          <p:nvPr/>
        </p:nvSpPr>
        <p:spPr>
          <a:xfrm>
            <a:off x="704088" y="1499616"/>
            <a:ext cx="4526280" cy="384048"/>
          </a:xfrm>
          <a:prstGeom prst="rect">
            <a:avLst/>
          </a:prstGeom>
          <a:noFill/>
          <a:ln/>
        </p:spPr>
        <p:txBody>
          <a:bodyPr wrap="square" lIns="0" tIns="0" rIns="0" bIns="0" rtlCol="0" anchor="ctr"/>
          <a:lstStyle/>
          <a:p>
            <a:pPr indent="0" marL="0">
              <a:buNone/>
            </a:pPr>
            <a:r>
              <a:rPr lang="en-US" sz="900" dirty="0">
                <a:solidFill>
                  <a:srgbClr val="1F2433"/>
                </a:solidFill>
                <a:latin typeface="Calibri" pitchFamily="34" charset="0"/>
                <a:ea typeface="Calibri" pitchFamily="34" charset="-122"/>
                <a:cs typeface="Calibri" pitchFamily="34" charset="-120"/>
              </a:rPr>
              <a:t>Designed coverage, not population representativeness. The same model family generated the entries and their original labels, so generator and judge errors may correlate. Unmeasured.</a:t>
            </a:r>
            <a:endParaRPr lang="en-US" sz="900" dirty="0"/>
          </a:p>
        </p:txBody>
      </p:sp>
      <p:sp>
        <p:nvSpPr>
          <p:cNvPr id="8" name="Shape 6"/>
          <p:cNvSpPr/>
          <p:nvPr/>
        </p:nvSpPr>
        <p:spPr>
          <a:xfrm>
            <a:off x="502920" y="1956816"/>
            <a:ext cx="4892040" cy="658368"/>
          </a:xfrm>
          <a:prstGeom prst="roundRect">
            <a:avLst>
              <a:gd name="adj" fmla="val 8333"/>
            </a:avLst>
          </a:prstGeom>
          <a:solidFill>
            <a:srgbClr val="F3F4F7"/>
          </a:solidFill>
          <a:ln w="12700">
            <a:solidFill>
              <a:srgbClr val="F3F4F7"/>
            </a:solidFill>
            <a:prstDash val="solid"/>
          </a:ln>
        </p:spPr>
      </p:sp>
      <p:sp>
        <p:nvSpPr>
          <p:cNvPr id="9" name="Text 7"/>
          <p:cNvSpPr txBox="1"/>
          <p:nvPr/>
        </p:nvSpPr>
        <p:spPr>
          <a:xfrm>
            <a:off x="704088" y="1993392"/>
            <a:ext cx="4572000" cy="219456"/>
          </a:xfrm>
          <a:prstGeom prst="rect">
            <a:avLst/>
          </a:prstGeom>
          <a:noFill/>
          <a:ln/>
        </p:spPr>
        <p:txBody>
          <a:bodyPr wrap="square" lIns="0" tIns="0" rIns="0" bIns="0" rtlCol="0" anchor="ctr"/>
          <a:lstStyle/>
          <a:p>
            <a:pPr indent="0" marL="0">
              <a:buNone/>
            </a:pPr>
            <a:r>
              <a:rPr lang="en-US" sz="1100" b="1" dirty="0">
                <a:solidFill>
                  <a:srgbClr val="B5544F"/>
                </a:solidFill>
                <a:latin typeface="Calibri" pitchFamily="34" charset="0"/>
                <a:ea typeface="Calibri" pitchFamily="34" charset="-122"/>
                <a:cs typeface="Calibri" pitchFamily="34" charset="-120"/>
              </a:rPr>
              <a:t>Not human ground truth</a:t>
            </a:r>
            <a:endParaRPr lang="en-US" sz="1100" dirty="0"/>
          </a:p>
        </p:txBody>
      </p:sp>
      <p:sp>
        <p:nvSpPr>
          <p:cNvPr id="10" name="Text 8"/>
          <p:cNvSpPr txBox="1"/>
          <p:nvPr/>
        </p:nvSpPr>
        <p:spPr>
          <a:xfrm>
            <a:off x="704088" y="2212848"/>
            <a:ext cx="4526280" cy="384048"/>
          </a:xfrm>
          <a:prstGeom prst="rect">
            <a:avLst/>
          </a:prstGeom>
          <a:noFill/>
          <a:ln/>
        </p:spPr>
        <p:txBody>
          <a:bodyPr wrap="square" lIns="0" tIns="0" rIns="0" bIns="0" rtlCol="0" anchor="ctr"/>
          <a:lstStyle/>
          <a:p>
            <a:pPr indent="0" marL="0">
              <a:buNone/>
            </a:pPr>
            <a:r>
              <a:rPr lang="en-US" sz="900" dirty="0">
                <a:solidFill>
                  <a:srgbClr val="1F2433"/>
                </a:solidFill>
                <a:latin typeface="Calibri" pitchFamily="34" charset="0"/>
                <a:ea typeface="Calibri" pitchFamily="34" charset="-122"/>
                <a:cs typeface="Calibri" pitchFamily="34" charset="-120"/>
              </a:rPr>
              <a:t>115 entries, 19 personas, three project-team annotators — not an independent panel.</a:t>
            </a:r>
            <a:endParaRPr lang="en-US" sz="900" dirty="0"/>
          </a:p>
        </p:txBody>
      </p:sp>
      <p:sp>
        <p:nvSpPr>
          <p:cNvPr id="11" name="Shape 9"/>
          <p:cNvSpPr/>
          <p:nvPr/>
        </p:nvSpPr>
        <p:spPr>
          <a:xfrm>
            <a:off x="502920" y="2670048"/>
            <a:ext cx="4892040" cy="658368"/>
          </a:xfrm>
          <a:prstGeom prst="roundRect">
            <a:avLst>
              <a:gd name="adj" fmla="val 8333"/>
            </a:avLst>
          </a:prstGeom>
          <a:solidFill>
            <a:srgbClr val="F3F4F7"/>
          </a:solidFill>
          <a:ln w="12700">
            <a:solidFill>
              <a:srgbClr val="F3F4F7"/>
            </a:solidFill>
            <a:prstDash val="solid"/>
          </a:ln>
        </p:spPr>
      </p:sp>
      <p:sp>
        <p:nvSpPr>
          <p:cNvPr id="12" name="Text 10"/>
          <p:cNvSpPr txBox="1"/>
          <p:nvPr/>
        </p:nvSpPr>
        <p:spPr>
          <a:xfrm>
            <a:off x="704088" y="2706624"/>
            <a:ext cx="4572000" cy="219456"/>
          </a:xfrm>
          <a:prstGeom prst="rect">
            <a:avLst/>
          </a:prstGeom>
          <a:noFill/>
          <a:ln/>
        </p:spPr>
        <p:txBody>
          <a:bodyPr wrap="square" lIns="0" tIns="0" rIns="0" bIns="0" rtlCol="0" anchor="ctr"/>
          <a:lstStyle/>
          <a:p>
            <a:pPr indent="0" marL="0">
              <a:buNone/>
            </a:pPr>
            <a:r>
              <a:rPr lang="en-US" sz="1100" b="1" dirty="0">
                <a:solidFill>
                  <a:srgbClr val="B5544F"/>
                </a:solidFill>
                <a:latin typeface="Calibri" pitchFamily="34" charset="0"/>
                <a:ea typeface="Calibri" pitchFamily="34" charset="-122"/>
                <a:cs typeface="Calibri" pitchFamily="34" charset="-120"/>
              </a:rPr>
              <a:t>No fresh final test</a:t>
            </a:r>
            <a:endParaRPr lang="en-US" sz="1100" dirty="0"/>
          </a:p>
        </p:txBody>
      </p:sp>
      <p:sp>
        <p:nvSpPr>
          <p:cNvPr id="13" name="Text 11"/>
          <p:cNvSpPr txBox="1"/>
          <p:nvPr/>
        </p:nvSpPr>
        <p:spPr>
          <a:xfrm>
            <a:off x="704088" y="2926080"/>
            <a:ext cx="4526280" cy="384048"/>
          </a:xfrm>
          <a:prstGeom prst="rect">
            <a:avLst/>
          </a:prstGeom>
          <a:noFill/>
          <a:ln/>
        </p:spPr>
        <p:txBody>
          <a:bodyPr wrap="square" lIns="0" tIns="0" rIns="0" bIns="0" rtlCol="0" anchor="ctr"/>
          <a:lstStyle/>
          <a:p>
            <a:pPr indent="0" marL="0">
              <a:buNone/>
            </a:pPr>
            <a:r>
              <a:rPr lang="en-US" sz="900" dirty="0">
                <a:solidFill>
                  <a:srgbClr val="1F2433"/>
                </a:solidFill>
                <a:latin typeface="Calibri" pitchFamily="34" charset="0"/>
                <a:ea typeface="Calibri" pitchFamily="34" charset="-122"/>
                <a:cs typeface="Calibri" pitchFamily="34" charset="-120"/>
              </a:rPr>
              <a:t>The 42-Drift study selected the model contract. Reporting it as final-test performance would be leakage.</a:t>
            </a:r>
            <a:endParaRPr lang="en-US" sz="900" dirty="0"/>
          </a:p>
        </p:txBody>
      </p:sp>
      <p:sp>
        <p:nvSpPr>
          <p:cNvPr id="14" name="Shape 12"/>
          <p:cNvSpPr/>
          <p:nvPr/>
        </p:nvSpPr>
        <p:spPr>
          <a:xfrm>
            <a:off x="502920" y="3383280"/>
            <a:ext cx="4892040" cy="658368"/>
          </a:xfrm>
          <a:prstGeom prst="roundRect">
            <a:avLst>
              <a:gd name="adj" fmla="val 8333"/>
            </a:avLst>
          </a:prstGeom>
          <a:solidFill>
            <a:srgbClr val="F3F4F7"/>
          </a:solidFill>
          <a:ln w="12700">
            <a:solidFill>
              <a:srgbClr val="F3F4F7"/>
            </a:solidFill>
            <a:prstDash val="solid"/>
          </a:ln>
        </p:spPr>
      </p:sp>
      <p:sp>
        <p:nvSpPr>
          <p:cNvPr id="15" name="Text 13"/>
          <p:cNvSpPr txBox="1"/>
          <p:nvPr/>
        </p:nvSpPr>
        <p:spPr>
          <a:xfrm>
            <a:off x="704088" y="3419856"/>
            <a:ext cx="4572000" cy="219456"/>
          </a:xfrm>
          <a:prstGeom prst="rect">
            <a:avLst/>
          </a:prstGeom>
          <a:noFill/>
          <a:ln/>
        </p:spPr>
        <p:txBody>
          <a:bodyPr wrap="square" lIns="0" tIns="0" rIns="0" bIns="0" rtlCol="0" anchor="ctr"/>
          <a:lstStyle/>
          <a:p>
            <a:pPr indent="0" marL="0">
              <a:buNone/>
            </a:pPr>
            <a:r>
              <a:rPr lang="en-US" sz="1100" b="1" dirty="0">
                <a:solidFill>
                  <a:srgbClr val="B5544F"/>
                </a:solidFill>
                <a:latin typeface="Calibri" pitchFamily="34" charset="0"/>
                <a:ea typeface="Calibri" pitchFamily="34" charset="-122"/>
                <a:cs typeface="Calibri" pitchFamily="34" charset="-120"/>
              </a:rPr>
              <a:t>AI reviewing AI</a:t>
            </a:r>
            <a:endParaRPr lang="en-US" sz="1100" dirty="0"/>
          </a:p>
        </p:txBody>
      </p:sp>
      <p:sp>
        <p:nvSpPr>
          <p:cNvPr id="16" name="Text 14"/>
          <p:cNvSpPr txBox="1"/>
          <p:nvPr/>
        </p:nvSpPr>
        <p:spPr>
          <a:xfrm>
            <a:off x="704088" y="3639312"/>
            <a:ext cx="4526280" cy="384048"/>
          </a:xfrm>
          <a:prstGeom prst="rect">
            <a:avLst/>
          </a:prstGeom>
          <a:noFill/>
          <a:ln/>
        </p:spPr>
        <p:txBody>
          <a:bodyPr wrap="square" lIns="0" tIns="0" rIns="0" bIns="0" rtlCol="0" anchor="ctr"/>
          <a:lstStyle/>
          <a:p>
            <a:pPr indent="0" marL="0">
              <a:buNone/>
            </a:pPr>
            <a:r>
              <a:rPr lang="en-US" sz="900" dirty="0">
                <a:solidFill>
                  <a:srgbClr val="1F2433"/>
                </a:solidFill>
                <a:latin typeface="Calibri" pitchFamily="34" charset="0"/>
                <a:ea typeface="Calibri" pitchFamily="34" charset="-122"/>
                <a:cs typeface="Calibri" pitchFamily="34" charset="-120"/>
              </a:rPr>
              <a:t>All drift references are AI-reviewed, and one model both wrote and scored the five Coach Digest responses.</a:t>
            </a:r>
            <a:endParaRPr lang="en-US" sz="900" dirty="0"/>
          </a:p>
        </p:txBody>
      </p:sp>
      <p:sp>
        <p:nvSpPr>
          <p:cNvPr id="17" name="Shape 15"/>
          <p:cNvSpPr/>
          <p:nvPr/>
        </p:nvSpPr>
        <p:spPr>
          <a:xfrm>
            <a:off x="5623560" y="1243584"/>
            <a:ext cx="3017520" cy="1280160"/>
          </a:xfrm>
          <a:prstGeom prst="roundRect">
            <a:avLst>
              <a:gd name="adj" fmla="val 4286"/>
            </a:avLst>
          </a:prstGeom>
          <a:solidFill>
            <a:srgbClr val="E7ECF7"/>
          </a:solidFill>
          <a:ln w="12700">
            <a:solidFill>
              <a:srgbClr val="E7ECF7"/>
            </a:solidFill>
            <a:prstDash val="solid"/>
          </a:ln>
        </p:spPr>
      </p:sp>
      <p:sp>
        <p:nvSpPr>
          <p:cNvPr id="18" name="Text 16"/>
          <p:cNvSpPr txBox="1"/>
          <p:nvPr/>
        </p:nvSpPr>
        <p:spPr>
          <a:xfrm>
            <a:off x="5824728" y="1353312"/>
            <a:ext cx="2615184" cy="237744"/>
          </a:xfrm>
          <a:prstGeom prst="rect">
            <a:avLst/>
          </a:prstGeom>
          <a:noFill/>
          <a:ln/>
        </p:spPr>
        <p:txBody>
          <a:bodyPr wrap="square" lIns="0" tIns="0" rIns="0" bIns="0" rtlCol="0" anchor="ctr"/>
          <a:lstStyle/>
          <a:p>
            <a:pPr indent="0" marL="0">
              <a:buNone/>
            </a:pPr>
            <a:r>
              <a:rPr lang="en-US" sz="1350" b="1" dirty="0">
                <a:solidFill>
                  <a:srgbClr val="17203F"/>
                </a:solidFill>
                <a:latin typeface="Cambria" pitchFamily="34" charset="0"/>
                <a:ea typeface="Cambria" pitchFamily="34" charset="-122"/>
                <a:cs typeface="Cambria" pitchFamily="34" charset="-120"/>
              </a:rPr>
              <a:t>Scope gaps</a:t>
            </a:r>
            <a:endParaRPr lang="en-US" sz="1350" dirty="0"/>
          </a:p>
        </p:txBody>
      </p:sp>
      <p:sp>
        <p:nvSpPr>
          <p:cNvPr id="19" name="Text 17"/>
          <p:cNvSpPr txBox="1"/>
          <p:nvPr/>
        </p:nvSpPr>
        <p:spPr>
          <a:xfrm>
            <a:off x="5824728" y="1645920"/>
            <a:ext cx="2615184" cy="786384"/>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F2433"/>
                </a:solidFill>
                <a:latin typeface="Calibri" pitchFamily="34" charset="0"/>
                <a:ea typeface="Calibri" pitchFamily="34" charset="-122"/>
                <a:cs typeface="Calibri" pitchFamily="34" charset="-120"/>
              </a:rPr>
              <a:t>The displayed nudge is unevaluated</a:t>
            </a:r>
            <a:endParaRPr lang="en-US" sz="1050" dirty="0"/>
          </a:p>
          <a:p>
            <a:pPr marL="342900" indent="-342900">
              <a:spcAft>
                <a:spcPts val="300"/>
              </a:spcAft>
              <a:buSzPct val="100000"/>
              <a:buChar char="•"/>
            </a:pPr>
            <a:r>
              <a:rPr lang="en-US" sz="1050" dirty="0">
                <a:solidFill>
                  <a:srgbClr val="1F2433"/>
                </a:solidFill>
                <a:latin typeface="Calibri" pitchFamily="34" charset="0"/>
                <a:ea typeface="Calibri" pitchFamily="34" charset="-122"/>
                <a:cs typeface="Calibri" pitchFamily="34" charset="-120"/>
              </a:rPr>
              <a:t>The Profile instrument is not validated</a:t>
            </a:r>
            <a:endParaRPr lang="en-US" sz="1050" dirty="0"/>
          </a:p>
          <a:p>
            <a:pPr marL="342900" indent="-342900">
              <a:spcAft>
                <a:spcPts val="300"/>
              </a:spcAft>
              <a:buSzPct val="100000"/>
              <a:buChar char="•"/>
            </a:pPr>
            <a:r>
              <a:rPr lang="en-US" sz="1050" dirty="0">
                <a:solidFill>
                  <a:srgbClr val="1F2433"/>
                </a:solidFill>
                <a:latin typeface="Calibri" pitchFamily="34" charset="0"/>
                <a:ea typeface="Calibri" pitchFamily="34" charset="-122"/>
                <a:cs typeface="Calibri" pitchFamily="34" charset="-120"/>
              </a:rPr>
              <a:t>No real user has used the system</a:t>
            </a:r>
            <a:endParaRPr lang="en-US" sz="1050" dirty="0"/>
          </a:p>
        </p:txBody>
      </p:sp>
      <p:sp>
        <p:nvSpPr>
          <p:cNvPr id="20" name="Shape 18"/>
          <p:cNvSpPr/>
          <p:nvPr/>
        </p:nvSpPr>
        <p:spPr>
          <a:xfrm>
            <a:off x="5623560" y="2670048"/>
            <a:ext cx="3017520" cy="1353312"/>
          </a:xfrm>
          <a:prstGeom prst="roundRect">
            <a:avLst>
              <a:gd name="adj" fmla="val 4054"/>
            </a:avLst>
          </a:prstGeom>
          <a:solidFill>
            <a:srgbClr val="FBF3E1"/>
          </a:solidFill>
          <a:ln w="12700">
            <a:solidFill>
              <a:srgbClr val="FBF3E1"/>
            </a:solidFill>
            <a:prstDash val="solid"/>
          </a:ln>
        </p:spPr>
      </p:sp>
      <p:sp>
        <p:nvSpPr>
          <p:cNvPr id="21" name="Text 19"/>
          <p:cNvSpPr txBox="1"/>
          <p:nvPr/>
        </p:nvSpPr>
        <p:spPr>
          <a:xfrm>
            <a:off x="5824728" y="2779776"/>
            <a:ext cx="2615184" cy="237744"/>
          </a:xfrm>
          <a:prstGeom prst="rect">
            <a:avLst/>
          </a:prstGeom>
          <a:noFill/>
          <a:ln/>
        </p:spPr>
        <p:txBody>
          <a:bodyPr wrap="square" lIns="0" tIns="0" rIns="0" bIns="0" rtlCol="0" anchor="ctr"/>
          <a:lstStyle/>
          <a:p>
            <a:pPr indent="0" marL="0">
              <a:buNone/>
            </a:pPr>
            <a:r>
              <a:rPr lang="en-US" sz="1350" b="1" dirty="0">
                <a:solidFill>
                  <a:srgbClr val="7A5A10"/>
                </a:solidFill>
                <a:latin typeface="Cambria" pitchFamily="34" charset="0"/>
                <a:ea typeface="Cambria" pitchFamily="34" charset="-122"/>
                <a:cs typeface="Cambria" pitchFamily="34" charset="-120"/>
              </a:rPr>
              <a:t>The trade-off, volunteered</a:t>
            </a:r>
            <a:endParaRPr lang="en-US" sz="1350" dirty="0"/>
          </a:p>
        </p:txBody>
      </p:sp>
      <p:sp>
        <p:nvSpPr>
          <p:cNvPr id="22" name="Text 20"/>
          <p:cNvSpPr txBox="1"/>
          <p:nvPr/>
        </p:nvSpPr>
        <p:spPr>
          <a:xfrm>
            <a:off x="5824728" y="3072384"/>
            <a:ext cx="2615184" cy="932688"/>
          </a:xfrm>
          <a:prstGeom prst="rect">
            <a:avLst/>
          </a:prstGeom>
          <a:noFill/>
          <a:ln/>
        </p:spPr>
        <p:txBody>
          <a:bodyPr wrap="square" lIns="0" tIns="0" rIns="0" bIns="0" rtlCol="0" anchor="ctr"/>
          <a:lstStyle/>
          <a:p>
            <a:pPr indent="0" marL="0">
              <a:buNone/>
            </a:pPr>
            <a:r>
              <a:rPr lang="en-US" sz="950" dirty="0">
                <a:solidFill>
                  <a:srgbClr val="7A5A10"/>
                </a:solidFill>
                <a:latin typeface="Calibri" pitchFamily="34" charset="0"/>
                <a:ea typeface="Calibri" pitchFamily="34" charset="-122"/>
                <a:cs typeface="Calibri" pitchFamily="34" charset="-120"/>
              </a:rPr>
              <a:t>Luna-low failed its original preregistered coverage gate. We replaced that rule with a recall-first hierarchy, then kept low even though xhigh scored higher on recall. A documented capstone judgment, not a preregistered optimum.</a:t>
            </a:r>
            <a:endParaRPr lang="en-US" sz="950" dirty="0"/>
          </a:p>
        </p:txBody>
      </p:sp>
      <p:sp>
        <p:nvSpPr>
          <p:cNvPr id="23" name="Shape 21"/>
          <p:cNvSpPr/>
          <p:nvPr/>
        </p:nvSpPr>
        <p:spPr>
          <a:xfrm>
            <a:off x="502920" y="4114800"/>
            <a:ext cx="8138160" cy="493776"/>
          </a:xfrm>
          <a:prstGeom prst="roundRect">
            <a:avLst>
              <a:gd name="adj" fmla="val 11111"/>
            </a:avLst>
          </a:prstGeom>
          <a:solidFill>
            <a:srgbClr val="1F2A4D"/>
          </a:solidFill>
          <a:ln w="12700">
            <a:solidFill>
              <a:srgbClr val="1F2A4D"/>
            </a:solidFill>
            <a:prstDash val="solid"/>
          </a:ln>
        </p:spPr>
      </p:sp>
      <p:sp>
        <p:nvSpPr>
          <p:cNvPr id="24" name="Text 22"/>
          <p:cNvSpPr txBox="1"/>
          <p:nvPr/>
        </p:nvSpPr>
        <p:spPr>
          <a:xfrm>
            <a:off x="740664" y="4114800"/>
            <a:ext cx="7662672" cy="493776"/>
          </a:xfrm>
          <a:prstGeom prst="rect">
            <a:avLst/>
          </a:prstGeom>
          <a:noFill/>
          <a:ln/>
        </p:spPr>
        <p:txBody>
          <a:bodyPr wrap="square" lIns="0" tIns="0" rIns="0" bIns="0" rtlCol="0" anchor="ctr"/>
          <a:lstStyle/>
          <a:p>
            <a:pPr indent="0" marL="0">
              <a:buNone/>
            </a:pPr>
            <a:r>
              <a:rPr lang="en-US" sz="1300" b="1" dirty="0">
                <a:solidFill>
                  <a:srgbClr val="F0D79A"/>
                </a:solidFill>
                <a:latin typeface="Cambria" pitchFamily="34" charset="0"/>
                <a:ea typeface="Cambria" pitchFamily="34" charset="-122"/>
                <a:cs typeface="Cambria" pitchFamily="34" charset="-120"/>
              </a:rPr>
              <a:t>None of this invalidates the findings. It bounds them.</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8 · CONCLUSION</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What the evidence decided</a:t>
            </a:r>
            <a:endParaRPr lang="en-US" sz="2600" dirty="0"/>
          </a:p>
        </p:txBody>
      </p:sp>
      <p:sp>
        <p:nvSpPr>
          <p:cNvPr id="5" name="Shape 3"/>
          <p:cNvSpPr/>
          <p:nvPr/>
        </p:nvSpPr>
        <p:spPr>
          <a:xfrm>
            <a:off x="502920" y="1243584"/>
            <a:ext cx="8138160" cy="804672"/>
          </a:xfrm>
          <a:prstGeom prst="roundRect">
            <a:avLst>
              <a:gd name="adj" fmla="val 6818"/>
            </a:avLst>
          </a:prstGeom>
          <a:solidFill>
            <a:srgbClr val="F3F4F7"/>
          </a:solidFill>
          <a:ln w="12700">
            <a:solidFill>
              <a:srgbClr val="F3F4F7"/>
            </a:solidFill>
            <a:prstDash val="solid"/>
          </a:ln>
        </p:spPr>
      </p:sp>
      <p:sp>
        <p:nvSpPr>
          <p:cNvPr id="6" name="Text 4"/>
          <p:cNvSpPr txBox="1"/>
          <p:nvPr/>
        </p:nvSpPr>
        <p:spPr>
          <a:xfrm>
            <a:off x="722376" y="1298448"/>
            <a:ext cx="2651760" cy="694944"/>
          </a:xfrm>
          <a:prstGeom prst="rect">
            <a:avLst/>
          </a:prstGeom>
          <a:noFill/>
          <a:ln/>
        </p:spPr>
        <p:txBody>
          <a:bodyPr wrap="square" lIns="0" tIns="0" rIns="0" bIns="0" rtlCol="0" anchor="ctr"/>
          <a:lstStyle/>
          <a:p>
            <a:pPr indent="0" marL="0">
              <a:buNone/>
            </a:pPr>
            <a:r>
              <a:rPr lang="en-US" sz="1350" b="1" dirty="0">
                <a:solidFill>
                  <a:srgbClr val="2C3A6B"/>
                </a:solidFill>
                <a:latin typeface="Cambria" pitchFamily="34" charset="0"/>
                <a:ea typeface="Cambria" pitchFamily="34" charset="-122"/>
                <a:cs typeface="Cambria" pitchFamily="34" charset="-120"/>
              </a:rPr>
              <a:t>Corpus</a:t>
            </a:r>
            <a:endParaRPr lang="en-US" sz="1350" dirty="0"/>
          </a:p>
        </p:txBody>
      </p:sp>
      <p:sp>
        <p:nvSpPr>
          <p:cNvPr id="7" name="Text 5"/>
          <p:cNvSpPr txBox="1"/>
          <p:nvPr/>
        </p:nvSpPr>
        <p:spPr>
          <a:xfrm>
            <a:off x="3429000" y="1353312"/>
            <a:ext cx="4937760" cy="274320"/>
          </a:xfrm>
          <a:prstGeom prst="rect">
            <a:avLst/>
          </a:prstGeom>
          <a:noFill/>
          <a:ln/>
        </p:spPr>
        <p:txBody>
          <a:bodyPr wrap="square" lIns="0" tIns="0" rIns="0" bIns="0" rtlCol="0" anchor="ctr"/>
          <a:lstStyle/>
          <a:p>
            <a:pPr indent="0" marL="0">
              <a:buNone/>
            </a:pPr>
            <a:r>
              <a:rPr lang="en-US" sz="1250" b="1" dirty="0">
                <a:solidFill>
                  <a:srgbClr val="17203F"/>
                </a:solidFill>
                <a:latin typeface="Calibri" pitchFamily="34" charset="0"/>
                <a:ea typeface="Calibri" pitchFamily="34" charset="-122"/>
                <a:cs typeface="Calibri" pitchFamily="34" charset="-120"/>
              </a:rPr>
              <a:t>Fit for bounded development.</a:t>
            </a:r>
            <a:endParaRPr lang="en-US" sz="1250" dirty="0"/>
          </a:p>
        </p:txBody>
      </p:sp>
      <p:sp>
        <p:nvSpPr>
          <p:cNvPr id="8" name="Text 6"/>
          <p:cNvSpPr txBox="1"/>
          <p:nvPr/>
        </p:nvSpPr>
        <p:spPr>
          <a:xfrm>
            <a:off x="3429000" y="1645920"/>
            <a:ext cx="4937760" cy="32918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Controls are explicit and reviewable — not a substitute for real-user data or independent labels.</a:t>
            </a:r>
            <a:endParaRPr lang="en-US" sz="1000" dirty="0"/>
          </a:p>
        </p:txBody>
      </p:sp>
      <p:sp>
        <p:nvSpPr>
          <p:cNvPr id="9" name="Shape 7"/>
          <p:cNvSpPr/>
          <p:nvPr/>
        </p:nvSpPr>
        <p:spPr>
          <a:xfrm>
            <a:off x="502920" y="2157984"/>
            <a:ext cx="8138160" cy="804672"/>
          </a:xfrm>
          <a:prstGeom prst="roundRect">
            <a:avLst>
              <a:gd name="adj" fmla="val 6818"/>
            </a:avLst>
          </a:prstGeom>
          <a:solidFill>
            <a:srgbClr val="F3F4F7"/>
          </a:solidFill>
          <a:ln w="12700">
            <a:solidFill>
              <a:srgbClr val="F3F4F7"/>
            </a:solidFill>
            <a:prstDash val="solid"/>
          </a:ln>
        </p:spPr>
      </p:sp>
      <p:sp>
        <p:nvSpPr>
          <p:cNvPr id="10" name="Text 8"/>
          <p:cNvSpPr txBox="1"/>
          <p:nvPr/>
        </p:nvSpPr>
        <p:spPr>
          <a:xfrm>
            <a:off x="722376" y="2212848"/>
            <a:ext cx="2651760" cy="694944"/>
          </a:xfrm>
          <a:prstGeom prst="rect">
            <a:avLst/>
          </a:prstGeom>
          <a:noFill/>
          <a:ln/>
        </p:spPr>
        <p:txBody>
          <a:bodyPr wrap="square" lIns="0" tIns="0" rIns="0" bIns="0" rtlCol="0" anchor="ctr"/>
          <a:lstStyle/>
          <a:p>
            <a:pPr indent="0" marL="0">
              <a:buNone/>
            </a:pPr>
            <a:r>
              <a:rPr lang="en-US" sz="1350" b="1" dirty="0">
                <a:solidFill>
                  <a:srgbClr val="B5544F"/>
                </a:solidFill>
                <a:latin typeface="Cambria" pitchFamily="34" charset="0"/>
                <a:ea typeface="Cambria" pitchFamily="34" charset="-122"/>
                <a:cs typeface="Cambria" pitchFamily="34" charset="-120"/>
              </a:rPr>
              <a:t>VIF Critic</a:t>
            </a:r>
            <a:endParaRPr lang="en-US" sz="1350" dirty="0"/>
          </a:p>
        </p:txBody>
      </p:sp>
      <p:sp>
        <p:nvSpPr>
          <p:cNvPr id="11" name="Text 9"/>
          <p:cNvSpPr txBox="1"/>
          <p:nvPr/>
        </p:nvSpPr>
        <p:spPr>
          <a:xfrm>
            <a:off x="3429000" y="2267712"/>
            <a:ext cx="4937760" cy="274320"/>
          </a:xfrm>
          <a:prstGeom prst="rect">
            <a:avLst/>
          </a:prstGeom>
          <a:noFill/>
          <a:ln/>
        </p:spPr>
        <p:txBody>
          <a:bodyPr wrap="square" lIns="0" tIns="0" rIns="0" bIns="0" rtlCol="0" anchor="ctr"/>
          <a:lstStyle/>
          <a:p>
            <a:pPr indent="0" marL="0">
              <a:buNone/>
            </a:pPr>
            <a:r>
              <a:rPr lang="en-US" sz="1250" b="1" dirty="0">
                <a:solidFill>
                  <a:srgbClr val="17203F"/>
                </a:solidFill>
                <a:latin typeface="Calibri" pitchFamily="34" charset="0"/>
                <a:ea typeface="Calibri" pitchFamily="34" charset="-122"/>
                <a:cs typeface="Calibri" pitchFamily="34" charset="-120"/>
              </a:rPr>
              <a:t>Real but inadequate frontier. Stays offline.</a:t>
            </a:r>
            <a:endParaRPr lang="en-US" sz="1250" dirty="0"/>
          </a:p>
        </p:txBody>
      </p:sp>
      <p:sp>
        <p:nvSpPr>
          <p:cNvPr id="12" name="Text 10"/>
          <p:cNvSpPr txBox="1"/>
          <p:nvPr/>
        </p:nvSpPr>
        <p:spPr>
          <a:xfrm>
            <a:off x="3429000" y="2560320"/>
            <a:ext cx="4937760" cy="32918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Retained as a Pattern Recognition Systems contribution and a documented negative result.</a:t>
            </a:r>
            <a:endParaRPr lang="en-US" sz="1000" dirty="0"/>
          </a:p>
        </p:txBody>
      </p:sp>
      <p:sp>
        <p:nvSpPr>
          <p:cNvPr id="13" name="Shape 11"/>
          <p:cNvSpPr/>
          <p:nvPr/>
        </p:nvSpPr>
        <p:spPr>
          <a:xfrm>
            <a:off x="502920" y="3072384"/>
            <a:ext cx="8138160" cy="804672"/>
          </a:xfrm>
          <a:prstGeom prst="roundRect">
            <a:avLst>
              <a:gd name="adj" fmla="val 6818"/>
            </a:avLst>
          </a:prstGeom>
          <a:solidFill>
            <a:srgbClr val="F3F4F7"/>
          </a:solidFill>
          <a:ln w="12700">
            <a:solidFill>
              <a:srgbClr val="F3F4F7"/>
            </a:solidFill>
            <a:prstDash val="solid"/>
          </a:ln>
        </p:spPr>
      </p:sp>
      <p:sp>
        <p:nvSpPr>
          <p:cNvPr id="14" name="Text 12"/>
          <p:cNvSpPr txBox="1"/>
          <p:nvPr/>
        </p:nvSpPr>
        <p:spPr>
          <a:xfrm>
            <a:off x="722376" y="3127248"/>
            <a:ext cx="2651760" cy="694944"/>
          </a:xfrm>
          <a:prstGeom prst="rect">
            <a:avLst/>
          </a:prstGeom>
          <a:noFill/>
          <a:ln/>
        </p:spPr>
        <p:txBody>
          <a:bodyPr wrap="square" lIns="0" tIns="0" rIns="0" bIns="0" rtlCol="0" anchor="ctr"/>
          <a:lstStyle/>
          <a:p>
            <a:pPr indent="0" marL="0">
              <a:buNone/>
            </a:pPr>
            <a:r>
              <a:rPr lang="en-US" sz="1350" b="1" dirty="0">
                <a:solidFill>
                  <a:srgbClr val="2F8F7E"/>
                </a:solidFill>
                <a:latin typeface="Cambria" pitchFamily="34" charset="0"/>
                <a:ea typeface="Cambria" pitchFamily="34" charset="-122"/>
                <a:cs typeface="Cambria" pitchFamily="34" charset="-120"/>
              </a:rPr>
              <a:t>Weekly Drift Reviewer + Drift Detector</a:t>
            </a:r>
            <a:endParaRPr lang="en-US" sz="1350" dirty="0"/>
          </a:p>
        </p:txBody>
      </p:sp>
      <p:sp>
        <p:nvSpPr>
          <p:cNvPr id="15" name="Text 13"/>
          <p:cNvSpPr txBox="1"/>
          <p:nvPr/>
        </p:nvSpPr>
        <p:spPr>
          <a:xfrm>
            <a:off x="3429000" y="3182112"/>
            <a:ext cx="4937760" cy="274320"/>
          </a:xfrm>
          <a:prstGeom prst="rect">
            <a:avLst/>
          </a:prstGeom>
          <a:noFill/>
          <a:ln/>
        </p:spPr>
        <p:txBody>
          <a:bodyPr wrap="square" lIns="0" tIns="0" rIns="0" bIns="0" rtlCol="0" anchor="ctr"/>
          <a:lstStyle/>
          <a:p>
            <a:pPr indent="0" marL="0">
              <a:buNone/>
            </a:pPr>
            <a:r>
              <a:rPr lang="en-US" sz="1250" b="1" dirty="0">
                <a:solidFill>
                  <a:srgbClr val="17203F"/>
                </a:solidFill>
                <a:latin typeface="Calibri" pitchFamily="34" charset="0"/>
                <a:ea typeface="Calibri" pitchFamily="34" charset="-122"/>
                <a:cs typeface="Calibri" pitchFamily="34" charset="-120"/>
              </a:rPr>
              <a:t>Own user-facing Drift.</a:t>
            </a:r>
            <a:endParaRPr lang="en-US" sz="1250" dirty="0"/>
          </a:p>
        </p:txBody>
      </p:sp>
      <p:sp>
        <p:nvSpPr>
          <p:cNvPr id="16" name="Text 14"/>
          <p:cNvSpPr txBox="1"/>
          <p:nvPr/>
        </p:nvSpPr>
        <p:spPr>
          <a:xfrm>
            <a:off x="3429000" y="3474720"/>
            <a:ext cx="4937760" cy="32918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Semantic review over cumulative history, then a deterministic two-Conflict rule.</a:t>
            </a:r>
            <a:endParaRPr lang="en-US" sz="1000" dirty="0"/>
          </a:p>
        </p:txBody>
      </p:sp>
      <p:sp>
        <p:nvSpPr>
          <p:cNvPr id="17" name="Shape 15"/>
          <p:cNvSpPr/>
          <p:nvPr/>
        </p:nvSpPr>
        <p:spPr>
          <a:xfrm>
            <a:off x="502920" y="4023360"/>
            <a:ext cx="8138160" cy="566928"/>
          </a:xfrm>
          <a:prstGeom prst="roundRect">
            <a:avLst>
              <a:gd name="adj" fmla="val 9677"/>
            </a:avLst>
          </a:prstGeom>
          <a:solidFill>
            <a:srgbClr val="1F2A4D"/>
          </a:solidFill>
          <a:ln w="12700">
            <a:solidFill>
              <a:srgbClr val="1F2A4D"/>
            </a:solidFill>
            <a:prstDash val="solid"/>
          </a:ln>
        </p:spPr>
      </p:sp>
      <p:sp>
        <p:nvSpPr>
          <p:cNvPr id="18" name="Text 16"/>
          <p:cNvSpPr txBox="1"/>
          <p:nvPr/>
        </p:nvSpPr>
        <p:spPr>
          <a:xfrm>
            <a:off x="740664" y="4023360"/>
            <a:ext cx="7662672" cy="566928"/>
          </a:xfrm>
          <a:prstGeom prst="rect">
            <a:avLst/>
          </a:prstGeom>
          <a:noFill/>
          <a:ln/>
        </p:spPr>
        <p:txBody>
          <a:bodyPr wrap="square" lIns="0" tIns="0" rIns="0" bIns="0" rtlCol="0" anchor="ctr"/>
          <a:lstStyle/>
          <a:p>
            <a:pPr indent="0" marL="0">
              <a:buNone/>
            </a:pPr>
            <a:r>
              <a:rPr lang="en-US" sz="1600" b="1" dirty="0">
                <a:solidFill>
                  <a:srgbClr val="E0A32E"/>
                </a:solidFill>
                <a:latin typeface="Cambria" pitchFamily="34" charset="0"/>
                <a:ea typeface="Cambria" pitchFamily="34" charset="-122"/>
                <a:cs typeface="Cambria" pitchFamily="34" charset="-120"/>
              </a:rPr>
              <a:t>The architecture followed the evidence, not the proposal.</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PART 8 · CONCLUSION</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What this supports, and what it does not</a:t>
            </a:r>
            <a:endParaRPr lang="en-US" sz="2600" dirty="0"/>
          </a:p>
        </p:txBody>
      </p:sp>
      <p:sp>
        <p:nvSpPr>
          <p:cNvPr id="5" name="Shape 3"/>
          <p:cNvSpPr/>
          <p:nvPr/>
        </p:nvSpPr>
        <p:spPr>
          <a:xfrm>
            <a:off x="502920" y="1243584"/>
            <a:ext cx="3909060" cy="2606040"/>
          </a:xfrm>
          <a:prstGeom prst="roundRect">
            <a:avLst>
              <a:gd name="adj" fmla="val 2105"/>
            </a:avLst>
          </a:prstGeom>
          <a:solidFill>
            <a:srgbClr val="EDF4F1"/>
          </a:solidFill>
          <a:ln w="12700">
            <a:solidFill>
              <a:srgbClr val="EDF4F1"/>
            </a:solidFill>
            <a:prstDash val="solid"/>
          </a:ln>
        </p:spPr>
      </p:sp>
      <p:sp>
        <p:nvSpPr>
          <p:cNvPr id="6" name="Text 4"/>
          <p:cNvSpPr txBox="1"/>
          <p:nvPr/>
        </p:nvSpPr>
        <p:spPr>
          <a:xfrm>
            <a:off x="758952" y="1408176"/>
            <a:ext cx="3396996" cy="274320"/>
          </a:xfrm>
          <a:prstGeom prst="rect">
            <a:avLst/>
          </a:prstGeom>
          <a:noFill/>
          <a:ln/>
        </p:spPr>
        <p:txBody>
          <a:bodyPr wrap="square" lIns="0" tIns="0" rIns="0" bIns="0" rtlCol="0" anchor="ctr"/>
          <a:lstStyle/>
          <a:p>
            <a:pPr indent="0" marL="0">
              <a:buNone/>
            </a:pPr>
            <a:r>
              <a:rPr lang="en-US" sz="1100" b="1" spc="180" kern="0" dirty="0">
                <a:solidFill>
                  <a:srgbClr val="2F8F7E"/>
                </a:solidFill>
                <a:latin typeface="Calibri" pitchFamily="34" charset="0"/>
                <a:ea typeface="Calibri" pitchFamily="34" charset="-122"/>
                <a:cs typeface="Calibri" pitchFamily="34" charset="-120"/>
              </a:rPr>
              <a:t>SUPPORTED</a:t>
            </a:r>
            <a:endParaRPr lang="en-US" sz="1100" dirty="0"/>
          </a:p>
        </p:txBody>
      </p:sp>
      <p:sp>
        <p:nvSpPr>
          <p:cNvPr id="7" name="Text 5"/>
          <p:cNvSpPr txBox="1"/>
          <p:nvPr/>
        </p:nvSpPr>
        <p:spPr>
          <a:xfrm>
            <a:off x="758952" y="1792224"/>
            <a:ext cx="3396996" cy="18288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2A6055"/>
                </a:solidFill>
                <a:latin typeface="Calibri" pitchFamily="34" charset="0"/>
                <a:ea typeface="Calibri" pitchFamily="34" charset="-122"/>
                <a:cs typeface="Calibri" pitchFamily="34" charset="-120"/>
              </a:rPr>
              <a:t>Bounded development use of the LLM-Judge VIF Labels</a:t>
            </a:r>
            <a:endParaRPr lang="en-US" sz="1250" dirty="0"/>
          </a:p>
          <a:p>
            <a:pPr marL="342900" indent="-342900">
              <a:spcAft>
                <a:spcPts val="900"/>
              </a:spcAft>
              <a:buSzPct val="100000"/>
              <a:buChar char="•"/>
            </a:pPr>
            <a:r>
              <a:rPr lang="en-US" sz="1250" dirty="0">
                <a:solidFill>
                  <a:srgbClr val="2A6055"/>
                </a:solidFill>
                <a:latin typeface="Calibri" pitchFamily="34" charset="0"/>
                <a:ea typeface="Calibri" pitchFamily="34" charset="-122"/>
                <a:cs typeface="Calibri" pitchFamily="34" charset="-120"/>
              </a:rPr>
              <a:t>An evidence-driven architecture decision</a:t>
            </a:r>
            <a:endParaRPr lang="en-US" sz="1250" dirty="0"/>
          </a:p>
          <a:p>
            <a:pPr marL="342900" indent="-342900">
              <a:spcAft>
                <a:spcPts val="900"/>
              </a:spcAft>
              <a:buSzPct val="100000"/>
              <a:buChar char="•"/>
            </a:pPr>
            <a:r>
              <a:rPr lang="en-US" sz="1250" dirty="0">
                <a:solidFill>
                  <a:srgbClr val="2A6055"/>
                </a:solidFill>
                <a:latin typeface="Calibri" pitchFamily="34" charset="0"/>
                <a:ea typeface="Calibri" pitchFamily="34" charset="-122"/>
                <a:cs typeface="Calibri" pitchFamily="34" charset="-120"/>
              </a:rPr>
              <a:t>An implemented and inspectable assessment path</a:t>
            </a:r>
            <a:endParaRPr lang="en-US" sz="1250" dirty="0"/>
          </a:p>
        </p:txBody>
      </p:sp>
      <p:sp>
        <p:nvSpPr>
          <p:cNvPr id="8" name="Shape 6"/>
          <p:cNvSpPr/>
          <p:nvPr/>
        </p:nvSpPr>
        <p:spPr>
          <a:xfrm>
            <a:off x="4732020" y="1243584"/>
            <a:ext cx="3909060" cy="2606040"/>
          </a:xfrm>
          <a:prstGeom prst="roundRect">
            <a:avLst>
              <a:gd name="adj" fmla="val 2105"/>
            </a:avLst>
          </a:prstGeom>
          <a:solidFill>
            <a:srgbClr val="F7EFEF"/>
          </a:solidFill>
          <a:ln w="12700">
            <a:solidFill>
              <a:srgbClr val="F7EFEF"/>
            </a:solidFill>
            <a:prstDash val="solid"/>
          </a:ln>
        </p:spPr>
      </p:sp>
      <p:sp>
        <p:nvSpPr>
          <p:cNvPr id="9" name="Text 7"/>
          <p:cNvSpPr txBox="1"/>
          <p:nvPr/>
        </p:nvSpPr>
        <p:spPr>
          <a:xfrm>
            <a:off x="4988052" y="1408176"/>
            <a:ext cx="3396996" cy="274320"/>
          </a:xfrm>
          <a:prstGeom prst="rect">
            <a:avLst/>
          </a:prstGeom>
          <a:noFill/>
          <a:ln/>
        </p:spPr>
        <p:txBody>
          <a:bodyPr wrap="square" lIns="0" tIns="0" rIns="0" bIns="0" rtlCol="0" anchor="ctr"/>
          <a:lstStyle/>
          <a:p>
            <a:pPr indent="0" marL="0">
              <a:buNone/>
            </a:pPr>
            <a:r>
              <a:rPr lang="en-US" sz="1100" b="1" spc="180" kern="0" dirty="0">
                <a:solidFill>
                  <a:srgbClr val="B5544F"/>
                </a:solidFill>
                <a:latin typeface="Calibri" pitchFamily="34" charset="0"/>
                <a:ea typeface="Calibri" pitchFamily="34" charset="-122"/>
                <a:cs typeface="Calibri" pitchFamily="34" charset="-120"/>
              </a:rPr>
              <a:t>NOT SUPPORTED</a:t>
            </a:r>
            <a:endParaRPr lang="en-US" sz="1100" dirty="0"/>
          </a:p>
        </p:txBody>
      </p:sp>
      <p:sp>
        <p:nvSpPr>
          <p:cNvPr id="10" name="Text 8"/>
          <p:cNvSpPr txBox="1"/>
          <p:nvPr/>
        </p:nvSpPr>
        <p:spPr>
          <a:xfrm>
            <a:off x="4988052" y="1792224"/>
            <a:ext cx="3396996" cy="18288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8A4A45"/>
                </a:solidFill>
                <a:latin typeface="Calibri" pitchFamily="34" charset="0"/>
                <a:ea typeface="Calibri" pitchFamily="34" charset="-122"/>
                <a:cs typeface="Calibri" pitchFamily="34" charset="-120"/>
              </a:rPr>
              <a:t>A direct MLP-versus-LLM performance claim</a:t>
            </a:r>
            <a:endParaRPr lang="en-US" sz="1250" dirty="0"/>
          </a:p>
          <a:p>
            <a:pPr marL="342900" indent="-342900">
              <a:spcAft>
                <a:spcPts val="900"/>
              </a:spcAft>
              <a:buSzPct val="100000"/>
              <a:buChar char="•"/>
            </a:pPr>
            <a:r>
              <a:rPr lang="en-US" sz="1250" dirty="0">
                <a:solidFill>
                  <a:srgbClr val="8A4A45"/>
                </a:solidFill>
                <a:latin typeface="Calibri" pitchFamily="34" charset="0"/>
                <a:ea typeface="Calibri" pitchFamily="34" charset="-122"/>
                <a:cs typeface="Calibri" pitchFamily="34" charset="-120"/>
              </a:rPr>
              <a:t>Real-user benefit</a:t>
            </a:r>
            <a:endParaRPr lang="en-US" sz="1250" dirty="0"/>
          </a:p>
          <a:p>
            <a:pPr marL="342900" indent="-342900">
              <a:spcAft>
                <a:spcPts val="900"/>
              </a:spcAft>
              <a:buSzPct val="100000"/>
              <a:buChar char="•"/>
            </a:pPr>
            <a:r>
              <a:rPr lang="en-US" sz="1250" dirty="0">
                <a:solidFill>
                  <a:srgbClr val="8A4A45"/>
                </a:solidFill>
                <a:latin typeface="Calibri" pitchFamily="34" charset="0"/>
                <a:ea typeface="Calibri" pitchFamily="34" charset="-122"/>
                <a:cs typeface="Calibri" pitchFamily="34" charset="-120"/>
              </a:rPr>
              <a:t>Deployment readiness</a:t>
            </a:r>
            <a:endParaRPr lang="en-US" sz="1250" dirty="0"/>
          </a:p>
        </p:txBody>
      </p:sp>
      <p:sp>
        <p:nvSpPr>
          <p:cNvPr id="11" name="Text 9"/>
          <p:cNvSpPr txBox="1"/>
          <p:nvPr/>
        </p:nvSpPr>
        <p:spPr>
          <a:xfrm>
            <a:off x="502920" y="4590288"/>
            <a:ext cx="813816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Part 7 already made this case. Deliver as a summary and keep moving.</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203F"/>
        </a:solidFill>
      </p:bgPr>
    </p:bg>
    <p:spTree>
      <p:nvGrpSpPr>
        <p:cNvPr id="1" name=""/>
        <p:cNvGrpSpPr/>
        <p:nvPr/>
      </p:nvGrpSpPr>
      <p:grpSpPr>
        <a:xfrm>
          <a:off x="0" y="0"/>
          <a:ext cx="0" cy="0"/>
          <a:chOff x="0" y="0"/>
          <a:chExt cx="0" cy="0"/>
        </a:xfrm>
      </p:grpSpPr>
      <p:sp>
        <p:nvSpPr>
          <p:cNvPr id="2" name="Shape 0"/>
          <p:cNvSpPr/>
          <p:nvPr/>
        </p:nvSpPr>
        <p:spPr>
          <a:xfrm>
            <a:off x="502920" y="566928"/>
            <a:ext cx="109728" cy="109728"/>
          </a:xfrm>
          <a:prstGeom prst="ellipse">
            <a:avLst/>
          </a:prstGeom>
          <a:solidFill>
            <a:srgbClr val="E0A32E"/>
          </a:solidFill>
          <a:ln/>
        </p:spPr>
      </p:sp>
      <p:sp>
        <p:nvSpPr>
          <p:cNvPr id="3" name="Text 1"/>
          <p:cNvSpPr txBox="1"/>
          <p:nvPr/>
        </p:nvSpPr>
        <p:spPr>
          <a:xfrm>
            <a:off x="722376" y="475488"/>
            <a:ext cx="8138160" cy="274320"/>
          </a:xfrm>
          <a:prstGeom prst="rect">
            <a:avLst/>
          </a:prstGeom>
          <a:noFill/>
          <a:ln/>
        </p:spPr>
        <p:txBody>
          <a:bodyPr wrap="square" lIns="0" tIns="0" rIns="0" bIns="0" rtlCol="0" anchor="ctr"/>
          <a:lstStyle/>
          <a:p>
            <a:pPr indent="0" marL="0">
              <a:buNone/>
            </a:pPr>
            <a:r>
              <a:rPr lang="en-US" sz="1050" b="1" spc="180" kern="0" dirty="0">
                <a:solidFill>
                  <a:srgbClr val="E0A32E"/>
                </a:solidFill>
                <a:latin typeface="Calibri" pitchFamily="34" charset="0"/>
                <a:ea typeface="Calibri" pitchFamily="34" charset="-122"/>
                <a:cs typeface="Calibri" pitchFamily="34" charset="-120"/>
              </a:rPr>
              <a:t>PART 8 · CONCLUSION</a:t>
            </a:r>
            <a:endParaRPr lang="en-US" sz="1050" dirty="0"/>
          </a:p>
        </p:txBody>
      </p:sp>
      <p:sp>
        <p:nvSpPr>
          <p:cNvPr id="4" name="Text 2"/>
          <p:cNvSpPr txBox="1"/>
          <p:nvPr/>
        </p:nvSpPr>
        <p:spPr>
          <a:xfrm>
            <a:off x="502920" y="822960"/>
            <a:ext cx="813816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Future work — each item answers a limit</a:t>
            </a:r>
            <a:endParaRPr lang="en-US" sz="2600" dirty="0"/>
          </a:p>
        </p:txBody>
      </p:sp>
      <p:sp>
        <p:nvSpPr>
          <p:cNvPr id="5" name="Shape 3"/>
          <p:cNvSpPr/>
          <p:nvPr/>
        </p:nvSpPr>
        <p:spPr>
          <a:xfrm>
            <a:off x="502920" y="1426464"/>
            <a:ext cx="8138160" cy="548640"/>
          </a:xfrm>
          <a:prstGeom prst="roundRect">
            <a:avLst>
              <a:gd name="adj" fmla="val 8333"/>
            </a:avLst>
          </a:prstGeom>
          <a:solidFill>
            <a:srgbClr val="212B4D"/>
          </a:solidFill>
          <a:ln w="12700">
            <a:solidFill>
              <a:srgbClr val="212B4D"/>
            </a:solidFill>
            <a:prstDash val="solid"/>
          </a:ln>
        </p:spPr>
      </p:sp>
      <p:sp>
        <p:nvSpPr>
          <p:cNvPr id="6" name="Text 4"/>
          <p:cNvSpPr txBox="1"/>
          <p:nvPr/>
        </p:nvSpPr>
        <p:spPr>
          <a:xfrm>
            <a:off x="722376" y="1481328"/>
            <a:ext cx="320040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Matched per-value error analysis</a:t>
            </a:r>
            <a:endParaRPr lang="en-US" sz="1200" dirty="0"/>
          </a:p>
        </p:txBody>
      </p:sp>
      <p:sp>
        <p:nvSpPr>
          <p:cNvPr id="7" name="Text 5"/>
          <p:cNvSpPr txBox="1"/>
          <p:nvPr/>
        </p:nvSpPr>
        <p:spPr>
          <a:xfrm>
            <a:off x="3977640" y="1481328"/>
            <a:ext cx="2468880" cy="438912"/>
          </a:xfrm>
          <a:prstGeom prst="rect">
            <a:avLst/>
          </a:prstGeom>
          <a:noFill/>
          <a:ln/>
        </p:spPr>
        <p:txBody>
          <a:bodyPr wrap="square" lIns="0" tIns="0" rIns="0" bIns="0" rtlCol="0" anchor="ctr"/>
          <a:lstStyle/>
          <a:p>
            <a:pPr indent="0" marL="0">
              <a:buNone/>
            </a:pPr>
            <a:r>
              <a:rPr lang="en-US" sz="1000" dirty="0">
                <a:solidFill>
                  <a:srgbClr val="AEB6CF"/>
                </a:solidFill>
                <a:latin typeface="Calibri" pitchFamily="34" charset="0"/>
                <a:ea typeface="Calibri" pitchFamily="34" charset="-122"/>
                <a:cs typeface="Calibri" pitchFamily="34" charset="-120"/>
              </a:rPr>
              <a:t>on the stored 106-case union</a:t>
            </a:r>
            <a:endParaRPr lang="en-US" sz="1000" dirty="0"/>
          </a:p>
        </p:txBody>
      </p:sp>
      <p:sp>
        <p:nvSpPr>
          <p:cNvPr id="8" name="Text 6"/>
          <p:cNvSpPr txBox="1"/>
          <p:nvPr/>
        </p:nvSpPr>
        <p:spPr>
          <a:xfrm>
            <a:off x="6492240" y="1481328"/>
            <a:ext cx="2011680" cy="438912"/>
          </a:xfrm>
          <a:prstGeom prst="rect">
            <a:avLst/>
          </a:prstGeom>
          <a:noFill/>
          <a:ln/>
        </p:spPr>
        <p:txBody>
          <a:bodyPr wrap="square" lIns="0" tIns="0" rIns="0" bIns="0" rtlCol="0" anchor="ctr"/>
          <a:lstStyle/>
          <a:p>
            <a:pPr indent="0" marL="0">
              <a:buNone/>
            </a:pPr>
            <a:r>
              <a:rPr lang="en-US" sz="900" i="1" dirty="0">
                <a:solidFill>
                  <a:srgbClr val="E0A32E"/>
                </a:solidFill>
                <a:latin typeface="Calibri" pitchFamily="34" charset="0"/>
                <a:ea typeface="Calibri" pitchFamily="34" charset="-122"/>
                <a:cs typeface="Calibri" pitchFamily="34" charset="-120"/>
              </a:rPr>
              <a:t>answers: the two panels are not comparable</a:t>
            </a:r>
            <a:endParaRPr lang="en-US" sz="900" dirty="0"/>
          </a:p>
        </p:txBody>
      </p:sp>
      <p:sp>
        <p:nvSpPr>
          <p:cNvPr id="9" name="Shape 7"/>
          <p:cNvSpPr/>
          <p:nvPr/>
        </p:nvSpPr>
        <p:spPr>
          <a:xfrm>
            <a:off x="502920" y="2048256"/>
            <a:ext cx="8138160" cy="548640"/>
          </a:xfrm>
          <a:prstGeom prst="roundRect">
            <a:avLst>
              <a:gd name="adj" fmla="val 8333"/>
            </a:avLst>
          </a:prstGeom>
          <a:solidFill>
            <a:srgbClr val="212B4D"/>
          </a:solidFill>
          <a:ln w="12700">
            <a:solidFill>
              <a:srgbClr val="212B4D"/>
            </a:solidFill>
            <a:prstDash val="solid"/>
          </a:ln>
        </p:spPr>
      </p:sp>
      <p:sp>
        <p:nvSpPr>
          <p:cNvPr id="10" name="Text 8"/>
          <p:cNvSpPr txBox="1"/>
          <p:nvPr/>
        </p:nvSpPr>
        <p:spPr>
          <a:xfrm>
            <a:off x="722376" y="2103120"/>
            <a:ext cx="320040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 frozen final test</a:t>
            </a:r>
            <a:endParaRPr lang="en-US" sz="1200" dirty="0"/>
          </a:p>
        </p:txBody>
      </p:sp>
      <p:sp>
        <p:nvSpPr>
          <p:cNvPr id="11" name="Text 9"/>
          <p:cNvSpPr txBox="1"/>
          <p:nvPr/>
        </p:nvSpPr>
        <p:spPr>
          <a:xfrm>
            <a:off x="3977640" y="2103120"/>
            <a:ext cx="2468880" cy="438912"/>
          </a:xfrm>
          <a:prstGeom prst="rect">
            <a:avLst/>
          </a:prstGeom>
          <a:noFill/>
          <a:ln/>
        </p:spPr>
        <p:txBody>
          <a:bodyPr wrap="square" lIns="0" tIns="0" rIns="0" bIns="0" rtlCol="0" anchor="ctr"/>
          <a:lstStyle/>
          <a:p>
            <a:pPr indent="0" marL="0">
              <a:buNone/>
            </a:pPr>
            <a:r>
              <a:rPr lang="en-US" sz="1000" dirty="0">
                <a:solidFill>
                  <a:srgbClr val="AEB6CF"/>
                </a:solidFill>
                <a:latin typeface="Calibri" pitchFamily="34" charset="0"/>
                <a:ea typeface="Calibri" pitchFamily="34" charset="-122"/>
                <a:cs typeface="Calibri" pitchFamily="34" charset="-120"/>
              </a:rPr>
              <a:t>excluding all model and prompt development data</a:t>
            </a:r>
            <a:endParaRPr lang="en-US" sz="1000" dirty="0"/>
          </a:p>
        </p:txBody>
      </p:sp>
      <p:sp>
        <p:nvSpPr>
          <p:cNvPr id="12" name="Text 10"/>
          <p:cNvSpPr txBox="1"/>
          <p:nvPr/>
        </p:nvSpPr>
        <p:spPr>
          <a:xfrm>
            <a:off x="6492240" y="2103120"/>
            <a:ext cx="2011680" cy="438912"/>
          </a:xfrm>
          <a:prstGeom prst="rect">
            <a:avLst/>
          </a:prstGeom>
          <a:noFill/>
          <a:ln/>
        </p:spPr>
        <p:txBody>
          <a:bodyPr wrap="square" lIns="0" tIns="0" rIns="0" bIns="0" rtlCol="0" anchor="ctr"/>
          <a:lstStyle/>
          <a:p>
            <a:pPr indent="0" marL="0">
              <a:buNone/>
            </a:pPr>
            <a:r>
              <a:rPr lang="en-US" sz="900" i="1" dirty="0">
                <a:solidFill>
                  <a:srgbClr val="E0A32E"/>
                </a:solidFill>
                <a:latin typeface="Calibri" pitchFamily="34" charset="0"/>
                <a:ea typeface="Calibri" pitchFamily="34" charset="-122"/>
                <a:cs typeface="Calibri" pitchFamily="34" charset="-120"/>
              </a:rPr>
              <a:t>answers: no fresh final test</a:t>
            </a:r>
            <a:endParaRPr lang="en-US" sz="900" dirty="0"/>
          </a:p>
        </p:txBody>
      </p:sp>
      <p:sp>
        <p:nvSpPr>
          <p:cNvPr id="13" name="Shape 11"/>
          <p:cNvSpPr/>
          <p:nvPr/>
        </p:nvSpPr>
        <p:spPr>
          <a:xfrm>
            <a:off x="502920" y="2670048"/>
            <a:ext cx="8138160" cy="548640"/>
          </a:xfrm>
          <a:prstGeom prst="roundRect">
            <a:avLst>
              <a:gd name="adj" fmla="val 8333"/>
            </a:avLst>
          </a:prstGeom>
          <a:solidFill>
            <a:srgbClr val="212B4D"/>
          </a:solidFill>
          <a:ln w="12700">
            <a:solidFill>
              <a:srgbClr val="212B4D"/>
            </a:solidFill>
            <a:prstDash val="solid"/>
          </a:ln>
        </p:spPr>
      </p:sp>
      <p:sp>
        <p:nvSpPr>
          <p:cNvPr id="14" name="Text 12"/>
          <p:cNvSpPr txBox="1"/>
          <p:nvPr/>
        </p:nvSpPr>
        <p:spPr>
          <a:xfrm>
            <a:off x="722376" y="2724912"/>
            <a:ext cx="320040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Human calibration of the AI review</a:t>
            </a:r>
            <a:endParaRPr lang="en-US" sz="1200" dirty="0"/>
          </a:p>
        </p:txBody>
      </p:sp>
      <p:sp>
        <p:nvSpPr>
          <p:cNvPr id="15" name="Text 13"/>
          <p:cNvSpPr txBox="1"/>
          <p:nvPr/>
        </p:nvSpPr>
        <p:spPr>
          <a:xfrm>
            <a:off x="3977640" y="2724912"/>
            <a:ext cx="2468880" cy="438912"/>
          </a:xfrm>
          <a:prstGeom prst="rect">
            <a:avLst/>
          </a:prstGeom>
          <a:noFill/>
          <a:ln/>
        </p:spPr>
        <p:txBody>
          <a:bodyPr wrap="square" lIns="0" tIns="0" rIns="0" bIns="0" rtlCol="0" anchor="ctr"/>
          <a:lstStyle/>
          <a:p>
            <a:pPr indent="0" marL="0">
              <a:buNone/>
            </a:pPr>
            <a:r>
              <a:rPr lang="en-US" sz="1000" dirty="0">
                <a:solidFill>
                  <a:srgbClr val="AEB6CF"/>
                </a:solidFill>
                <a:latin typeface="Calibri" pitchFamily="34" charset="0"/>
                <a:ea typeface="Calibri" pitchFamily="34" charset="-122"/>
                <a:cs typeface="Calibri" pitchFamily="34" charset="-120"/>
              </a:rPr>
              <a:t>with independent reviewers</a:t>
            </a:r>
            <a:endParaRPr lang="en-US" sz="1000" dirty="0"/>
          </a:p>
        </p:txBody>
      </p:sp>
      <p:sp>
        <p:nvSpPr>
          <p:cNvPr id="16" name="Text 14"/>
          <p:cNvSpPr txBox="1"/>
          <p:nvPr/>
        </p:nvSpPr>
        <p:spPr>
          <a:xfrm>
            <a:off x="6492240" y="2724912"/>
            <a:ext cx="2011680" cy="438912"/>
          </a:xfrm>
          <a:prstGeom prst="rect">
            <a:avLst/>
          </a:prstGeom>
          <a:noFill/>
          <a:ln/>
        </p:spPr>
        <p:txBody>
          <a:bodyPr wrap="square" lIns="0" tIns="0" rIns="0" bIns="0" rtlCol="0" anchor="ctr"/>
          <a:lstStyle/>
          <a:p>
            <a:pPr indent="0" marL="0">
              <a:buNone/>
            </a:pPr>
            <a:r>
              <a:rPr lang="en-US" sz="900" i="1" dirty="0">
                <a:solidFill>
                  <a:srgbClr val="E0A32E"/>
                </a:solidFill>
                <a:latin typeface="Calibri" pitchFamily="34" charset="0"/>
                <a:ea typeface="Calibri" pitchFamily="34" charset="-122"/>
                <a:cs typeface="Calibri" pitchFamily="34" charset="-120"/>
              </a:rPr>
              <a:t>answers: AI reviewing AI</a:t>
            </a:r>
            <a:endParaRPr lang="en-US" sz="900" dirty="0"/>
          </a:p>
        </p:txBody>
      </p:sp>
      <p:sp>
        <p:nvSpPr>
          <p:cNvPr id="17" name="Shape 15"/>
          <p:cNvSpPr/>
          <p:nvPr/>
        </p:nvSpPr>
        <p:spPr>
          <a:xfrm>
            <a:off x="502920" y="3291840"/>
            <a:ext cx="8138160" cy="548640"/>
          </a:xfrm>
          <a:prstGeom prst="roundRect">
            <a:avLst>
              <a:gd name="adj" fmla="val 8333"/>
            </a:avLst>
          </a:prstGeom>
          <a:solidFill>
            <a:srgbClr val="212B4D"/>
          </a:solidFill>
          <a:ln w="12700">
            <a:solidFill>
              <a:srgbClr val="212B4D"/>
            </a:solidFill>
            <a:prstDash val="solid"/>
          </a:ln>
        </p:spPr>
      </p:sp>
      <p:sp>
        <p:nvSpPr>
          <p:cNvPr id="18" name="Text 16"/>
          <p:cNvSpPr txBox="1"/>
          <p:nvPr/>
        </p:nvSpPr>
        <p:spPr>
          <a:xfrm>
            <a:off x="722376" y="3346704"/>
            <a:ext cx="320040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 five-to-ten-user pilot</a:t>
            </a:r>
            <a:endParaRPr lang="en-US" sz="1200" dirty="0"/>
          </a:p>
        </p:txBody>
      </p:sp>
      <p:sp>
        <p:nvSpPr>
          <p:cNvPr id="19" name="Text 17"/>
          <p:cNvSpPr txBox="1"/>
          <p:nvPr/>
        </p:nvSpPr>
        <p:spPr>
          <a:xfrm>
            <a:off x="3977640" y="3346704"/>
            <a:ext cx="2468880" cy="438912"/>
          </a:xfrm>
          <a:prstGeom prst="rect">
            <a:avLst/>
          </a:prstGeom>
          <a:noFill/>
          <a:ln/>
        </p:spPr>
        <p:txBody>
          <a:bodyPr wrap="square" lIns="0" tIns="0" rIns="0" bIns="0" rtlCol="0" anchor="ctr"/>
          <a:lstStyle/>
          <a:p>
            <a:pPr indent="0" marL="0">
              <a:buNone/>
            </a:pPr>
            <a:r>
              <a:rPr lang="en-US" sz="1000" dirty="0">
                <a:solidFill>
                  <a:srgbClr val="AEB6CF"/>
                </a:solidFill>
                <a:latin typeface="Calibri" pitchFamily="34" charset="0"/>
                <a:ea typeface="Calibri" pitchFamily="34" charset="-122"/>
                <a:cs typeface="Calibri" pitchFamily="34" charset="-120"/>
              </a:rPr>
              <a:t>over one to two weeks</a:t>
            </a:r>
            <a:endParaRPr lang="en-US" sz="1000" dirty="0"/>
          </a:p>
        </p:txBody>
      </p:sp>
      <p:sp>
        <p:nvSpPr>
          <p:cNvPr id="20" name="Text 18"/>
          <p:cNvSpPr txBox="1"/>
          <p:nvPr/>
        </p:nvSpPr>
        <p:spPr>
          <a:xfrm>
            <a:off x="6492240" y="3346704"/>
            <a:ext cx="2011680" cy="438912"/>
          </a:xfrm>
          <a:prstGeom prst="rect">
            <a:avLst/>
          </a:prstGeom>
          <a:noFill/>
          <a:ln/>
        </p:spPr>
        <p:txBody>
          <a:bodyPr wrap="square" lIns="0" tIns="0" rIns="0" bIns="0" rtlCol="0" anchor="ctr"/>
          <a:lstStyle/>
          <a:p>
            <a:pPr indent="0" marL="0">
              <a:buNone/>
            </a:pPr>
            <a:r>
              <a:rPr lang="en-US" sz="900" i="1" dirty="0">
                <a:solidFill>
                  <a:srgbClr val="E0A32E"/>
                </a:solidFill>
                <a:latin typeface="Calibri" pitchFamily="34" charset="0"/>
                <a:ea typeface="Calibri" pitchFamily="34" charset="-122"/>
                <a:cs typeface="Calibri" pitchFamily="34" charset="-120"/>
              </a:rPr>
              <a:t>answers: no real user has used the system</a:t>
            </a:r>
            <a:endParaRPr lang="en-US" sz="900" dirty="0"/>
          </a:p>
        </p:txBody>
      </p:sp>
      <p:sp>
        <p:nvSpPr>
          <p:cNvPr id="21" name="Text 19"/>
          <p:cNvSpPr txBox="1"/>
          <p:nvPr/>
        </p:nvSpPr>
        <p:spPr>
          <a:xfrm>
            <a:off x="502920" y="3968496"/>
            <a:ext cx="8138160" cy="310896"/>
          </a:xfrm>
          <a:prstGeom prst="rect">
            <a:avLst/>
          </a:prstGeom>
          <a:noFill/>
          <a:ln/>
        </p:spPr>
        <p:txBody>
          <a:bodyPr wrap="square" lIns="0" tIns="0" rIns="0" bIns="0" rtlCol="0" anchor="ctr"/>
          <a:lstStyle/>
          <a:p>
            <a:pPr indent="0" marL="0">
              <a:buNone/>
            </a:pPr>
            <a:r>
              <a:rPr lang="en-US" sz="1250" i="1" dirty="0">
                <a:solidFill>
                  <a:srgbClr val="8E97B8"/>
                </a:solidFill>
                <a:latin typeface="Calibri" pitchFamily="34" charset="0"/>
                <a:ea typeface="Calibri" pitchFamily="34" charset="-122"/>
                <a:cs typeface="Calibri" pitchFamily="34" charset="-120"/>
              </a:rPr>
              <a:t>Can AI hold you accountable to your own values, with evidence?</a:t>
            </a:r>
            <a:endParaRPr lang="en-US" sz="1250" dirty="0"/>
          </a:p>
        </p:txBody>
      </p:sp>
      <p:sp>
        <p:nvSpPr>
          <p:cNvPr id="22" name="Text 20"/>
          <p:cNvSpPr txBox="1"/>
          <p:nvPr/>
        </p:nvSpPr>
        <p:spPr>
          <a:xfrm>
            <a:off x="502920" y="4261104"/>
            <a:ext cx="8138160" cy="402336"/>
          </a:xfrm>
          <a:prstGeom prst="rect">
            <a:avLst/>
          </a:prstGeom>
          <a:noFill/>
          <a:ln/>
        </p:spPr>
        <p:txBody>
          <a:bodyPr wrap="square" lIns="0" tIns="0" rIns="0" bIns="0" rtlCol="0" anchor="ctr"/>
          <a:lstStyle/>
          <a:p>
            <a:pPr indent="0" marL="0">
              <a:buNone/>
            </a:pPr>
            <a:r>
              <a:rPr lang="en-US" sz="2000" b="1" dirty="0">
                <a:solidFill>
                  <a:srgbClr val="E0A32E"/>
                </a:solidFill>
                <a:latin typeface="Cambria" pitchFamily="34" charset="0"/>
                <a:ea typeface="Cambria" pitchFamily="34" charset="-122"/>
                <a:cs typeface="Cambria" pitchFamily="34" charset="-120"/>
              </a:rPr>
              <a:t>Accountability, made testable and inspectable.</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7203F"/>
        </a:solidFill>
      </p:bgPr>
    </p:bg>
    <p:spTree>
      <p:nvGrpSpPr>
        <p:cNvPr id="1" name=""/>
        <p:cNvGrpSpPr/>
        <p:nvPr/>
      </p:nvGrpSpPr>
      <p:grpSpPr>
        <a:xfrm>
          <a:off x="0" y="0"/>
          <a:ext cx="0" cy="0"/>
          <a:chOff x="0" y="0"/>
          <a:chExt cx="0" cy="0"/>
        </a:xfrm>
      </p:grpSpPr>
      <p:sp>
        <p:nvSpPr>
          <p:cNvPr id="2" name="Shape 0"/>
          <p:cNvSpPr/>
          <p:nvPr/>
        </p:nvSpPr>
        <p:spPr>
          <a:xfrm>
            <a:off x="502920" y="2212848"/>
            <a:ext cx="146304" cy="146304"/>
          </a:xfrm>
          <a:prstGeom prst="ellipse">
            <a:avLst/>
          </a:prstGeom>
          <a:solidFill>
            <a:srgbClr val="E0A32E"/>
          </a:solidFill>
          <a:ln/>
        </p:spPr>
      </p:sp>
      <p:sp>
        <p:nvSpPr>
          <p:cNvPr id="3" name="Text 1"/>
          <p:cNvSpPr txBox="1"/>
          <p:nvPr/>
        </p:nvSpPr>
        <p:spPr>
          <a:xfrm>
            <a:off x="777240" y="2011680"/>
            <a:ext cx="813816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Questions</a:t>
            </a:r>
            <a:endParaRPr lang="en-US" sz="3800" dirty="0"/>
          </a:p>
        </p:txBody>
      </p:sp>
      <p:sp>
        <p:nvSpPr>
          <p:cNvPr id="4" name="Text 2"/>
          <p:cNvSpPr txBox="1"/>
          <p:nvPr/>
        </p:nvSpPr>
        <p:spPr>
          <a:xfrm>
            <a:off x="777240" y="2743200"/>
            <a:ext cx="6858000" cy="548640"/>
          </a:xfrm>
          <a:prstGeom prst="rect">
            <a:avLst/>
          </a:prstGeom>
          <a:noFill/>
          <a:ln/>
        </p:spPr>
        <p:txBody>
          <a:bodyPr wrap="square" lIns="0" tIns="0" rIns="0" bIns="0" rtlCol="0" anchor="ctr"/>
          <a:lstStyle/>
          <a:p>
            <a:pPr indent="0" marL="0">
              <a:buNone/>
            </a:pPr>
            <a:r>
              <a:rPr lang="en-US" sz="1150" dirty="0">
                <a:solidFill>
                  <a:srgbClr val="8E97B8"/>
                </a:solidFill>
                <a:latin typeface="Calibri" pitchFamily="34" charset="0"/>
                <a:ea typeface="Calibri" pitchFamily="34" charset="-122"/>
                <a:cs typeface="Calibri" pitchFamily="34" charset="-120"/>
              </a:rPr>
              <a:t>Appendix slides follow: prepared answers, Drift Detector state diagram, Best-Worst Scaling scoring, full experiment table, per-value metrics, test and deployment evidence.</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7203F"/>
        </a:solidFill>
      </p:bgPr>
    </p:bg>
    <p:spTree>
      <p:nvGrpSpPr>
        <p:cNvPr id="1" name=""/>
        <p:cNvGrpSpPr/>
        <p:nvPr/>
      </p:nvGrpSpPr>
      <p:grpSpPr>
        <a:xfrm>
          <a:off x="0" y="0"/>
          <a:ext cx="0" cy="0"/>
          <a:chOff x="0" y="0"/>
          <a:chExt cx="0" cy="0"/>
        </a:xfrm>
      </p:grpSpPr>
      <p:sp>
        <p:nvSpPr>
          <p:cNvPr id="2" name="Shape 0"/>
          <p:cNvSpPr/>
          <p:nvPr/>
        </p:nvSpPr>
        <p:spPr>
          <a:xfrm>
            <a:off x="502920" y="1828800"/>
            <a:ext cx="128016" cy="128016"/>
          </a:xfrm>
          <a:prstGeom prst="ellipse">
            <a:avLst/>
          </a:prstGeom>
          <a:solidFill>
            <a:srgbClr val="E0A32E"/>
          </a:solidFill>
          <a:ln/>
        </p:spPr>
      </p:sp>
      <p:sp>
        <p:nvSpPr>
          <p:cNvPr id="3" name="Text 1"/>
          <p:cNvSpPr txBox="1"/>
          <p:nvPr/>
        </p:nvSpPr>
        <p:spPr>
          <a:xfrm>
            <a:off x="740664" y="1737360"/>
            <a:ext cx="8138160" cy="292608"/>
          </a:xfrm>
          <a:prstGeom prst="rect">
            <a:avLst/>
          </a:prstGeom>
          <a:noFill/>
          <a:ln/>
        </p:spPr>
        <p:txBody>
          <a:bodyPr wrap="square" lIns="0" tIns="0" rIns="0" bIns="0" rtlCol="0" anchor="ctr"/>
          <a:lstStyle/>
          <a:p>
            <a:pPr indent="0" marL="0">
              <a:buNone/>
            </a:pPr>
            <a:r>
              <a:rPr lang="en-US" sz="1100" b="1" spc="200" kern="0" dirty="0">
                <a:solidFill>
                  <a:srgbClr val="E0A32E"/>
                </a:solidFill>
                <a:latin typeface="Calibri" pitchFamily="34" charset="0"/>
                <a:ea typeface="Calibri" pitchFamily="34" charset="-122"/>
                <a:cs typeface="Calibri" pitchFamily="34" charset="-120"/>
              </a:rPr>
              <a:t>APPENDIX</a:t>
            </a:r>
            <a:endParaRPr lang="en-US" sz="1100" dirty="0"/>
          </a:p>
        </p:txBody>
      </p:sp>
      <p:sp>
        <p:nvSpPr>
          <p:cNvPr id="4" name="Text 2"/>
          <p:cNvSpPr txBox="1"/>
          <p:nvPr/>
        </p:nvSpPr>
        <p:spPr>
          <a:xfrm>
            <a:off x="502920" y="2148840"/>
            <a:ext cx="704088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Prepared answers</a:t>
            </a:r>
            <a:endParaRPr lang="en-US" sz="3200" dirty="0"/>
          </a:p>
        </p:txBody>
      </p:sp>
      <p:sp>
        <p:nvSpPr>
          <p:cNvPr id="5" name="Text 3"/>
          <p:cNvSpPr txBox="1"/>
          <p:nvPr/>
        </p:nvSpPr>
        <p:spPr>
          <a:xfrm>
            <a:off x="502920" y="3017520"/>
            <a:ext cx="6675120" cy="548640"/>
          </a:xfrm>
          <a:prstGeom prst="rect">
            <a:avLst/>
          </a:prstGeom>
          <a:noFill/>
          <a:ln/>
        </p:spPr>
        <p:txBody>
          <a:bodyPr wrap="square" lIns="0" tIns="0" rIns="0" bIns="0" rtlCol="0" anchor="ctr"/>
          <a:lstStyle/>
          <a:p>
            <a:pPr indent="0" marL="0">
              <a:buNone/>
            </a:pPr>
            <a:r>
              <a:rPr lang="en-US" sz="1300" dirty="0">
                <a:solidFill>
                  <a:srgbClr val="AEB6CF"/>
                </a:solidFill>
                <a:latin typeface="Calibri" pitchFamily="34" charset="0"/>
                <a:ea typeface="Calibri" pitchFamily="34" charset="-122"/>
                <a:cs typeface="Calibri" pitchFamily="34" charset="-120"/>
              </a:rPr>
              <a:t>Held back — go here only if asked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APPENDIX · Q1</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400" b="1" dirty="0">
                <a:solidFill>
                  <a:srgbClr val="17203F"/>
                </a:solidFill>
                <a:latin typeface="Cambria" pitchFamily="34" charset="0"/>
                <a:ea typeface="Cambria" pitchFamily="34" charset="-122"/>
                <a:cs typeface="Cambria" pitchFamily="34" charset="-120"/>
              </a:rPr>
              <a:t>Isn't this just an LLM beating an MLP?</a:t>
            </a:r>
            <a:endParaRPr lang="en-US" sz="2400" dirty="0"/>
          </a:p>
        </p:txBody>
      </p:sp>
      <p:sp>
        <p:nvSpPr>
          <p:cNvPr id="5" name="Shape 3"/>
          <p:cNvSpPr/>
          <p:nvPr/>
        </p:nvSpPr>
        <p:spPr>
          <a:xfrm>
            <a:off x="502920" y="1335024"/>
            <a:ext cx="8138160" cy="658368"/>
          </a:xfrm>
          <a:prstGeom prst="roundRect">
            <a:avLst>
              <a:gd name="adj" fmla="val 8333"/>
            </a:avLst>
          </a:prstGeom>
          <a:solidFill>
            <a:srgbClr val="1F2A4D"/>
          </a:solidFill>
          <a:ln w="12700">
            <a:solidFill>
              <a:srgbClr val="1F2A4D"/>
            </a:solidFill>
            <a:prstDash val="solid"/>
          </a:ln>
        </p:spPr>
      </p:sp>
      <p:sp>
        <p:nvSpPr>
          <p:cNvPr id="6" name="Text 4"/>
          <p:cNvSpPr txBox="1"/>
          <p:nvPr/>
        </p:nvSpPr>
        <p:spPr>
          <a:xfrm>
            <a:off x="758952" y="1335024"/>
            <a:ext cx="7626096" cy="658368"/>
          </a:xfrm>
          <a:prstGeom prst="rect">
            <a:avLst/>
          </a:prstGeom>
          <a:noFill/>
          <a:ln/>
        </p:spPr>
        <p:txBody>
          <a:bodyPr wrap="square" lIns="0" tIns="0" rIns="0" bIns="0" rtlCol="0" anchor="ctr"/>
          <a:lstStyle/>
          <a:p>
            <a:pPr indent="0" marL="0">
              <a:buNone/>
            </a:pPr>
            <a:r>
              <a:rPr lang="en-US" sz="1600" b="1" dirty="0">
                <a:solidFill>
                  <a:srgbClr val="E0A32E"/>
                </a:solidFill>
                <a:latin typeface="Cambria" pitchFamily="34" charset="0"/>
                <a:ea typeface="Cambria" pitchFamily="34" charset="-122"/>
                <a:cs typeface="Cambria" pitchFamily="34" charset="-120"/>
              </a:rPr>
              <a:t>No.</a:t>
            </a:r>
            <a:endParaRPr lang="en-US" sz="1600" dirty="0"/>
          </a:p>
        </p:txBody>
      </p:sp>
      <p:sp>
        <p:nvSpPr>
          <p:cNvPr id="7" name="Text 5"/>
          <p:cNvSpPr txBox="1"/>
          <p:nvPr/>
        </p:nvSpPr>
        <p:spPr>
          <a:xfrm>
            <a:off x="502920" y="2194560"/>
            <a:ext cx="8138160" cy="914400"/>
          </a:xfrm>
          <a:prstGeom prst="rect">
            <a:avLst/>
          </a:prstGeom>
          <a:noFill/>
          <a:ln/>
        </p:spPr>
        <p:txBody>
          <a:bodyPr wrap="square" lIns="0" tIns="0" rIns="0" bIns="0" rtlCol="0" anchor="ctr"/>
          <a:lstStyle/>
          <a:p>
            <a:pPr indent="0" marL="0">
              <a:buNone/>
            </a:pPr>
            <a:r>
              <a:rPr lang="en-US" sz="1300" dirty="0">
                <a:solidFill>
                  <a:srgbClr val="1F2433"/>
                </a:solidFill>
                <a:latin typeface="Calibri" pitchFamily="34" charset="0"/>
                <a:ea typeface="Calibri" pitchFamily="34" charset="-122"/>
                <a:cs typeface="Calibri" pitchFamily="34" charset="-120"/>
              </a:rPr>
              <a:t>Different inputs, different reference labels, different granularity. The entry-level VIF Critic and the longitudinal Weekly Drift Reviewer were never run as a controlled model comparison, and the paper says so explicitly.</a:t>
            </a:r>
            <a:endParaRPr lang="en-US" sz="1300" dirty="0"/>
          </a:p>
        </p:txBody>
      </p:sp>
      <p:sp>
        <p:nvSpPr>
          <p:cNvPr id="8" name="Shape 6"/>
          <p:cNvSpPr/>
          <p:nvPr/>
        </p:nvSpPr>
        <p:spPr>
          <a:xfrm>
            <a:off x="502920" y="3182112"/>
            <a:ext cx="8138160" cy="566928"/>
          </a:xfrm>
          <a:prstGeom prst="roundRect">
            <a:avLst>
              <a:gd name="adj" fmla="val 9677"/>
            </a:avLst>
          </a:prstGeom>
          <a:solidFill>
            <a:srgbClr val="F3F4F7"/>
          </a:solidFill>
          <a:ln w="12700">
            <a:solidFill>
              <a:srgbClr val="F3F4F7"/>
            </a:solidFill>
            <a:prstDash val="solid"/>
          </a:ln>
        </p:spPr>
      </p:sp>
      <p:sp>
        <p:nvSpPr>
          <p:cNvPr id="9" name="Text 7"/>
          <p:cNvSpPr txBox="1"/>
          <p:nvPr/>
        </p:nvSpPr>
        <p:spPr>
          <a:xfrm>
            <a:off x="758952" y="3182112"/>
            <a:ext cx="7626096" cy="566928"/>
          </a:xfrm>
          <a:prstGeom prst="rect">
            <a:avLst/>
          </a:prstGeom>
          <a:noFill/>
          <a:ln/>
        </p:spPr>
        <p:txBody>
          <a:bodyPr wrap="square" lIns="0" tIns="0" rIns="0" bIns="0" rtlCol="0" anchor="ctr"/>
          <a:lstStyle/>
          <a:p>
            <a:pPr indent="0" marL="0">
              <a:buNone/>
            </a:pPr>
            <a:r>
              <a:rPr lang="en-US" sz="1150" i="1" dirty="0">
                <a:solidFill>
                  <a:srgbClr val="2C3A6B"/>
                </a:solidFill>
                <a:latin typeface="Calibri" pitchFamily="34" charset="0"/>
                <a:ea typeface="Calibri" pitchFamily="34" charset="-122"/>
                <a:cs typeface="Calibri" pitchFamily="34" charset="-120"/>
              </a:rPr>
              <a:t>See slide 18 — the two panels locate where the work is, they do not rank the components.</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APPENDIX · Q2</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400" b="1" dirty="0">
                <a:solidFill>
                  <a:srgbClr val="17203F"/>
                </a:solidFill>
                <a:latin typeface="Cambria" pitchFamily="34" charset="0"/>
                <a:ea typeface="Cambria" pitchFamily="34" charset="-122"/>
                <a:cs typeface="Cambria" pitchFamily="34" charset="-120"/>
              </a:rPr>
              <a:t>Why trust synthetic data?</a:t>
            </a:r>
            <a:endParaRPr lang="en-US" sz="2400" dirty="0"/>
          </a:p>
        </p:txBody>
      </p:sp>
      <p:sp>
        <p:nvSpPr>
          <p:cNvPr id="5" name="Shape 3"/>
          <p:cNvSpPr/>
          <p:nvPr/>
        </p:nvSpPr>
        <p:spPr>
          <a:xfrm>
            <a:off x="502920" y="1335024"/>
            <a:ext cx="8138160" cy="658368"/>
          </a:xfrm>
          <a:prstGeom prst="roundRect">
            <a:avLst>
              <a:gd name="adj" fmla="val 8333"/>
            </a:avLst>
          </a:prstGeom>
          <a:solidFill>
            <a:srgbClr val="1F2A4D"/>
          </a:solidFill>
          <a:ln w="12700">
            <a:solidFill>
              <a:srgbClr val="1F2A4D"/>
            </a:solidFill>
            <a:prstDash val="solid"/>
          </a:ln>
        </p:spPr>
      </p:sp>
      <p:sp>
        <p:nvSpPr>
          <p:cNvPr id="6" name="Text 4"/>
          <p:cNvSpPr txBox="1"/>
          <p:nvPr/>
        </p:nvSpPr>
        <p:spPr>
          <a:xfrm>
            <a:off x="758952" y="1335024"/>
            <a:ext cx="7626096" cy="658368"/>
          </a:xfrm>
          <a:prstGeom prst="rect">
            <a:avLst/>
          </a:prstGeom>
          <a:noFill/>
          <a:ln/>
        </p:spPr>
        <p:txBody>
          <a:bodyPr wrap="square" lIns="0" tIns="0" rIns="0" bIns="0" rtlCol="0" anchor="ctr"/>
          <a:lstStyle/>
          <a:p>
            <a:pPr indent="0" marL="0">
              <a:buNone/>
            </a:pPr>
            <a:r>
              <a:rPr lang="en-US" sz="1600" b="1" dirty="0">
                <a:solidFill>
                  <a:srgbClr val="E0A32E"/>
                </a:solidFill>
                <a:latin typeface="Cambria" pitchFamily="34" charset="0"/>
                <a:ea typeface="Cambria" pitchFamily="34" charset="-122"/>
                <a:cs typeface="Cambria" pitchFamily="34" charset="-120"/>
              </a:rPr>
              <a:t>It is bounded development evidence — nothing more.</a:t>
            </a:r>
            <a:endParaRPr lang="en-US" sz="1600" dirty="0"/>
          </a:p>
        </p:txBody>
      </p:sp>
      <p:sp>
        <p:nvSpPr>
          <p:cNvPr id="7" name="Text 5"/>
          <p:cNvSpPr txBox="1"/>
          <p:nvPr/>
        </p:nvSpPr>
        <p:spPr>
          <a:xfrm>
            <a:off x="502920" y="2194560"/>
            <a:ext cx="8138160" cy="914400"/>
          </a:xfrm>
          <a:prstGeom prst="rect">
            <a:avLst/>
          </a:prstGeom>
          <a:noFill/>
          <a:ln/>
        </p:spPr>
        <p:txBody>
          <a:bodyPr wrap="square" lIns="0" tIns="0" rIns="0" bIns="0" rtlCol="0" anchor="ctr"/>
          <a:lstStyle/>
          <a:p>
            <a:pPr indent="0" marL="0">
              <a:buNone/>
            </a:pPr>
            <a:r>
              <a:rPr lang="en-US" sz="1300" dirty="0">
                <a:solidFill>
                  <a:srgbClr val="1F2433"/>
                </a:solidFill>
                <a:latin typeface="Calibri" pitchFamily="34" charset="0"/>
                <a:ea typeface="Calibri" pitchFamily="34" charset="-122"/>
                <a:cs typeface="Calibri" pitchFamily="34" charset="-120"/>
              </a:rPr>
              <a:t>Frozen holdouts, label QA, repeated-call stability of 0.775–0.890, and a 115-entry human-overlap benchmark. Generation controls covered banned terms, leakage, and train-only augmentation.</a:t>
            </a:r>
            <a:endParaRPr lang="en-US" sz="1300" dirty="0"/>
          </a:p>
        </p:txBody>
      </p:sp>
      <p:sp>
        <p:nvSpPr>
          <p:cNvPr id="8" name="Shape 6"/>
          <p:cNvSpPr/>
          <p:nvPr/>
        </p:nvSpPr>
        <p:spPr>
          <a:xfrm>
            <a:off x="502920" y="3182112"/>
            <a:ext cx="8138160" cy="566928"/>
          </a:xfrm>
          <a:prstGeom prst="roundRect">
            <a:avLst>
              <a:gd name="adj" fmla="val 9677"/>
            </a:avLst>
          </a:prstGeom>
          <a:solidFill>
            <a:srgbClr val="F3F4F7"/>
          </a:solidFill>
          <a:ln w="12700">
            <a:solidFill>
              <a:srgbClr val="F3F4F7"/>
            </a:solidFill>
            <a:prstDash val="solid"/>
          </a:ln>
        </p:spPr>
      </p:sp>
      <p:sp>
        <p:nvSpPr>
          <p:cNvPr id="9" name="Text 7"/>
          <p:cNvSpPr txBox="1"/>
          <p:nvPr/>
        </p:nvSpPr>
        <p:spPr>
          <a:xfrm>
            <a:off x="758952" y="3182112"/>
            <a:ext cx="7626096" cy="566928"/>
          </a:xfrm>
          <a:prstGeom prst="rect">
            <a:avLst/>
          </a:prstGeom>
          <a:noFill/>
          <a:ln/>
        </p:spPr>
        <p:txBody>
          <a:bodyPr wrap="square" lIns="0" tIns="0" rIns="0" bIns="0" rtlCol="0" anchor="ctr"/>
          <a:lstStyle/>
          <a:p>
            <a:pPr indent="0" marL="0">
              <a:buNone/>
            </a:pPr>
            <a:r>
              <a:rPr lang="en-US" sz="1150" i="1" dirty="0">
                <a:solidFill>
                  <a:srgbClr val="2C3A6B"/>
                </a:solidFill>
                <a:latin typeface="Calibri" pitchFamily="34" charset="0"/>
                <a:ea typeface="Calibri" pitchFamily="34" charset="-122"/>
                <a:cs typeface="Calibri" pitchFamily="34" charset="-120"/>
              </a:rPr>
              <a:t>It is not ground truth, and we make no claim that it is.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APPENDIX · Q3</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400" b="1" dirty="0">
                <a:solidFill>
                  <a:srgbClr val="17203F"/>
                </a:solidFill>
                <a:latin typeface="Cambria" pitchFamily="34" charset="0"/>
                <a:ea typeface="Cambria" pitchFamily="34" charset="-122"/>
                <a:cs typeface="Cambria" pitchFamily="34" charset="-120"/>
              </a:rPr>
              <a:t>Why keep the VIF Critic at all?</a:t>
            </a:r>
            <a:endParaRPr lang="en-US" sz="2400" dirty="0"/>
          </a:p>
        </p:txBody>
      </p:sp>
      <p:sp>
        <p:nvSpPr>
          <p:cNvPr id="5" name="Shape 3"/>
          <p:cNvSpPr/>
          <p:nvPr/>
        </p:nvSpPr>
        <p:spPr>
          <a:xfrm>
            <a:off x="502920" y="1335024"/>
            <a:ext cx="8138160" cy="658368"/>
          </a:xfrm>
          <a:prstGeom prst="roundRect">
            <a:avLst>
              <a:gd name="adj" fmla="val 8333"/>
            </a:avLst>
          </a:prstGeom>
          <a:solidFill>
            <a:srgbClr val="1F2A4D"/>
          </a:solidFill>
          <a:ln w="12700">
            <a:solidFill>
              <a:srgbClr val="1F2A4D"/>
            </a:solidFill>
            <a:prstDash val="solid"/>
          </a:ln>
        </p:spPr>
      </p:sp>
      <p:sp>
        <p:nvSpPr>
          <p:cNvPr id="6" name="Text 4"/>
          <p:cNvSpPr txBox="1"/>
          <p:nvPr/>
        </p:nvSpPr>
        <p:spPr>
          <a:xfrm>
            <a:off x="758952" y="1335024"/>
            <a:ext cx="7626096" cy="658368"/>
          </a:xfrm>
          <a:prstGeom prst="rect">
            <a:avLst/>
          </a:prstGeom>
          <a:noFill/>
          <a:ln/>
        </p:spPr>
        <p:txBody>
          <a:bodyPr wrap="square" lIns="0" tIns="0" rIns="0" bIns="0" rtlCol="0" anchor="ctr"/>
          <a:lstStyle/>
          <a:p>
            <a:pPr indent="0" marL="0">
              <a:buNone/>
            </a:pPr>
            <a:r>
              <a:rPr lang="en-US" sz="1600" b="1" dirty="0">
                <a:solidFill>
                  <a:srgbClr val="E0A32E"/>
                </a:solidFill>
                <a:latin typeface="Cambria" pitchFamily="34" charset="0"/>
                <a:ea typeface="Cambria" pitchFamily="34" charset="-122"/>
                <a:cs typeface="Cambria" pitchFamily="34" charset="-120"/>
              </a:rPr>
              <a:t>Because it answers the research question.</a:t>
            </a:r>
            <a:endParaRPr lang="en-US" sz="1600" dirty="0"/>
          </a:p>
        </p:txBody>
      </p:sp>
      <p:sp>
        <p:nvSpPr>
          <p:cNvPr id="7" name="Text 5"/>
          <p:cNvSpPr txBox="1"/>
          <p:nvPr/>
        </p:nvSpPr>
        <p:spPr>
          <a:xfrm>
            <a:off x="502920" y="2194560"/>
            <a:ext cx="8138160" cy="914400"/>
          </a:xfrm>
          <a:prstGeom prst="rect">
            <a:avLst/>
          </a:prstGeom>
          <a:noFill/>
          <a:ln/>
        </p:spPr>
        <p:txBody>
          <a:bodyPr wrap="square" lIns="0" tIns="0" rIns="0" bIns="0" rtlCol="0" anchor="ctr"/>
          <a:lstStyle/>
          <a:p>
            <a:pPr indent="0" marL="0">
              <a:buNone/>
            </a:pPr>
            <a:r>
              <a:rPr lang="en-US" sz="1300" dirty="0">
                <a:solidFill>
                  <a:srgbClr val="1F2433"/>
                </a:solidFill>
                <a:latin typeface="Calibri" pitchFamily="34" charset="0"/>
                <a:ea typeface="Calibri" pitchFamily="34" charset="-122"/>
                <a:cs typeface="Calibri" pitchFamily="34" charset="-120"/>
              </a:rPr>
              <a:t>Investigation 2 asked what a compact model can recover from a single entry under severe class imbalance. The answer — a measurable but inadequate frontier across 69 run IDs and 133 configurations — is a result.</a:t>
            </a:r>
            <a:endParaRPr lang="en-US" sz="1300" dirty="0"/>
          </a:p>
        </p:txBody>
      </p:sp>
      <p:sp>
        <p:nvSpPr>
          <p:cNvPr id="8" name="Shape 6"/>
          <p:cNvSpPr/>
          <p:nvPr/>
        </p:nvSpPr>
        <p:spPr>
          <a:xfrm>
            <a:off x="502920" y="3182112"/>
            <a:ext cx="8138160" cy="566928"/>
          </a:xfrm>
          <a:prstGeom prst="roundRect">
            <a:avLst>
              <a:gd name="adj" fmla="val 9677"/>
            </a:avLst>
          </a:prstGeom>
          <a:solidFill>
            <a:srgbClr val="F3F4F7"/>
          </a:solidFill>
          <a:ln w="12700">
            <a:solidFill>
              <a:srgbClr val="F3F4F7"/>
            </a:solidFill>
            <a:prstDash val="solid"/>
          </a:ln>
        </p:spPr>
      </p:sp>
      <p:sp>
        <p:nvSpPr>
          <p:cNvPr id="9" name="Text 7"/>
          <p:cNvSpPr txBox="1"/>
          <p:nvPr/>
        </p:nvSpPr>
        <p:spPr>
          <a:xfrm>
            <a:off x="758952" y="3182112"/>
            <a:ext cx="7626096" cy="566928"/>
          </a:xfrm>
          <a:prstGeom prst="rect">
            <a:avLst/>
          </a:prstGeom>
          <a:noFill/>
          <a:ln/>
        </p:spPr>
        <p:txBody>
          <a:bodyPr wrap="square" lIns="0" tIns="0" rIns="0" bIns="0" rtlCol="0" anchor="ctr"/>
          <a:lstStyle/>
          <a:p>
            <a:pPr indent="0" marL="0">
              <a:buNone/>
            </a:pPr>
            <a:r>
              <a:rPr lang="en-US" sz="1150" i="1" dirty="0">
                <a:solidFill>
                  <a:srgbClr val="2C3A6B"/>
                </a:solidFill>
                <a:latin typeface="Calibri" pitchFamily="34" charset="0"/>
                <a:ea typeface="Calibri" pitchFamily="34" charset="-122"/>
                <a:cs typeface="Calibri" pitchFamily="34" charset="-120"/>
              </a:rPr>
              <a:t>That negative result is precisely what justified the architecture decision.</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APPENDIX · Q4</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400" b="1" dirty="0">
                <a:solidFill>
                  <a:srgbClr val="17203F"/>
                </a:solidFill>
                <a:latin typeface="Cambria" pitchFamily="34" charset="0"/>
                <a:ea typeface="Cambria" pitchFamily="34" charset="-122"/>
                <a:cs typeface="Cambria" pitchFamily="34" charset="-120"/>
              </a:rPr>
              <a:t>Isn't AI evaluating AI circular?</a:t>
            </a:r>
            <a:endParaRPr lang="en-US" sz="2400" dirty="0"/>
          </a:p>
        </p:txBody>
      </p:sp>
      <p:sp>
        <p:nvSpPr>
          <p:cNvPr id="5" name="Shape 3"/>
          <p:cNvSpPr/>
          <p:nvPr/>
        </p:nvSpPr>
        <p:spPr>
          <a:xfrm>
            <a:off x="502920" y="1335024"/>
            <a:ext cx="8138160" cy="658368"/>
          </a:xfrm>
          <a:prstGeom prst="roundRect">
            <a:avLst>
              <a:gd name="adj" fmla="val 8333"/>
            </a:avLst>
          </a:prstGeom>
          <a:solidFill>
            <a:srgbClr val="1F2A4D"/>
          </a:solidFill>
          <a:ln w="12700">
            <a:solidFill>
              <a:srgbClr val="1F2A4D"/>
            </a:solidFill>
            <a:prstDash val="solid"/>
          </a:ln>
        </p:spPr>
      </p:sp>
      <p:sp>
        <p:nvSpPr>
          <p:cNvPr id="6" name="Text 4"/>
          <p:cNvSpPr txBox="1"/>
          <p:nvPr/>
        </p:nvSpPr>
        <p:spPr>
          <a:xfrm>
            <a:off x="758952" y="1335024"/>
            <a:ext cx="7626096" cy="658368"/>
          </a:xfrm>
          <a:prstGeom prst="rect">
            <a:avLst/>
          </a:prstGeom>
          <a:noFill/>
          <a:ln/>
        </p:spPr>
        <p:txBody>
          <a:bodyPr wrap="square" lIns="0" tIns="0" rIns="0" bIns="0" rtlCol="0" anchor="ctr"/>
          <a:lstStyle/>
          <a:p>
            <a:pPr indent="0" marL="0">
              <a:buNone/>
            </a:pPr>
            <a:r>
              <a:rPr lang="en-US" sz="1600" b="1" dirty="0">
                <a:solidFill>
                  <a:srgbClr val="E0A32E"/>
                </a:solidFill>
                <a:latin typeface="Cambria" pitchFamily="34" charset="0"/>
                <a:ea typeface="Cambria" pitchFamily="34" charset="-122"/>
                <a:cs typeface="Cambria" pitchFamily="34" charset="-120"/>
              </a:rPr>
              <a:t>Yes, and it is disclosed rather than hidden.</a:t>
            </a:r>
            <a:endParaRPr lang="en-US" sz="1600" dirty="0"/>
          </a:p>
        </p:txBody>
      </p:sp>
      <p:sp>
        <p:nvSpPr>
          <p:cNvPr id="7" name="Text 5"/>
          <p:cNvSpPr txBox="1"/>
          <p:nvPr/>
        </p:nvSpPr>
        <p:spPr>
          <a:xfrm>
            <a:off x="502920" y="2194560"/>
            <a:ext cx="8138160" cy="914400"/>
          </a:xfrm>
          <a:prstGeom prst="rect">
            <a:avLst/>
          </a:prstGeom>
          <a:noFill/>
          <a:ln/>
        </p:spPr>
        <p:txBody>
          <a:bodyPr wrap="square" lIns="0" tIns="0" rIns="0" bIns="0" rtlCol="0" anchor="ctr"/>
          <a:lstStyle/>
          <a:p>
            <a:pPr indent="0" marL="0">
              <a:buNone/>
            </a:pPr>
            <a:r>
              <a:rPr lang="en-US" sz="1300" dirty="0">
                <a:solidFill>
                  <a:srgbClr val="1F2433"/>
                </a:solidFill>
                <a:latin typeface="Calibri" pitchFamily="34" charset="0"/>
                <a:ea typeface="Calibri" pitchFamily="34" charset="-122"/>
                <a:cs typeface="Calibri" pitchFamily="34" charset="-120"/>
              </a:rPr>
              <a:t>Five Coach Digest responses, the same model generating and scoring, self-enhancement risk unmeasured. All Weekly Drift references are AI-reviewed synthetic development evidence.</a:t>
            </a:r>
            <a:endParaRPr lang="en-US" sz="1300" dirty="0"/>
          </a:p>
        </p:txBody>
      </p:sp>
      <p:sp>
        <p:nvSpPr>
          <p:cNvPr id="8" name="Shape 6"/>
          <p:cNvSpPr/>
          <p:nvPr/>
        </p:nvSpPr>
        <p:spPr>
          <a:xfrm>
            <a:off x="502920" y="3182112"/>
            <a:ext cx="8138160" cy="566928"/>
          </a:xfrm>
          <a:prstGeom prst="roundRect">
            <a:avLst>
              <a:gd name="adj" fmla="val 9677"/>
            </a:avLst>
          </a:prstGeom>
          <a:solidFill>
            <a:srgbClr val="F3F4F7"/>
          </a:solidFill>
          <a:ln w="12700">
            <a:solidFill>
              <a:srgbClr val="F3F4F7"/>
            </a:solidFill>
            <a:prstDash val="solid"/>
          </a:ln>
        </p:spPr>
      </p:sp>
      <p:sp>
        <p:nvSpPr>
          <p:cNvPr id="9" name="Text 7"/>
          <p:cNvSpPr txBox="1"/>
          <p:nvPr/>
        </p:nvSpPr>
        <p:spPr>
          <a:xfrm>
            <a:off x="758952" y="3182112"/>
            <a:ext cx="7626096" cy="566928"/>
          </a:xfrm>
          <a:prstGeom prst="rect">
            <a:avLst/>
          </a:prstGeom>
          <a:noFill/>
          <a:ln/>
        </p:spPr>
        <p:txBody>
          <a:bodyPr wrap="square" lIns="0" tIns="0" rIns="0" bIns="0" rtlCol="0" anchor="ctr"/>
          <a:lstStyle/>
          <a:p>
            <a:pPr indent="0" marL="0">
              <a:buNone/>
            </a:pPr>
            <a:r>
              <a:rPr lang="en-US" sz="1150" i="1" dirty="0">
                <a:solidFill>
                  <a:srgbClr val="2C3A6B"/>
                </a:solidFill>
                <a:latin typeface="Calibri" pitchFamily="34" charset="0"/>
                <a:ea typeface="Calibri" pitchFamily="34" charset="-122"/>
                <a:cs typeface="Calibri" pitchFamily="34" charset="-120"/>
              </a:rPr>
              <a:t>Human calibration with independent reviewers is named future work.</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APPENDIX · Q5</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400" b="1" dirty="0">
                <a:solidFill>
                  <a:srgbClr val="17203F"/>
                </a:solidFill>
                <a:latin typeface="Cambria" pitchFamily="34" charset="0"/>
                <a:ea typeface="Cambria" pitchFamily="34" charset="-122"/>
                <a:cs typeface="Cambria" pitchFamily="34" charset="-120"/>
              </a:rPr>
              <a:t>Why is 0.548 recall acceptable?</a:t>
            </a:r>
            <a:endParaRPr lang="en-US" sz="2400" dirty="0"/>
          </a:p>
        </p:txBody>
      </p:sp>
      <p:sp>
        <p:nvSpPr>
          <p:cNvPr id="5" name="Shape 3"/>
          <p:cNvSpPr/>
          <p:nvPr/>
        </p:nvSpPr>
        <p:spPr>
          <a:xfrm>
            <a:off x="502920" y="1335024"/>
            <a:ext cx="8138160" cy="658368"/>
          </a:xfrm>
          <a:prstGeom prst="roundRect">
            <a:avLst>
              <a:gd name="adj" fmla="val 8333"/>
            </a:avLst>
          </a:prstGeom>
          <a:solidFill>
            <a:srgbClr val="1F2A4D"/>
          </a:solidFill>
          <a:ln w="12700">
            <a:solidFill>
              <a:srgbClr val="1F2A4D"/>
            </a:solidFill>
            <a:prstDash val="solid"/>
          </a:ln>
        </p:spPr>
      </p:sp>
      <p:sp>
        <p:nvSpPr>
          <p:cNvPr id="6" name="Text 4"/>
          <p:cNvSpPr txBox="1"/>
          <p:nvPr/>
        </p:nvSpPr>
        <p:spPr>
          <a:xfrm>
            <a:off x="758952" y="1335024"/>
            <a:ext cx="7626096" cy="658368"/>
          </a:xfrm>
          <a:prstGeom prst="rect">
            <a:avLst/>
          </a:prstGeom>
          <a:noFill/>
          <a:ln/>
        </p:spPr>
        <p:txBody>
          <a:bodyPr wrap="square" lIns="0" tIns="0" rIns="0" bIns="0" rtlCol="0" anchor="ctr"/>
          <a:lstStyle/>
          <a:p>
            <a:pPr indent="0" marL="0">
              <a:buNone/>
            </a:pPr>
            <a:r>
              <a:rPr lang="en-US" sz="1600" b="1" dirty="0">
                <a:solidFill>
                  <a:srgbClr val="E0A32E"/>
                </a:solidFill>
                <a:latin typeface="Cambria" pitchFamily="34" charset="0"/>
                <a:ea typeface="Cambria" pitchFamily="34" charset="-122"/>
                <a:cs typeface="Cambria" pitchFamily="34" charset="-120"/>
              </a:rPr>
              <a:t>It is not a deployment threshold — it is a capstone operating point.</a:t>
            </a:r>
            <a:endParaRPr lang="en-US" sz="1600" dirty="0"/>
          </a:p>
        </p:txBody>
      </p:sp>
      <p:sp>
        <p:nvSpPr>
          <p:cNvPr id="7" name="Text 5"/>
          <p:cNvSpPr txBox="1"/>
          <p:nvPr/>
        </p:nvSpPr>
        <p:spPr>
          <a:xfrm>
            <a:off x="502920" y="2194560"/>
            <a:ext cx="8138160" cy="914400"/>
          </a:xfrm>
          <a:prstGeom prst="rect">
            <a:avLst/>
          </a:prstGeom>
          <a:noFill/>
          <a:ln/>
        </p:spPr>
        <p:txBody>
          <a:bodyPr wrap="square" lIns="0" tIns="0" rIns="0" bIns="0" rtlCol="0" anchor="ctr"/>
          <a:lstStyle/>
          <a:p>
            <a:pPr indent="0" marL="0">
              <a:buNone/>
            </a:pPr>
            <a:r>
              <a:rPr lang="en-US" sz="1300" dirty="0">
                <a:solidFill>
                  <a:srgbClr val="1F2433"/>
                </a:solidFill>
                <a:latin typeface="Calibri" pitchFamily="34" charset="0"/>
                <a:ea typeface="Calibri" pitchFamily="34" charset="-122"/>
                <a:cs typeface="Calibri" pitchFamily="34" charset="-120"/>
              </a:rPr>
              <a:t>Drift requires two consecutive Conflicts, and Insufficient Evidence is a valid output. The cost of a miss is therefore a delayed prompt, not a false accusation.</a:t>
            </a:r>
            <a:endParaRPr lang="en-US" sz="1300" dirty="0"/>
          </a:p>
        </p:txBody>
      </p:sp>
      <p:sp>
        <p:nvSpPr>
          <p:cNvPr id="8" name="Shape 6"/>
          <p:cNvSpPr/>
          <p:nvPr/>
        </p:nvSpPr>
        <p:spPr>
          <a:xfrm>
            <a:off x="502920" y="3182112"/>
            <a:ext cx="8138160" cy="566928"/>
          </a:xfrm>
          <a:prstGeom prst="roundRect">
            <a:avLst>
              <a:gd name="adj" fmla="val 9677"/>
            </a:avLst>
          </a:prstGeom>
          <a:solidFill>
            <a:srgbClr val="F3F4F7"/>
          </a:solidFill>
          <a:ln w="12700">
            <a:solidFill>
              <a:srgbClr val="F3F4F7"/>
            </a:solidFill>
            <a:prstDash val="solid"/>
          </a:ln>
        </p:spPr>
      </p:sp>
      <p:sp>
        <p:nvSpPr>
          <p:cNvPr id="9" name="Text 7"/>
          <p:cNvSpPr txBox="1"/>
          <p:nvPr/>
        </p:nvSpPr>
        <p:spPr>
          <a:xfrm>
            <a:off x="758952" y="3182112"/>
            <a:ext cx="7626096" cy="566928"/>
          </a:xfrm>
          <a:prstGeom prst="rect">
            <a:avLst/>
          </a:prstGeom>
          <a:noFill/>
          <a:ln/>
        </p:spPr>
        <p:txBody>
          <a:bodyPr wrap="square" lIns="0" tIns="0" rIns="0" bIns="0" rtlCol="0" anchor="ctr"/>
          <a:lstStyle/>
          <a:p>
            <a:pPr indent="0" marL="0">
              <a:buNone/>
            </a:pPr>
            <a:r>
              <a:rPr lang="en-US" sz="1150" i="1" dirty="0">
                <a:solidFill>
                  <a:srgbClr val="2C3A6B"/>
                </a:solidFill>
                <a:latin typeface="Calibri" pitchFamily="34" charset="0"/>
                <a:ea typeface="Calibri" pitchFamily="34" charset="-122"/>
                <a:cs typeface="Calibri" pitchFamily="34" charset="-120"/>
              </a:rPr>
              <a:t>Precision at that point was 0.852, with four median false alerts across 292 histories.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APPENDIX · Q6</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400" b="1" dirty="0">
                <a:solidFill>
                  <a:srgbClr val="17203F"/>
                </a:solidFill>
                <a:latin typeface="Cambria" pitchFamily="34" charset="0"/>
                <a:ea typeface="Cambria" pitchFamily="34" charset="-122"/>
                <a:cs typeface="Cambria" pitchFamily="34" charset="-120"/>
              </a:rPr>
              <a:t>Is this therapy?</a:t>
            </a:r>
            <a:endParaRPr lang="en-US" sz="2400" dirty="0"/>
          </a:p>
        </p:txBody>
      </p:sp>
      <p:sp>
        <p:nvSpPr>
          <p:cNvPr id="5" name="Shape 3"/>
          <p:cNvSpPr/>
          <p:nvPr/>
        </p:nvSpPr>
        <p:spPr>
          <a:xfrm>
            <a:off x="502920" y="1335024"/>
            <a:ext cx="8138160" cy="658368"/>
          </a:xfrm>
          <a:prstGeom prst="roundRect">
            <a:avLst>
              <a:gd name="adj" fmla="val 8333"/>
            </a:avLst>
          </a:prstGeom>
          <a:solidFill>
            <a:srgbClr val="1F2A4D"/>
          </a:solidFill>
          <a:ln w="12700">
            <a:solidFill>
              <a:srgbClr val="1F2A4D"/>
            </a:solidFill>
            <a:prstDash val="solid"/>
          </a:ln>
        </p:spPr>
      </p:sp>
      <p:sp>
        <p:nvSpPr>
          <p:cNvPr id="6" name="Text 4"/>
          <p:cNvSpPr txBox="1"/>
          <p:nvPr/>
        </p:nvSpPr>
        <p:spPr>
          <a:xfrm>
            <a:off x="758952" y="1335024"/>
            <a:ext cx="7626096" cy="658368"/>
          </a:xfrm>
          <a:prstGeom prst="rect">
            <a:avLst/>
          </a:prstGeom>
          <a:noFill/>
          <a:ln/>
        </p:spPr>
        <p:txBody>
          <a:bodyPr wrap="square" lIns="0" tIns="0" rIns="0" bIns="0" rtlCol="0" anchor="ctr"/>
          <a:lstStyle/>
          <a:p>
            <a:pPr indent="0" marL="0">
              <a:buNone/>
            </a:pPr>
            <a:r>
              <a:rPr lang="en-US" sz="1600" b="1" dirty="0">
                <a:solidFill>
                  <a:srgbClr val="E0A32E"/>
                </a:solidFill>
                <a:latin typeface="Cambria" pitchFamily="34" charset="0"/>
                <a:ea typeface="Cambria" pitchFamily="34" charset="-122"/>
                <a:cs typeface="Cambria" pitchFamily="34" charset="-120"/>
              </a:rPr>
              <a:t>No. The scope is assessment-only.</a:t>
            </a:r>
            <a:endParaRPr lang="en-US" sz="1600" dirty="0"/>
          </a:p>
        </p:txBody>
      </p:sp>
      <p:sp>
        <p:nvSpPr>
          <p:cNvPr id="7" name="Text 5"/>
          <p:cNvSpPr txBox="1"/>
          <p:nvPr/>
        </p:nvSpPr>
        <p:spPr>
          <a:xfrm>
            <a:off x="502920" y="2194560"/>
            <a:ext cx="8138160" cy="914400"/>
          </a:xfrm>
          <a:prstGeom prst="rect">
            <a:avLst/>
          </a:prstGeom>
          <a:noFill/>
          <a:ln/>
        </p:spPr>
        <p:txBody>
          <a:bodyPr wrap="square" lIns="0" tIns="0" rIns="0" bIns="0" rtlCol="0" anchor="ctr"/>
          <a:lstStyle/>
          <a:p>
            <a:pPr indent="0" marL="0">
              <a:buNone/>
            </a:pPr>
            <a:r>
              <a:rPr lang="en-US" sz="1300" dirty="0">
                <a:solidFill>
                  <a:srgbClr val="1F2433"/>
                </a:solidFill>
                <a:latin typeface="Calibri" pitchFamily="34" charset="0"/>
                <a:ea typeface="Calibri" pitchFamily="34" charset="-122"/>
                <a:cs typeface="Calibri" pitchFamily="34" charset="-120"/>
              </a:rPr>
              <a:t>Non-prescriptive language, fail-closed validation on invalid model output, cited evidence, and an explicit non-therapy boundary shown at first use alongside the storage and provider notice.</a:t>
            </a:r>
            <a:endParaRPr lang="en-US" sz="1300" dirty="0"/>
          </a:p>
        </p:txBody>
      </p:sp>
      <p:sp>
        <p:nvSpPr>
          <p:cNvPr id="8" name="Shape 6"/>
          <p:cNvSpPr/>
          <p:nvPr/>
        </p:nvSpPr>
        <p:spPr>
          <a:xfrm>
            <a:off x="502920" y="3182112"/>
            <a:ext cx="8138160" cy="566928"/>
          </a:xfrm>
          <a:prstGeom prst="roundRect">
            <a:avLst>
              <a:gd name="adj" fmla="val 9677"/>
            </a:avLst>
          </a:prstGeom>
          <a:solidFill>
            <a:srgbClr val="F3F4F7"/>
          </a:solidFill>
          <a:ln w="12700">
            <a:solidFill>
              <a:srgbClr val="F3F4F7"/>
            </a:solidFill>
            <a:prstDash val="solid"/>
          </a:ln>
        </p:spPr>
      </p:sp>
      <p:sp>
        <p:nvSpPr>
          <p:cNvPr id="9" name="Text 7"/>
          <p:cNvSpPr txBox="1"/>
          <p:nvPr/>
        </p:nvSpPr>
        <p:spPr>
          <a:xfrm>
            <a:off x="758952" y="3182112"/>
            <a:ext cx="7626096" cy="566928"/>
          </a:xfrm>
          <a:prstGeom prst="rect">
            <a:avLst/>
          </a:prstGeom>
          <a:noFill/>
          <a:ln/>
        </p:spPr>
        <p:txBody>
          <a:bodyPr wrap="square" lIns="0" tIns="0" rIns="0" bIns="0" rtlCol="0" anchor="ctr"/>
          <a:lstStyle/>
          <a:p>
            <a:pPr indent="0" marL="0">
              <a:buNone/>
            </a:pPr>
            <a:r>
              <a:rPr lang="en-US" sz="1150" i="1" dirty="0">
                <a:solidFill>
                  <a:srgbClr val="2C3A6B"/>
                </a:solidFill>
                <a:latin typeface="Calibri" pitchFamily="34" charset="0"/>
                <a:ea typeface="Calibri" pitchFamily="34" charset="-122"/>
                <a:cs typeface="Calibri" pitchFamily="34" charset="-120"/>
              </a:rPr>
              <a:t>Coach Digest asks an open question. It does not prescribe action.</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APPENDIX · Q7</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400" b="1" dirty="0">
                <a:solidFill>
                  <a:srgbClr val="17203F"/>
                </a:solidFill>
                <a:latin typeface="Cambria" pitchFamily="34" charset="0"/>
                <a:ea typeface="Cambria" pitchFamily="34" charset="-122"/>
                <a:cs typeface="Cambria" pitchFamily="34" charset="-120"/>
              </a:rPr>
              <a:t>How do you know the Profile is right?</a:t>
            </a:r>
            <a:endParaRPr lang="en-US" sz="2400" dirty="0"/>
          </a:p>
        </p:txBody>
      </p:sp>
      <p:sp>
        <p:nvSpPr>
          <p:cNvPr id="5" name="Shape 3"/>
          <p:cNvSpPr/>
          <p:nvPr/>
        </p:nvSpPr>
        <p:spPr>
          <a:xfrm>
            <a:off x="502920" y="1335024"/>
            <a:ext cx="8138160" cy="658368"/>
          </a:xfrm>
          <a:prstGeom prst="roundRect">
            <a:avLst>
              <a:gd name="adj" fmla="val 8333"/>
            </a:avLst>
          </a:prstGeom>
          <a:solidFill>
            <a:srgbClr val="1F2A4D"/>
          </a:solidFill>
          <a:ln w="12700">
            <a:solidFill>
              <a:srgbClr val="1F2A4D"/>
            </a:solidFill>
            <a:prstDash val="solid"/>
          </a:ln>
        </p:spPr>
      </p:sp>
      <p:sp>
        <p:nvSpPr>
          <p:cNvPr id="6" name="Text 4"/>
          <p:cNvSpPr txBox="1"/>
          <p:nvPr/>
        </p:nvSpPr>
        <p:spPr>
          <a:xfrm>
            <a:off x="758952" y="1335024"/>
            <a:ext cx="7626096" cy="658368"/>
          </a:xfrm>
          <a:prstGeom prst="rect">
            <a:avLst/>
          </a:prstGeom>
          <a:noFill/>
          <a:ln/>
        </p:spPr>
        <p:txBody>
          <a:bodyPr wrap="square" lIns="0" tIns="0" rIns="0" bIns="0" rtlCol="0" anchor="ctr"/>
          <a:lstStyle/>
          <a:p>
            <a:pPr indent="0" marL="0">
              <a:buNone/>
            </a:pPr>
            <a:r>
              <a:rPr lang="en-US" sz="1600" b="1" dirty="0">
                <a:solidFill>
                  <a:srgbClr val="E0A32E"/>
                </a:solidFill>
                <a:latin typeface="Cambria" pitchFamily="34" charset="0"/>
                <a:ea typeface="Cambria" pitchFamily="34" charset="-122"/>
                <a:cs typeface="Cambria" pitchFamily="34" charset="-120"/>
              </a:rPr>
              <a:t>Two separate claims — keep them apart.</a:t>
            </a:r>
            <a:endParaRPr lang="en-US" sz="1600" dirty="0"/>
          </a:p>
        </p:txBody>
      </p:sp>
      <p:sp>
        <p:nvSpPr>
          <p:cNvPr id="7" name="Text 5"/>
          <p:cNvSpPr txBox="1"/>
          <p:nvPr/>
        </p:nvSpPr>
        <p:spPr>
          <a:xfrm>
            <a:off x="502920" y="2194560"/>
            <a:ext cx="8138160" cy="914400"/>
          </a:xfrm>
          <a:prstGeom prst="rect">
            <a:avLst/>
          </a:prstGeom>
          <a:noFill/>
          <a:ln/>
        </p:spPr>
        <p:txBody>
          <a:bodyPr wrap="square" lIns="0" tIns="0" rIns="0" bIns="0" rtlCol="0" anchor="ctr"/>
          <a:lstStyle/>
          <a:p>
            <a:pPr indent="0" marL="0">
              <a:buNone/>
            </a:pPr>
            <a:r>
              <a:rPr lang="en-US" sz="1300" dirty="0">
                <a:solidFill>
                  <a:srgbClr val="1F2433"/>
                </a:solidFill>
                <a:latin typeface="Calibri" pitchFamily="34" charset="0"/>
                <a:ea typeface="Calibri" pitchFamily="34" charset="-122"/>
                <a:cs typeface="Calibri" pitchFamily="34" charset="-120"/>
              </a:rPr>
              <a:t>The scoring is deterministic and Python-validated, and Inspect shows every step from the 22 recorded selections onward. That is a claim about the calculation.</a:t>
            </a:r>
            <a:endParaRPr lang="en-US" sz="1300" dirty="0"/>
          </a:p>
        </p:txBody>
      </p:sp>
      <p:sp>
        <p:nvSpPr>
          <p:cNvPr id="8" name="Shape 6"/>
          <p:cNvSpPr/>
          <p:nvPr/>
        </p:nvSpPr>
        <p:spPr>
          <a:xfrm>
            <a:off x="502920" y="3182112"/>
            <a:ext cx="8138160" cy="566928"/>
          </a:xfrm>
          <a:prstGeom prst="roundRect">
            <a:avLst>
              <a:gd name="adj" fmla="val 9677"/>
            </a:avLst>
          </a:prstGeom>
          <a:solidFill>
            <a:srgbClr val="F3F4F7"/>
          </a:solidFill>
          <a:ln w="12700">
            <a:solidFill>
              <a:srgbClr val="F3F4F7"/>
            </a:solidFill>
            <a:prstDash val="solid"/>
          </a:ln>
        </p:spPr>
      </p:sp>
      <p:sp>
        <p:nvSpPr>
          <p:cNvPr id="9" name="Text 7"/>
          <p:cNvSpPr txBox="1"/>
          <p:nvPr/>
        </p:nvSpPr>
        <p:spPr>
          <a:xfrm>
            <a:off x="758952" y="3182112"/>
            <a:ext cx="7626096" cy="566928"/>
          </a:xfrm>
          <a:prstGeom prst="rect">
            <a:avLst/>
          </a:prstGeom>
          <a:noFill/>
          <a:ln/>
        </p:spPr>
        <p:txBody>
          <a:bodyPr wrap="square" lIns="0" tIns="0" rIns="0" bIns="0" rtlCol="0" anchor="ctr"/>
          <a:lstStyle/>
          <a:p>
            <a:pPr indent="0" marL="0">
              <a:buNone/>
            </a:pPr>
            <a:r>
              <a:rPr lang="en-US" sz="1150" i="1" dirty="0">
                <a:solidFill>
                  <a:srgbClr val="2C3A6B"/>
                </a:solidFill>
                <a:latin typeface="Calibri" pitchFamily="34" charset="0"/>
                <a:ea typeface="Calibri" pitchFamily="34" charset="-122"/>
                <a:cs typeface="Calibri" pitchFamily="34" charset="-120"/>
              </a:rPr>
              <a:t>The instrument itself is not psychometrically validated. That is why the user confirms the result, and why Drift needs behavioural evidence on top of it.</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91440" cy="91440"/>
          </a:xfrm>
          <a:prstGeom prst="ellipse">
            <a:avLst/>
          </a:prstGeom>
          <a:solidFill>
            <a:srgbClr val="E0A32E"/>
          </a:solidFill>
          <a:ln/>
        </p:spPr>
      </p:sp>
      <p:sp>
        <p:nvSpPr>
          <p:cNvPr id="3" name="Text 1"/>
          <p:cNvSpPr txBox="1"/>
          <p:nvPr/>
        </p:nvSpPr>
        <p:spPr>
          <a:xfrm>
            <a:off x="667512" y="237744"/>
            <a:ext cx="7973568" cy="274320"/>
          </a:xfrm>
          <a:prstGeom prst="rect">
            <a:avLst/>
          </a:prstGeom>
          <a:noFill/>
          <a:ln/>
        </p:spPr>
        <p:txBody>
          <a:bodyPr wrap="square" lIns="0" tIns="0" rIns="0" bIns="0" rtlCol="0" anchor="ctr"/>
          <a:lstStyle/>
          <a:p>
            <a:pPr indent="0" marL="0">
              <a:buNone/>
            </a:pPr>
            <a:r>
              <a:rPr lang="en-US" sz="1050" b="1" spc="160" kern="0" dirty="0">
                <a:solidFill>
                  <a:srgbClr val="6B7280"/>
                </a:solidFill>
                <a:latin typeface="Calibri" pitchFamily="34" charset="0"/>
                <a:ea typeface="Calibri" pitchFamily="34" charset="-122"/>
                <a:cs typeface="Calibri" pitchFamily="34" charset="-120"/>
              </a:rPr>
              <a:t>APPENDIX</a:t>
            </a:r>
            <a:endParaRPr lang="en-US" sz="1050" dirty="0"/>
          </a:p>
        </p:txBody>
      </p:sp>
      <p:sp>
        <p:nvSpPr>
          <p:cNvPr id="4" name="Text 2"/>
          <p:cNvSpPr txBox="1"/>
          <p:nvPr/>
        </p:nvSpPr>
        <p:spPr>
          <a:xfrm>
            <a:off x="502920" y="548640"/>
            <a:ext cx="8138160" cy="566928"/>
          </a:xfrm>
          <a:prstGeom prst="rect">
            <a:avLst/>
          </a:prstGeom>
          <a:noFill/>
          <a:ln/>
        </p:spPr>
        <p:txBody>
          <a:bodyPr wrap="square" lIns="0" tIns="0" rIns="0" bIns="0" rtlCol="0" anchor="t"/>
          <a:lstStyle/>
          <a:p>
            <a:pPr indent="0" marL="0">
              <a:buNone/>
            </a:pPr>
            <a:r>
              <a:rPr lang="en-US" sz="2600" b="1" dirty="0">
                <a:solidFill>
                  <a:srgbClr val="17203F"/>
                </a:solidFill>
                <a:latin typeface="Cambria" pitchFamily="34" charset="0"/>
                <a:ea typeface="Cambria" pitchFamily="34" charset="-122"/>
                <a:cs typeface="Cambria" pitchFamily="34" charset="-120"/>
              </a:rPr>
              <a:t>Held-back material</a:t>
            </a:r>
            <a:endParaRPr lang="en-US" sz="2600" dirty="0"/>
          </a:p>
        </p:txBody>
      </p:sp>
      <p:sp>
        <p:nvSpPr>
          <p:cNvPr id="5" name="Shape 3"/>
          <p:cNvSpPr/>
          <p:nvPr/>
        </p:nvSpPr>
        <p:spPr>
          <a:xfrm>
            <a:off x="502920" y="1335024"/>
            <a:ext cx="8138160" cy="640080"/>
          </a:xfrm>
          <a:prstGeom prst="roundRect">
            <a:avLst>
              <a:gd name="adj" fmla="val 8571"/>
            </a:avLst>
          </a:prstGeom>
          <a:solidFill>
            <a:srgbClr val="F3F4F7"/>
          </a:solidFill>
          <a:ln w="12700">
            <a:solidFill>
              <a:srgbClr val="F3F4F7"/>
            </a:solidFill>
            <a:prstDash val="solid"/>
          </a:ln>
        </p:spPr>
      </p:sp>
      <p:sp>
        <p:nvSpPr>
          <p:cNvPr id="6" name="Shape 4"/>
          <p:cNvSpPr/>
          <p:nvPr/>
        </p:nvSpPr>
        <p:spPr>
          <a:xfrm>
            <a:off x="722376" y="1609344"/>
            <a:ext cx="91440" cy="91440"/>
          </a:xfrm>
          <a:prstGeom prst="ellipse">
            <a:avLst/>
          </a:prstGeom>
          <a:solidFill>
            <a:srgbClr val="E0A32E"/>
          </a:solidFill>
          <a:ln/>
        </p:spPr>
      </p:sp>
      <p:sp>
        <p:nvSpPr>
          <p:cNvPr id="7" name="Text 5"/>
          <p:cNvSpPr txBox="1"/>
          <p:nvPr/>
        </p:nvSpPr>
        <p:spPr>
          <a:xfrm>
            <a:off x="905256" y="1408176"/>
            <a:ext cx="3108960" cy="493776"/>
          </a:xfrm>
          <a:prstGeom prst="rect">
            <a:avLst/>
          </a:prstGeom>
          <a:noFill/>
          <a:ln/>
        </p:spPr>
        <p:txBody>
          <a:bodyPr wrap="square" lIns="0" tIns="0" rIns="0" bIns="0" rtlCol="0" anchor="ctr"/>
          <a:lstStyle/>
          <a:p>
            <a:pPr indent="0" marL="0">
              <a:buNone/>
            </a:pPr>
            <a:r>
              <a:rPr lang="en-US" sz="1200" b="1" dirty="0">
                <a:solidFill>
                  <a:srgbClr val="17203F"/>
                </a:solidFill>
                <a:latin typeface="Calibri" pitchFamily="34" charset="0"/>
                <a:ea typeface="Calibri" pitchFamily="34" charset="-122"/>
                <a:cs typeface="Calibri" pitchFamily="34" charset="-120"/>
              </a:rPr>
              <a:t>Drift Detector state diagram</a:t>
            </a:r>
            <a:endParaRPr lang="en-US" sz="1200" dirty="0"/>
          </a:p>
        </p:txBody>
      </p:sp>
      <p:sp>
        <p:nvSpPr>
          <p:cNvPr id="8" name="Text 6"/>
          <p:cNvSpPr txBox="1"/>
          <p:nvPr/>
        </p:nvSpPr>
        <p:spPr>
          <a:xfrm>
            <a:off x="4114800" y="1408176"/>
            <a:ext cx="4297680" cy="49377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No Active Drift → Active Drift → continuing, plus Insufficient Evidence transitions</a:t>
            </a:r>
            <a:endParaRPr lang="en-US" sz="1000" dirty="0"/>
          </a:p>
        </p:txBody>
      </p:sp>
      <p:sp>
        <p:nvSpPr>
          <p:cNvPr id="9" name="Shape 7"/>
          <p:cNvSpPr/>
          <p:nvPr/>
        </p:nvSpPr>
        <p:spPr>
          <a:xfrm>
            <a:off x="502920" y="2066544"/>
            <a:ext cx="8138160" cy="640080"/>
          </a:xfrm>
          <a:prstGeom prst="roundRect">
            <a:avLst>
              <a:gd name="adj" fmla="val 8571"/>
            </a:avLst>
          </a:prstGeom>
          <a:solidFill>
            <a:srgbClr val="F3F4F7"/>
          </a:solidFill>
          <a:ln w="12700">
            <a:solidFill>
              <a:srgbClr val="F3F4F7"/>
            </a:solidFill>
            <a:prstDash val="solid"/>
          </a:ln>
        </p:spPr>
      </p:sp>
      <p:sp>
        <p:nvSpPr>
          <p:cNvPr id="10" name="Shape 8"/>
          <p:cNvSpPr/>
          <p:nvPr/>
        </p:nvSpPr>
        <p:spPr>
          <a:xfrm>
            <a:off x="722376" y="2340864"/>
            <a:ext cx="91440" cy="91440"/>
          </a:xfrm>
          <a:prstGeom prst="ellipse">
            <a:avLst/>
          </a:prstGeom>
          <a:solidFill>
            <a:srgbClr val="E0A32E"/>
          </a:solidFill>
          <a:ln/>
        </p:spPr>
      </p:sp>
      <p:sp>
        <p:nvSpPr>
          <p:cNvPr id="11" name="Text 9"/>
          <p:cNvSpPr txBox="1"/>
          <p:nvPr/>
        </p:nvSpPr>
        <p:spPr>
          <a:xfrm>
            <a:off x="905256" y="2139696"/>
            <a:ext cx="3108960" cy="493776"/>
          </a:xfrm>
          <a:prstGeom prst="rect">
            <a:avLst/>
          </a:prstGeom>
          <a:noFill/>
          <a:ln/>
        </p:spPr>
        <p:txBody>
          <a:bodyPr wrap="square" lIns="0" tIns="0" rIns="0" bIns="0" rtlCol="0" anchor="ctr"/>
          <a:lstStyle/>
          <a:p>
            <a:pPr indent="0" marL="0">
              <a:buNone/>
            </a:pPr>
            <a:r>
              <a:rPr lang="en-US" sz="1200" b="1" dirty="0">
                <a:solidFill>
                  <a:srgbClr val="17203F"/>
                </a:solidFill>
                <a:latin typeface="Calibri" pitchFamily="34" charset="0"/>
                <a:ea typeface="Calibri" pitchFamily="34" charset="-122"/>
                <a:cs typeface="Calibri" pitchFamily="34" charset="-120"/>
              </a:rPr>
              <a:t>Best-Worst Scaling scoring</a:t>
            </a:r>
            <a:endParaRPr lang="en-US" sz="1200" dirty="0"/>
          </a:p>
        </p:txBody>
      </p:sp>
      <p:sp>
        <p:nvSpPr>
          <p:cNvPr id="12" name="Text 10"/>
          <p:cNvSpPr txBox="1"/>
          <p:nvPr/>
        </p:nvSpPr>
        <p:spPr>
          <a:xfrm>
            <a:off x="4114800" y="2139696"/>
            <a:ext cx="4297680" cy="49377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Eleven balanced groups, 22 recorded selections, deterministic scoring to two Core Values</a:t>
            </a:r>
            <a:endParaRPr lang="en-US" sz="1000" dirty="0"/>
          </a:p>
        </p:txBody>
      </p:sp>
      <p:sp>
        <p:nvSpPr>
          <p:cNvPr id="13" name="Shape 11"/>
          <p:cNvSpPr/>
          <p:nvPr/>
        </p:nvSpPr>
        <p:spPr>
          <a:xfrm>
            <a:off x="502920" y="2798064"/>
            <a:ext cx="8138160" cy="640080"/>
          </a:xfrm>
          <a:prstGeom prst="roundRect">
            <a:avLst>
              <a:gd name="adj" fmla="val 8571"/>
            </a:avLst>
          </a:prstGeom>
          <a:solidFill>
            <a:srgbClr val="F3F4F7"/>
          </a:solidFill>
          <a:ln w="12700">
            <a:solidFill>
              <a:srgbClr val="F3F4F7"/>
            </a:solidFill>
            <a:prstDash val="solid"/>
          </a:ln>
        </p:spPr>
      </p:sp>
      <p:sp>
        <p:nvSpPr>
          <p:cNvPr id="14" name="Shape 12"/>
          <p:cNvSpPr/>
          <p:nvPr/>
        </p:nvSpPr>
        <p:spPr>
          <a:xfrm>
            <a:off x="722376" y="3072384"/>
            <a:ext cx="91440" cy="91440"/>
          </a:xfrm>
          <a:prstGeom prst="ellipse">
            <a:avLst/>
          </a:prstGeom>
          <a:solidFill>
            <a:srgbClr val="E0A32E"/>
          </a:solidFill>
          <a:ln/>
        </p:spPr>
      </p:sp>
      <p:sp>
        <p:nvSpPr>
          <p:cNvPr id="15" name="Text 13"/>
          <p:cNvSpPr txBox="1"/>
          <p:nvPr/>
        </p:nvSpPr>
        <p:spPr>
          <a:xfrm>
            <a:off x="905256" y="2871216"/>
            <a:ext cx="3108960" cy="493776"/>
          </a:xfrm>
          <a:prstGeom prst="rect">
            <a:avLst/>
          </a:prstGeom>
          <a:noFill/>
          <a:ln/>
        </p:spPr>
        <p:txBody>
          <a:bodyPr wrap="square" lIns="0" tIns="0" rIns="0" bIns="0" rtlCol="0" anchor="ctr"/>
          <a:lstStyle/>
          <a:p>
            <a:pPr indent="0" marL="0">
              <a:buNone/>
            </a:pPr>
            <a:r>
              <a:rPr lang="en-US" sz="1200" b="1" dirty="0">
                <a:solidFill>
                  <a:srgbClr val="17203F"/>
                </a:solidFill>
                <a:latin typeface="Calibri" pitchFamily="34" charset="0"/>
                <a:ea typeface="Calibri" pitchFamily="34" charset="-122"/>
                <a:cs typeface="Calibri" pitchFamily="34" charset="-120"/>
              </a:rPr>
              <a:t>Full experiment table</a:t>
            </a:r>
            <a:endParaRPr lang="en-US" sz="1200" dirty="0"/>
          </a:p>
        </p:txBody>
      </p:sp>
      <p:sp>
        <p:nvSpPr>
          <p:cNvPr id="16" name="Text 14"/>
          <p:cNvSpPr txBox="1"/>
          <p:nvPr/>
        </p:nvSpPr>
        <p:spPr>
          <a:xfrm>
            <a:off x="4114800" y="2871216"/>
            <a:ext cx="4297680" cy="49377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69 run IDs, 133 persisted configurations across four families</a:t>
            </a:r>
            <a:endParaRPr lang="en-US" sz="1000" dirty="0"/>
          </a:p>
        </p:txBody>
      </p:sp>
      <p:sp>
        <p:nvSpPr>
          <p:cNvPr id="17" name="Shape 15"/>
          <p:cNvSpPr/>
          <p:nvPr/>
        </p:nvSpPr>
        <p:spPr>
          <a:xfrm>
            <a:off x="502920" y="3529584"/>
            <a:ext cx="8138160" cy="640080"/>
          </a:xfrm>
          <a:prstGeom prst="roundRect">
            <a:avLst>
              <a:gd name="adj" fmla="val 8571"/>
            </a:avLst>
          </a:prstGeom>
          <a:solidFill>
            <a:srgbClr val="F3F4F7"/>
          </a:solidFill>
          <a:ln w="12700">
            <a:solidFill>
              <a:srgbClr val="F3F4F7"/>
            </a:solidFill>
            <a:prstDash val="solid"/>
          </a:ln>
        </p:spPr>
      </p:sp>
      <p:sp>
        <p:nvSpPr>
          <p:cNvPr id="18" name="Shape 16"/>
          <p:cNvSpPr/>
          <p:nvPr/>
        </p:nvSpPr>
        <p:spPr>
          <a:xfrm>
            <a:off x="722376" y="3803904"/>
            <a:ext cx="91440" cy="91440"/>
          </a:xfrm>
          <a:prstGeom prst="ellipse">
            <a:avLst/>
          </a:prstGeom>
          <a:solidFill>
            <a:srgbClr val="E0A32E"/>
          </a:solidFill>
          <a:ln/>
        </p:spPr>
      </p:sp>
      <p:sp>
        <p:nvSpPr>
          <p:cNvPr id="19" name="Text 17"/>
          <p:cNvSpPr txBox="1"/>
          <p:nvPr/>
        </p:nvSpPr>
        <p:spPr>
          <a:xfrm>
            <a:off x="905256" y="3602736"/>
            <a:ext cx="3108960" cy="493776"/>
          </a:xfrm>
          <a:prstGeom prst="rect">
            <a:avLst/>
          </a:prstGeom>
          <a:noFill/>
          <a:ln/>
        </p:spPr>
        <p:txBody>
          <a:bodyPr wrap="square" lIns="0" tIns="0" rIns="0" bIns="0" rtlCol="0" anchor="ctr"/>
          <a:lstStyle/>
          <a:p>
            <a:pPr indent="0" marL="0">
              <a:buNone/>
            </a:pPr>
            <a:r>
              <a:rPr lang="en-US" sz="1200" b="1" dirty="0">
                <a:solidFill>
                  <a:srgbClr val="17203F"/>
                </a:solidFill>
                <a:latin typeface="Calibri" pitchFamily="34" charset="0"/>
                <a:ea typeface="Calibri" pitchFamily="34" charset="-122"/>
                <a:cs typeface="Calibri" pitchFamily="34" charset="-120"/>
              </a:rPr>
              <a:t>Per-value metrics</a:t>
            </a:r>
            <a:endParaRPr lang="en-US" sz="1200" dirty="0"/>
          </a:p>
        </p:txBody>
      </p:sp>
      <p:sp>
        <p:nvSpPr>
          <p:cNvPr id="20" name="Text 18"/>
          <p:cNvSpPr txBox="1"/>
          <p:nvPr/>
        </p:nvSpPr>
        <p:spPr>
          <a:xfrm>
            <a:off x="4114800" y="3602736"/>
            <a:ext cx="4297680" cy="49377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Recall, precision, abstention, and Conflict support for both regimes</a:t>
            </a:r>
            <a:endParaRPr lang="en-US" sz="1000" dirty="0"/>
          </a:p>
        </p:txBody>
      </p:sp>
      <p:sp>
        <p:nvSpPr>
          <p:cNvPr id="21" name="Shape 19"/>
          <p:cNvSpPr/>
          <p:nvPr/>
        </p:nvSpPr>
        <p:spPr>
          <a:xfrm>
            <a:off x="502920" y="4261104"/>
            <a:ext cx="8138160" cy="640080"/>
          </a:xfrm>
          <a:prstGeom prst="roundRect">
            <a:avLst>
              <a:gd name="adj" fmla="val 8571"/>
            </a:avLst>
          </a:prstGeom>
          <a:solidFill>
            <a:srgbClr val="F3F4F7"/>
          </a:solidFill>
          <a:ln w="12700">
            <a:solidFill>
              <a:srgbClr val="F3F4F7"/>
            </a:solidFill>
            <a:prstDash val="solid"/>
          </a:ln>
        </p:spPr>
      </p:sp>
      <p:sp>
        <p:nvSpPr>
          <p:cNvPr id="22" name="Shape 20"/>
          <p:cNvSpPr/>
          <p:nvPr/>
        </p:nvSpPr>
        <p:spPr>
          <a:xfrm>
            <a:off x="722376" y="4535424"/>
            <a:ext cx="91440" cy="91440"/>
          </a:xfrm>
          <a:prstGeom prst="ellipse">
            <a:avLst/>
          </a:prstGeom>
          <a:solidFill>
            <a:srgbClr val="E0A32E"/>
          </a:solidFill>
          <a:ln/>
        </p:spPr>
      </p:sp>
      <p:sp>
        <p:nvSpPr>
          <p:cNvPr id="23" name="Text 21"/>
          <p:cNvSpPr txBox="1"/>
          <p:nvPr/>
        </p:nvSpPr>
        <p:spPr>
          <a:xfrm>
            <a:off x="905256" y="4334256"/>
            <a:ext cx="3108960" cy="493776"/>
          </a:xfrm>
          <a:prstGeom prst="rect">
            <a:avLst/>
          </a:prstGeom>
          <a:noFill/>
          <a:ln/>
        </p:spPr>
        <p:txBody>
          <a:bodyPr wrap="square" lIns="0" tIns="0" rIns="0" bIns="0" rtlCol="0" anchor="ctr"/>
          <a:lstStyle/>
          <a:p>
            <a:pPr indent="0" marL="0">
              <a:buNone/>
            </a:pPr>
            <a:r>
              <a:rPr lang="en-US" sz="1200" b="1" dirty="0">
                <a:solidFill>
                  <a:srgbClr val="17203F"/>
                </a:solidFill>
                <a:latin typeface="Calibri" pitchFamily="34" charset="0"/>
                <a:ea typeface="Calibri" pitchFamily="34" charset="-122"/>
                <a:cs typeface="Calibri" pitchFamily="34" charset="-120"/>
              </a:rPr>
              <a:t>Test and deployment evidence</a:t>
            </a:r>
            <a:endParaRPr lang="en-US" sz="1200" dirty="0"/>
          </a:p>
        </p:txBody>
      </p:sp>
      <p:sp>
        <p:nvSpPr>
          <p:cNvPr id="24" name="Text 22"/>
          <p:cNvSpPr txBox="1"/>
          <p:nvPr/>
        </p:nvSpPr>
        <p:spPr>
          <a:xfrm>
            <a:off x="4114800" y="4334256"/>
            <a:ext cx="4297680" cy="49377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Python and React suites, Chromium journeys, replay bundle hashes, deletion checks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Twinkl: Evidence-Grounded Value Accountability</dc:title>
  <dc:subject>PptxGenJS Presentation</dc:subject>
  <dc:creator>Twinkl Capstone Team</dc:creator>
  <cp:lastModifiedBy>Twinkl Capstone Team</cp:lastModifiedBy>
  <cp:revision>1</cp:revision>
  <dcterms:created xsi:type="dcterms:W3CDTF">2026-09-14T12:10:27Z</dcterms:created>
  <dcterms:modified xsi:type="dcterms:W3CDTF">2026-09-14T12:10:27Z</dcterms:modified>
</cp:coreProperties>
</file>